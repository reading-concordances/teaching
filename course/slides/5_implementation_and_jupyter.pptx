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 bookmarkIdSeed="2">
  <p:sldMasterIdLst>
    <p:sldMasterId id="2147483648" r:id="rId4"/>
  </p:sldMasterIdLst>
  <p:notesMasterIdLst>
    <p:notesMasterId r:id="rId39"/>
  </p:notesMasterIdLst>
  <p:handoutMasterIdLst>
    <p:handoutMasterId r:id="rId40"/>
  </p:handoutMasterIdLst>
  <p:sldIdLst>
    <p:sldId id="2728" r:id="rId5"/>
    <p:sldId id="2665" r:id="rId6"/>
    <p:sldId id="2666" r:id="rId7"/>
    <p:sldId id="2636" r:id="rId8"/>
    <p:sldId id="2691" r:id="rId9"/>
    <p:sldId id="2692" r:id="rId10"/>
    <p:sldId id="2693" r:id="rId11"/>
    <p:sldId id="2694" r:id="rId12"/>
    <p:sldId id="2673" r:id="rId13"/>
    <p:sldId id="2697" r:id="rId14"/>
    <p:sldId id="2698" r:id="rId15"/>
    <p:sldId id="2726" r:id="rId16"/>
    <p:sldId id="2695" r:id="rId17"/>
    <p:sldId id="2677" r:id="rId18"/>
    <p:sldId id="2681" r:id="rId19"/>
    <p:sldId id="2696" r:id="rId20"/>
    <p:sldId id="2678" r:id="rId21"/>
    <p:sldId id="2727" r:id="rId22"/>
    <p:sldId id="2680" r:id="rId23"/>
    <p:sldId id="2707" r:id="rId24"/>
    <p:sldId id="2702" r:id="rId25"/>
    <p:sldId id="2703" r:id="rId26"/>
    <p:sldId id="2704" r:id="rId27"/>
    <p:sldId id="2705" r:id="rId28"/>
    <p:sldId id="2710" r:id="rId29"/>
    <p:sldId id="2729" r:id="rId30"/>
    <p:sldId id="2730" r:id="rId31"/>
    <p:sldId id="2731" r:id="rId32"/>
    <p:sldId id="2732" r:id="rId33"/>
    <p:sldId id="2733" r:id="rId34"/>
    <p:sldId id="2709" r:id="rId35"/>
    <p:sldId id="2684" r:id="rId36"/>
    <p:sldId id="2674" r:id="rId37"/>
    <p:sldId id="2671" r:id="rId38"/>
  </p:sldIdLst>
  <p:sldSz cx="12192000" cy="6858000"/>
  <p:notesSz cx="6858000" cy="9144000"/>
  <p:embeddedFontLst>
    <p:embeddedFont>
      <p:font typeface="Consolas" panose="020B0609020204030204" pitchFamily="49" charset="0"/>
      <p:regular r:id="rId41"/>
      <p:bold r:id="rId42"/>
      <p:italic r:id="rId43"/>
      <p:boldItalic r:id="rId44"/>
    </p:embeddedFont>
    <p:embeddedFont>
      <p:font typeface="FAUSans Office" panose="020B0504010101010104" pitchFamily="34" charset="77"/>
      <p:regular r:id="rId45"/>
      <p:bold r:id="rId46"/>
      <p:italic r:id="rId47"/>
      <p:boldItalic r:id="rId4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C05CF46-3410-AA0A-1245-8A9FE69B923A}" name="Piperski, Aleksandr" initials="PA" userId="S::to51xyhu@fauad.fau.de::f69a4bad-1b71-4b84-bcb6-3723fb1bc78f" providerId="AD"/>
  <p188:author id="{FEEC5457-15E6-6E38-F443-7A192C593AD5}" name="Dykes, Nathan" initials="DN" userId="S::la06moso@fauad.fau.de::bb86161d-c33f-41e7-93df-f57ac910d38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AAB9"/>
    <a:srgbClr val="54C5F3"/>
    <a:srgbClr val="CC0066"/>
    <a:srgbClr val="D60093"/>
    <a:srgbClr val="C0DAD2"/>
    <a:srgbClr val="BAC0D9"/>
    <a:srgbClr val="C0DABB"/>
    <a:srgbClr val="990033"/>
    <a:srgbClr val="FF99CC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E50A0C-23A2-1179-9149-A620B6697EE2}" v="168" dt="2025-09-09T09:52:40.274"/>
    <p1510:client id="{21F04891-52F5-AA65-7372-350209C775AE}" v="90" dt="2025-09-09T09:16:45.852"/>
    <p1510:client id="{453C2727-C0FB-1DCD-678B-04046FB00D31}" v="3" dt="2025-09-07T22:27:10.086"/>
    <p1510:client id="{47ECF39A-2818-AD88-9103-B1CEA0A1E7AE}" v="60" dt="2025-09-07T22:35:56.685"/>
    <p1510:client id="{6D22770A-C925-AC22-419C-D6A4AF7D01BC}" v="26" dt="2025-09-07T22:38:57.984"/>
    <p1510:client id="{6E82F41C-0FC8-97E1-F6F7-AD5801DF5D55}" v="14" dt="2025-09-09T08:22:49.890"/>
    <p1510:client id="{88B7DB4A-6A0D-9946-7506-8BEB069F3F5B}" v="8" dt="2025-09-09T09:56:50.857"/>
    <p1510:client id="{B1B82418-05D5-9CC7-BFAD-6D431EF8E7BA}" v="13" dt="2025-09-09T08:25:30.677"/>
    <p1510:client id="{FF77EDED-B175-43FA-ABDF-BF9E8F123F21}" v="39" dt="2025-09-07T19:59:38.484"/>
  </p1510:revLst>
</p1510:revInfo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C4B1156A-380E-4F78-BDF5-A606A8083BF9}" styleName="Medium Style 4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17292A2E-F333-43FB-9621-5CBBE7FDCDCB}" styleName="Light Style 2 –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412"/>
    <p:restoredTop sz="94660"/>
  </p:normalViewPr>
  <p:slideViewPr>
    <p:cSldViewPr snapToGrid="0">
      <p:cViewPr>
        <p:scale>
          <a:sx n="130" d="100"/>
          <a:sy n="130" d="100"/>
        </p:scale>
        <p:origin x="272" y="7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36" d="100"/>
        <a:sy n="136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50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45" Type="http://schemas.openxmlformats.org/officeDocument/2006/relationships/font" Target="fonts/font5.fntdata"/><Relationship Id="rId53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4.fntdata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font" Target="fonts/font3.fntdata"/><Relationship Id="rId48" Type="http://schemas.openxmlformats.org/officeDocument/2006/relationships/font" Target="fonts/font8.fntdata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font" Target="fonts/font6.fntdata"/><Relationship Id="rId20" Type="http://schemas.openxmlformats.org/officeDocument/2006/relationships/slide" Target="slides/slide16.xml"/><Relationship Id="rId41" Type="http://schemas.openxmlformats.org/officeDocument/2006/relationships/font" Target="fonts/font1.fntdata"/><Relationship Id="rId54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4796673-B35C-B37D-3219-C53285AA133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D8D901-A21A-BE4D-089A-7CA65E41BE6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FC277-78D7-FD40-B599-ED34D02CBE47}" type="datetimeFigureOut">
              <a:t>9/24/26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0E049B-85E9-A6EA-A8B1-7CC12B8D670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5A40A3-2E20-0293-C9D9-7C5F7E2CA85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D7A19F-1495-B848-AD29-53732E1E2D4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639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179876-35BB-4790-A6E6-84E358FFE4CB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D78C15-C8E2-434D-9C71-D59CB069DB57}" type="slidenum">
              <a:rPr lang="en-GB" smtClean="0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02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2EAE7-E561-9E7B-061E-02EFBF0D0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E98267-FDB0-A640-4B32-F395C1AE55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14452A-2A93-4C75-A528-BDBCCA5758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5A8289-314F-A5F6-7CBF-B029AAE14A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735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6111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54091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10025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 b="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326E29E-1E2A-44E5-3FC5-786EBA6F840B}"/>
              </a:ext>
            </a:extLst>
          </p:cNvPr>
          <p:cNvSpPr/>
          <p:nvPr userDrawn="1"/>
        </p:nvSpPr>
        <p:spPr>
          <a:xfrm rot="5400000">
            <a:off x="5491842" y="-5491842"/>
            <a:ext cx="1208314" cy="12192002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749424-4954-1C18-42E0-2013AE4CDBE1}"/>
              </a:ext>
            </a:extLst>
          </p:cNvPr>
          <p:cNvSpPr/>
          <p:nvPr userDrawn="1"/>
        </p:nvSpPr>
        <p:spPr>
          <a:xfrm rot="5400000">
            <a:off x="5937484" y="603483"/>
            <a:ext cx="317030" cy="12192001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" y="0"/>
            <a:ext cx="11353801" cy="1208315"/>
          </a:xfrm>
        </p:spPr>
        <p:txBody>
          <a:bodyPr lIns="180000" tIns="36000" rIns="180000" bIns="36000">
            <a:normAutofit/>
          </a:bodyPr>
          <a:lstStyle>
            <a:lvl1pPr>
              <a:defRPr sz="4400" b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4787075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800"/>
            </a:lvl1pPr>
            <a:lvl2pPr>
              <a:lnSpc>
                <a:spcPct val="100000"/>
              </a:lnSpc>
              <a:defRPr sz="2400"/>
            </a:lvl2pPr>
            <a:lvl3pPr>
              <a:lnSpc>
                <a:spcPct val="100000"/>
              </a:lnSpc>
              <a:defRPr sz="2000"/>
            </a:lvl3pPr>
            <a:lvl4pPr>
              <a:lnSpc>
                <a:spcPct val="100000"/>
              </a:lnSpc>
              <a:defRPr sz="1800"/>
            </a:lvl4pPr>
            <a:lvl5pPr>
              <a:lnSpc>
                <a:spcPct val="100000"/>
              </a:lnSpc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0" y="6540966"/>
            <a:ext cx="2743200" cy="317032"/>
          </a:xfrm>
        </p:spPr>
        <p:txBody>
          <a:bodyPr/>
          <a:lstStyle>
            <a:lvl1pPr>
              <a:defRPr sz="140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560064" y="6540965"/>
            <a:ext cx="5071872" cy="317035"/>
          </a:xfrm>
        </p:spPr>
        <p:txBody>
          <a:bodyPr/>
          <a:lstStyle>
            <a:lvl1pPr>
              <a:defRPr sz="140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448800" y="6540967"/>
            <a:ext cx="2743200" cy="317031"/>
          </a:xfrm>
        </p:spPr>
        <p:txBody>
          <a:bodyPr/>
          <a:lstStyle>
            <a:lvl1pPr>
              <a:defRPr sz="1400" b="1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fld id="{B2EB7B1D-155F-DE45-A4D9-3453DB08EE0D}" type="slidenum">
              <a:rPr lang="en-GB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380333-980E-8B55-2771-139A8D5F02D0}"/>
              </a:ext>
            </a:extLst>
          </p:cNvPr>
          <p:cNvSpPr/>
          <p:nvPr userDrawn="1"/>
        </p:nvSpPr>
        <p:spPr>
          <a:xfrm rot="5400000">
            <a:off x="5491843" y="-5491842"/>
            <a:ext cx="1208314" cy="12192001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97651C4-8807-4F0E-0675-D3C14F0D2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1208315"/>
          </a:xfrm>
        </p:spPr>
        <p:txBody>
          <a:bodyPr lIns="180000" tIns="36000" rIns="180000" bIns="36000">
            <a:normAutofit/>
          </a:bodyPr>
          <a:lstStyle>
            <a:lvl1pPr>
              <a:defRPr sz="4400" b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486369-1C5D-6097-3686-4653D1016C85}"/>
              </a:ext>
            </a:extLst>
          </p:cNvPr>
          <p:cNvSpPr/>
          <p:nvPr userDrawn="1"/>
        </p:nvSpPr>
        <p:spPr>
          <a:xfrm rot="5400000">
            <a:off x="5937484" y="603483"/>
            <a:ext cx="317030" cy="12192001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129E9AE7-8FDC-5160-A1C2-43C6E23EC8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40966"/>
            <a:ext cx="2743200" cy="317032"/>
          </a:xfrm>
        </p:spPr>
        <p:txBody>
          <a:bodyPr/>
          <a:lstStyle>
            <a:lvl1pPr>
              <a:defRPr sz="140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7EB7F3AA-7FFB-5041-CD31-1E75C9F1B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0064" y="6540965"/>
            <a:ext cx="5071872" cy="317035"/>
          </a:xfrm>
        </p:spPr>
        <p:txBody>
          <a:bodyPr/>
          <a:lstStyle>
            <a:lvl1pPr>
              <a:defRPr sz="140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r>
              <a:rPr lang="en-US"/>
              <a:t>FlexiConc: Reading concordances with algorithms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CC04A0E-C353-DABE-D7E4-FDF6F688F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40967"/>
            <a:ext cx="2743200" cy="317031"/>
          </a:xfrm>
        </p:spPr>
        <p:txBody>
          <a:bodyPr/>
          <a:lstStyle>
            <a:lvl1pPr>
              <a:defRPr sz="1400" b="1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fld id="{B2EB7B1D-155F-DE45-A4D9-3453DB08EE0D}" type="slidenum">
              <a:rPr lang="en-GB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/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380333-980E-8B55-2771-139A8D5F02D0}"/>
              </a:ext>
            </a:extLst>
          </p:cNvPr>
          <p:cNvSpPr/>
          <p:nvPr userDrawn="1"/>
        </p:nvSpPr>
        <p:spPr>
          <a:xfrm rot="5400000">
            <a:off x="5491843" y="-5491842"/>
            <a:ext cx="1208314" cy="12192001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97651C4-8807-4F0E-0675-D3C14F0D2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1208315"/>
          </a:xfrm>
        </p:spPr>
        <p:txBody>
          <a:bodyPr lIns="180000" tIns="36000" rIns="180000" bIns="36000">
            <a:normAutofit/>
          </a:bodyPr>
          <a:lstStyle>
            <a:lvl1pPr>
              <a:defRPr sz="4400" b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788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scree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5AF9C64-C7CC-5D02-1146-F48C09F3AF0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576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fld id="{B2EB7B1D-155F-DE45-A4D9-3453DB08EE0D}" type="slidenum">
              <a:rPr lang="en-GB"/>
              <a:pPr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6" r:id="rId4"/>
    <p:sldLayoutId id="2147483655" r:id="rId5"/>
    <p:sldLayoutId id="2147483657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FAUSans Office" panose="020B0504010101010104" pitchFamily="34" charset="77"/>
          <a:ea typeface="+mj-ea"/>
          <a:cs typeface="FAUSans Office" panose="020B0504010101010104" pitchFamily="34" charset="77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naconda.com/download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drive/1sAC7c0vljy6og_dSwHbvbCs3QTs4a6Lx?usp=sharing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clic-fiction.com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app.sketchengine.eu/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app.sketchengine.eu/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app.sketchengine.eu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corpora.linguistik.uni-erlangen.de/cqpweb/" TargetMode="Externa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corpora.linguistik.uni-erlangen.de/cqpweb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ucrel-wmatrix7.lancaster.ac.uk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ucrel-wmatrix7.lancaster.ac.uk/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ucrel-wmatrix7.lancaster.ac.uk/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cwb.sourceforge.io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drive/1HuVRl748lWe65Mzl5HNge4Wwgq5xiqw2?usp=sharing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hss.phil.fau.eu/research/reading-concordances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github.com/reading-concordances/teaching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/>
          <p:cNvSpPr/>
          <p:nvPr/>
        </p:nvSpPr>
        <p:spPr>
          <a:xfrm rot="5400000">
            <a:off x="5466402" y="201470"/>
            <a:ext cx="1208315" cy="12141122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01937" y="1315330"/>
            <a:ext cx="11381778" cy="1881695"/>
          </a:xfrm>
          <a:prstGeom prst="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b"/>
          <a:lstStyle/>
          <a:p>
            <a:pPr marL="716280" algn="ctr"/>
            <a:r>
              <a:rPr lang="en-GB" sz="3200" b="1" dirty="0">
                <a:latin typeface="FAUSans Office" panose="020B0504010101010104" pitchFamily="34" charset="77"/>
                <a:cs typeface="FAUSans Office" panose="020B0504010101010104" pitchFamily="34" charset="77"/>
              </a:rPr>
              <a:t>Reading Concordances with Algorithms: </a:t>
            </a:r>
          </a:p>
          <a:p>
            <a:pPr marL="9525" algn="ctr"/>
            <a:r>
              <a:rPr lang="en-GB" sz="3200" b="1" dirty="0">
                <a:latin typeface="FAUSans Office" panose="020B0504010101010104" pitchFamily="34" charset="77"/>
                <a:cs typeface="FAUSans Office" panose="020B0504010101010104" pitchFamily="34" charset="77"/>
              </a:rPr>
              <a:t>a training course in key corpus linguistics methodology</a:t>
            </a:r>
            <a:endParaRPr lang="en-US" sz="3200" b="1" dirty="0">
              <a:solidFill>
                <a:schemeClr val="tx1">
                  <a:lumMod val="50000"/>
                  <a:lumOff val="50000"/>
                </a:schemeClr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  <a:p>
            <a:pPr marL="9525" algn="ctr"/>
            <a:r>
              <a:rPr lang="en-US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 </a:t>
            </a:r>
          </a:p>
          <a:p>
            <a:pPr marL="9525" algn="ctr"/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FlexiConc: Implementation &amp; Jupyter</a:t>
            </a:r>
          </a:p>
        </p:txBody>
      </p:sp>
      <p:sp>
        <p:nvSpPr>
          <p:cNvPr id="3" name="Rounded Rectangle 8"/>
          <p:cNvSpPr/>
          <p:nvPr/>
        </p:nvSpPr>
        <p:spPr>
          <a:xfrm>
            <a:off x="336551" y="5872740"/>
            <a:ext cx="11512550" cy="798581"/>
          </a:xfrm>
          <a:prstGeom prst="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marL="9525" algn="ctr"/>
            <a:r>
              <a:rPr lang="en-GB" sz="2400" b="1" dirty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Stephanie Evert &amp; Michaela Mahlberg</a:t>
            </a:r>
            <a:endParaRPr lang="en-US" sz="2400" dirty="0">
              <a:solidFill>
                <a:schemeClr val="accent2">
                  <a:lumMod val="50000"/>
                </a:schemeClr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F3F9565-715D-91DC-A0E3-3DEF4044BC1D}"/>
              </a:ext>
            </a:extLst>
          </p:cNvPr>
          <p:cNvGrpSpPr/>
          <p:nvPr/>
        </p:nvGrpSpPr>
        <p:grpSpPr>
          <a:xfrm>
            <a:off x="10337369" y="5728675"/>
            <a:ext cx="1803752" cy="1208316"/>
            <a:chOff x="3511630" y="417286"/>
            <a:chExt cx="5701633" cy="3207169"/>
          </a:xfrm>
        </p:grpSpPr>
        <p:pic>
          <p:nvPicPr>
            <p:cNvPr id="21" name="Picture 20" descr="A black screen with a white border&#10;&#10;Description automatically generated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11630" y="417286"/>
              <a:ext cx="5701633" cy="3207169"/>
            </a:xfrm>
            <a:prstGeom prst="rect">
              <a:avLst/>
            </a:prstGeom>
          </p:spPr>
        </p:pic>
        <p:pic>
          <p:nvPicPr>
            <p:cNvPr id="1036" name="Picture 12" descr="Image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705" r="6032"/>
            <a:stretch>
              <a:fillRect/>
            </a:stretch>
          </p:blipFill>
          <p:spPr bwMode="auto">
            <a:xfrm>
              <a:off x="3916325" y="585969"/>
              <a:ext cx="4944139" cy="26018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41" name="Picture 17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1240" y="5021154"/>
            <a:ext cx="2106591" cy="499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2A21E52-34BC-F9E0-9C6B-6668245D70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7149" y="5163497"/>
            <a:ext cx="2511354" cy="324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>
            <a:extLst>
              <a:ext uri="{FF2B5EF4-FFF2-40B4-BE49-F238E27FC236}">
                <a16:creationId xmlns:a16="http://schemas.microsoft.com/office/drawing/2014/main" id="{8E96232E-D99C-4442-E83E-DC75693EE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169" y="4948407"/>
            <a:ext cx="2511354" cy="63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772A65-CCB4-DB4C-8DC4-6895D43EE36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9783" y="172716"/>
            <a:ext cx="2193359" cy="119130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9597A6-EAFF-C8A8-767C-CCA4715AFA7F}"/>
              </a:ext>
            </a:extLst>
          </p:cNvPr>
          <p:cNvSpPr txBox="1"/>
          <p:nvPr/>
        </p:nvSpPr>
        <p:spPr>
          <a:xfrm>
            <a:off x="1536324" y="3535294"/>
            <a:ext cx="9113004" cy="9880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>
            <a:noAutofit/>
          </a:bodyPr>
          <a:lstStyle/>
          <a:p>
            <a:pPr algn="ctr" fontAlgn="base"/>
            <a:r>
              <a:rPr lang="en-GB" sz="2400" dirty="0">
                <a:latin typeface="FAUSans Office" panose="020B0504010101010104" pitchFamily="34" charset="77"/>
                <a:cs typeface="FAUSans Office" panose="020B0504010101010104" pitchFamily="34" charset="77"/>
              </a:rPr>
              <a:t>UTN Computational Linguistics Fall School</a:t>
            </a:r>
          </a:p>
          <a:p>
            <a:pPr algn="ctr" fontAlgn="base"/>
            <a:r>
              <a:rPr lang="en-GB" sz="2400" dirty="0">
                <a:latin typeface="FAUSans Office" panose="020B0504010101010104" pitchFamily="34" charset="77"/>
                <a:cs typeface="FAUSans Office" panose="020B0504010101010104" pitchFamily="34" charset="77"/>
              </a:rPr>
              <a:t>21–25 September 2026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526B14F-312E-F64D-0DB5-DA6331901BA8}"/>
              </a:ext>
            </a:extLst>
          </p:cNvPr>
          <p:cNvSpPr/>
          <p:nvPr/>
        </p:nvSpPr>
        <p:spPr>
          <a:xfrm>
            <a:off x="10843245" y="420897"/>
            <a:ext cx="792000" cy="79200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latin typeface="FAUSans Office" panose="020B0504010101010104" pitchFamily="34" charset="77"/>
                <a:cs typeface="FAUSans Office" panose="020B0504010101010104" pitchFamily="34" charset="77"/>
              </a:rPr>
              <a:t>5</a:t>
            </a:r>
            <a:endParaRPr lang="en-US" sz="4400" b="1" dirty="0"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844F7-75A9-A770-E76D-EE3933B1F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C7465-0AE0-2CDA-22E6-2885E5DEE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Orientation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953AC1-C971-F220-30BE-4A0211570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661824" cy="4948211"/>
          </a:xfrm>
        </p:spPr>
        <p:txBody>
          <a:bodyPr/>
          <a:lstStyle/>
          <a:p>
            <a:pPr marL="0" indent="0">
              <a:buNone/>
            </a:pPr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What we have learned so far …</a:t>
            </a:r>
          </a:p>
          <a:p>
            <a:r>
              <a:rPr lang="en-US"/>
              <a:t>Reading concordances with the help of software tools</a:t>
            </a:r>
          </a:p>
          <a:p>
            <a:r>
              <a:rPr lang="en-US"/>
              <a:t>How to identify recurrent patterns and interpret them </a:t>
            </a:r>
          </a:p>
          <a:p>
            <a:r>
              <a:rPr lang="en-US"/>
              <a:t>Strategies and algorithms for organising concordance lines (FlexiConc)</a:t>
            </a:r>
          </a:p>
          <a:p>
            <a:r>
              <a:rPr lang="en-US"/>
              <a:t>The analysis tree as reproducible research documentation</a:t>
            </a:r>
          </a:p>
          <a:p>
            <a:pPr lvl="1"/>
            <a:endParaRPr lang="en-US"/>
          </a:p>
          <a:p>
            <a:pPr marL="0" indent="0">
              <a:buNone/>
            </a:pPr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What we're going to look at now …</a:t>
            </a:r>
          </a:p>
          <a:p>
            <a:r>
              <a:rPr lang="en-US"/>
              <a:t>Using FlexiConc from Jupyter notebooks</a:t>
            </a:r>
          </a:p>
          <a:p>
            <a:r>
              <a:rPr lang="en-US"/>
              <a:t>How to analyse concordances in your own corpora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1760A6-4FF3-0D57-816E-E156EB36C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Reading concordances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AEB33-9065-CB7C-6755-159762A94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</a:t>
            </a:fld>
            <a:endParaRPr lang="en-GB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B4F2A6F-8CA2-018D-0E84-7465900D4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8 Aug 2025 | © RC21 Team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E0773-501D-3BE2-B39F-43B8F611A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FlexiConc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98672C-F6F0-F125-EAAF-1B86C20D3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8 Aug 2025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6F8C12-632C-967E-CB45-6300FC8F5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Reading concordances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F9282B-D003-CCA9-650E-C7B4C69F9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3</a:t>
            </a:fld>
            <a:endParaRPr lang="en-GB"/>
          </a:p>
        </p:txBody>
      </p:sp>
      <p:pic>
        <p:nvPicPr>
          <p:cNvPr id="9" name="Graphic 8" descr="Programmer female with solid fill">
            <a:extLst>
              <a:ext uri="{FF2B5EF4-FFF2-40B4-BE49-F238E27FC236}">
                <a16:creationId xmlns:a16="http://schemas.microsoft.com/office/drawing/2014/main" id="{EC3E7B36-469F-F9D6-E927-C99BF368F4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5445" y="1907833"/>
            <a:ext cx="1382060" cy="138206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EFDD72C-EB90-F40F-55C9-26371262A85F}"/>
              </a:ext>
            </a:extLst>
          </p:cNvPr>
          <p:cNvGrpSpPr/>
          <p:nvPr/>
        </p:nvGrpSpPr>
        <p:grpSpPr>
          <a:xfrm>
            <a:off x="8313760" y="1510951"/>
            <a:ext cx="3672853" cy="1962201"/>
            <a:chOff x="8531969" y="1793218"/>
            <a:chExt cx="3672853" cy="1962201"/>
          </a:xfrm>
        </p:grpSpPr>
        <p:pic>
          <p:nvPicPr>
            <p:cNvPr id="11" name="Graphic 10" descr="Gears with solid fill">
              <a:extLst>
                <a:ext uri="{FF2B5EF4-FFF2-40B4-BE49-F238E27FC236}">
                  <a16:creationId xmlns:a16="http://schemas.microsoft.com/office/drawing/2014/main" id="{8709FF0A-265E-644F-1B16-C5EC96007A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531969" y="1793218"/>
              <a:ext cx="1778942" cy="1778942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1F220FC-55A5-FEAF-7035-8E86528476E4}"/>
                </a:ext>
              </a:extLst>
            </p:cNvPr>
            <p:cNvSpPr txBox="1"/>
            <p:nvPr/>
          </p:nvSpPr>
          <p:spPr>
            <a:xfrm>
              <a:off x="9632038" y="2801312"/>
              <a:ext cx="2572784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>
                  <a:solidFill>
                    <a:schemeClr val="accent2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FlexiConc</a:t>
              </a:r>
              <a:br>
                <a:rPr lang="en-US" sz="2800">
                  <a:solidFill>
                    <a:schemeClr val="accent2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</a:br>
              <a:r>
                <a:rPr lang="en-US" sz="2800">
                  <a:solidFill>
                    <a:schemeClr val="accent2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Python library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7444A24-4D42-EA57-AAC9-8B9FC9E40E28}"/>
              </a:ext>
            </a:extLst>
          </p:cNvPr>
          <p:cNvGrpSpPr/>
          <p:nvPr/>
        </p:nvGrpSpPr>
        <p:grpSpPr>
          <a:xfrm>
            <a:off x="7650156" y="4366006"/>
            <a:ext cx="3527346" cy="1532546"/>
            <a:chOff x="7442210" y="4540827"/>
            <a:chExt cx="3527346" cy="1532546"/>
          </a:xfrm>
        </p:grpSpPr>
        <p:pic>
          <p:nvPicPr>
            <p:cNvPr id="14" name="Graphic 13" descr="Database with solid fill">
              <a:extLst>
                <a:ext uri="{FF2B5EF4-FFF2-40B4-BE49-F238E27FC236}">
                  <a16:creationId xmlns:a16="http://schemas.microsoft.com/office/drawing/2014/main" id="{4BE6899F-7AB8-AD72-6743-CF4D64CCD7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442210" y="4540827"/>
              <a:ext cx="1532546" cy="1532546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BA3A637-B050-BE76-572A-B7975B8E4BA3}"/>
                </a:ext>
              </a:extLst>
            </p:cNvPr>
            <p:cNvSpPr txBox="1"/>
            <p:nvPr/>
          </p:nvSpPr>
          <p:spPr>
            <a:xfrm>
              <a:off x="8693947" y="4830046"/>
              <a:ext cx="2275609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>
                  <a:solidFill>
                    <a:schemeClr val="accent6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corpus query &amp; indexing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5EE65D8-3DED-E9E1-1FD0-489A72107FA2}"/>
              </a:ext>
            </a:extLst>
          </p:cNvPr>
          <p:cNvGrpSpPr/>
          <p:nvPr/>
        </p:nvGrpSpPr>
        <p:grpSpPr>
          <a:xfrm>
            <a:off x="4144241" y="1556506"/>
            <a:ext cx="2275608" cy="3847624"/>
            <a:chOff x="4539096" y="1954261"/>
            <a:chExt cx="2275608" cy="3847624"/>
          </a:xfrm>
        </p:grpSpPr>
        <p:pic>
          <p:nvPicPr>
            <p:cNvPr id="22" name="Graphic 21" descr="Computer with solid fill">
              <a:extLst>
                <a:ext uri="{FF2B5EF4-FFF2-40B4-BE49-F238E27FC236}">
                  <a16:creationId xmlns:a16="http://schemas.microsoft.com/office/drawing/2014/main" id="{83384524-2039-E022-D18F-304FD2DFD2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539096" y="2090340"/>
              <a:ext cx="2275608" cy="2275608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9FD9644-B498-1F3A-7AA7-ACB89DE8D339}"/>
                </a:ext>
              </a:extLst>
            </p:cNvPr>
            <p:cNvSpPr txBox="1"/>
            <p:nvPr/>
          </p:nvSpPr>
          <p:spPr>
            <a:xfrm>
              <a:off x="4539096" y="1954261"/>
              <a:ext cx="227560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>
                  <a:solidFill>
                    <a:schemeClr val="accent1">
                      <a:lumMod val="50000"/>
                    </a:schemeClr>
                  </a:solidFill>
                </a:rPr>
                <a:t>host app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E90B87B-2B29-BBA9-19C7-ADB5016E5B65}"/>
                </a:ext>
              </a:extLst>
            </p:cNvPr>
            <p:cNvSpPr txBox="1"/>
            <p:nvPr/>
          </p:nvSpPr>
          <p:spPr>
            <a:xfrm>
              <a:off x="4539096" y="3986003"/>
              <a:ext cx="2275608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>
                  <a:solidFill>
                    <a:schemeClr val="accent1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CLiC</a:t>
              </a:r>
            </a:p>
            <a:p>
              <a:pPr algn="ctr"/>
              <a:r>
                <a:rPr lang="en-US" sz="2800">
                  <a:solidFill>
                    <a:schemeClr val="accent1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CandyConc</a:t>
              </a:r>
            </a:p>
            <a:p>
              <a:pPr algn="ctr"/>
              <a:r>
                <a:rPr lang="en-US" sz="2800">
                  <a:solidFill>
                    <a:schemeClr val="accent1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WMatrix</a:t>
              </a:r>
            </a:p>
            <a:p>
              <a:pPr algn="ctr"/>
              <a:r>
                <a:rPr lang="en-US" sz="2800">
                  <a:solidFill>
                    <a:schemeClr val="accent1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other?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76343E5-0C7B-E50D-62F7-B1EFA42157F0}"/>
              </a:ext>
            </a:extLst>
          </p:cNvPr>
          <p:cNvGrpSpPr/>
          <p:nvPr/>
        </p:nvGrpSpPr>
        <p:grpSpPr>
          <a:xfrm>
            <a:off x="2547505" y="2535505"/>
            <a:ext cx="1463386" cy="312326"/>
            <a:chOff x="2547505" y="2535505"/>
            <a:chExt cx="1463386" cy="312326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ECE1395-9F5D-8096-D132-E02041E7EEB0}"/>
                </a:ext>
              </a:extLst>
            </p:cNvPr>
            <p:cNvCxnSpPr/>
            <p:nvPr/>
          </p:nvCxnSpPr>
          <p:spPr>
            <a:xfrm>
              <a:off x="2547505" y="2535505"/>
              <a:ext cx="1463386" cy="0"/>
            </a:xfrm>
            <a:prstGeom prst="straightConnector1">
              <a:avLst/>
            </a:prstGeom>
            <a:ln w="6350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6F517-C7E3-519F-B096-65A903D9EFD9}"/>
                </a:ext>
              </a:extLst>
            </p:cNvPr>
            <p:cNvCxnSpPr/>
            <p:nvPr/>
          </p:nvCxnSpPr>
          <p:spPr>
            <a:xfrm>
              <a:off x="2547505" y="2847831"/>
              <a:ext cx="1463386" cy="0"/>
            </a:xfrm>
            <a:prstGeom prst="straightConnector1">
              <a:avLst/>
            </a:prstGeom>
            <a:ln w="6350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arrow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B9E73CD-AC4A-50DE-0620-DE1B27F60953}"/>
              </a:ext>
            </a:extLst>
          </p:cNvPr>
          <p:cNvGrpSpPr/>
          <p:nvPr/>
        </p:nvGrpSpPr>
        <p:grpSpPr>
          <a:xfrm rot="21051144">
            <a:off x="6666220" y="2388600"/>
            <a:ext cx="1671951" cy="312326"/>
            <a:chOff x="2547505" y="2535505"/>
            <a:chExt cx="1463386" cy="312326"/>
          </a:xfrm>
        </p:grpSpPr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9E668C5-ED26-4D97-7B4B-12E97CC297D9}"/>
                </a:ext>
              </a:extLst>
            </p:cNvPr>
            <p:cNvCxnSpPr/>
            <p:nvPr/>
          </p:nvCxnSpPr>
          <p:spPr>
            <a:xfrm>
              <a:off x="2547505" y="2535505"/>
              <a:ext cx="1463386" cy="0"/>
            </a:xfrm>
            <a:prstGeom prst="straightConnector1">
              <a:avLst/>
            </a:prstGeom>
            <a:ln w="63500" cap="flat" cmpd="sng" algn="ctr">
              <a:solidFill>
                <a:schemeClr val="accent2">
                  <a:lumMod val="75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C49E8A8E-9681-1A02-F8B0-C39387C73CB7}"/>
                </a:ext>
              </a:extLst>
            </p:cNvPr>
            <p:cNvCxnSpPr/>
            <p:nvPr/>
          </p:nvCxnSpPr>
          <p:spPr>
            <a:xfrm>
              <a:off x="2547505" y="2847831"/>
              <a:ext cx="1463386" cy="0"/>
            </a:xfrm>
            <a:prstGeom prst="straightConnector1">
              <a:avLst/>
            </a:prstGeom>
            <a:ln w="63500" cap="flat" cmpd="sng" algn="ctr">
              <a:solidFill>
                <a:schemeClr val="accent2">
                  <a:lumMod val="75000"/>
                </a:schemeClr>
              </a:solidFill>
              <a:prstDash val="solid"/>
              <a:round/>
              <a:headEnd type="arrow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009138D-2F5D-7DA5-CDF0-AF00C907E2D3}"/>
              </a:ext>
            </a:extLst>
          </p:cNvPr>
          <p:cNvGrpSpPr/>
          <p:nvPr/>
        </p:nvGrpSpPr>
        <p:grpSpPr>
          <a:xfrm rot="2353692">
            <a:off x="6429209" y="3960498"/>
            <a:ext cx="1463386" cy="312326"/>
            <a:chOff x="2547505" y="2535505"/>
            <a:chExt cx="1463386" cy="312326"/>
          </a:xfrm>
        </p:grpSpPr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20660335-A964-2731-0D5C-7B472BF2ABD1}"/>
                </a:ext>
              </a:extLst>
            </p:cNvPr>
            <p:cNvCxnSpPr/>
            <p:nvPr/>
          </p:nvCxnSpPr>
          <p:spPr>
            <a:xfrm>
              <a:off x="2547505" y="2535505"/>
              <a:ext cx="1463386" cy="0"/>
            </a:xfrm>
            <a:prstGeom prst="straightConnector1">
              <a:avLst/>
            </a:prstGeom>
            <a:ln w="63500" cap="flat" cmpd="sng" algn="ctr">
              <a:solidFill>
                <a:schemeClr val="accent6">
                  <a:lumMod val="75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766C7546-F576-01EC-E2CE-8E6262378715}"/>
                </a:ext>
              </a:extLst>
            </p:cNvPr>
            <p:cNvCxnSpPr/>
            <p:nvPr/>
          </p:nvCxnSpPr>
          <p:spPr>
            <a:xfrm>
              <a:off x="2547505" y="2847831"/>
              <a:ext cx="1463386" cy="0"/>
            </a:xfrm>
            <a:prstGeom prst="straightConnector1">
              <a:avLst/>
            </a:prstGeom>
            <a:ln w="63500" cap="flat" cmpd="sng" algn="ctr">
              <a:solidFill>
                <a:schemeClr val="accent6">
                  <a:lumMod val="75000"/>
                </a:schemeClr>
              </a:solidFill>
              <a:prstDash val="solid"/>
              <a:round/>
              <a:headEnd type="arrow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91A5AF2A-73F7-687D-676A-FED359E584C1}"/>
              </a:ext>
            </a:extLst>
          </p:cNvPr>
          <p:cNvSpPr txBox="1"/>
          <p:nvPr/>
        </p:nvSpPr>
        <p:spPr>
          <a:xfrm>
            <a:off x="0" y="5966945"/>
            <a:ext cx="68761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https://pypi.org/project/FlexiConc/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B7D5366-688A-5E05-7FF8-0AC2D53D5D2B}"/>
              </a:ext>
            </a:extLst>
          </p:cNvPr>
          <p:cNvGrpSpPr/>
          <p:nvPr/>
        </p:nvGrpSpPr>
        <p:grpSpPr>
          <a:xfrm>
            <a:off x="10143447" y="-379910"/>
            <a:ext cx="2110946" cy="2841615"/>
            <a:chOff x="10143447" y="-379910"/>
            <a:chExt cx="2110946" cy="2841615"/>
          </a:xfrm>
        </p:grpSpPr>
        <p:pic>
          <p:nvPicPr>
            <p:cNvPr id="45" name="Graphic 44" descr="Abacus with solid fill">
              <a:extLst>
                <a:ext uri="{FF2B5EF4-FFF2-40B4-BE49-F238E27FC236}">
                  <a16:creationId xmlns:a16="http://schemas.microsoft.com/office/drawing/2014/main" id="{665D8BE3-BF82-303A-CA06-057C800BE8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339993" y="-379910"/>
              <a:ext cx="914400" cy="9144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46" name="Graphic 45" descr="Abacus with solid fill">
              <a:extLst>
                <a:ext uri="{FF2B5EF4-FFF2-40B4-BE49-F238E27FC236}">
                  <a16:creationId xmlns:a16="http://schemas.microsoft.com/office/drawing/2014/main" id="{72EC963D-8BEC-B04E-D7B1-0BC32A83A0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220340" y="-221991"/>
              <a:ext cx="914400" cy="9144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47" name="Graphic 46" descr="Abacus with solid fill">
              <a:extLst>
                <a:ext uri="{FF2B5EF4-FFF2-40B4-BE49-F238E27FC236}">
                  <a16:creationId xmlns:a16="http://schemas.microsoft.com/office/drawing/2014/main" id="{E913A15F-00EA-8FFA-E6CE-2D39B9E0B5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100687" y="-29814"/>
              <a:ext cx="914400" cy="9144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48" name="Graphic 47" descr="Abacus with solid fill">
              <a:extLst>
                <a:ext uri="{FF2B5EF4-FFF2-40B4-BE49-F238E27FC236}">
                  <a16:creationId xmlns:a16="http://schemas.microsoft.com/office/drawing/2014/main" id="{CE25E43E-E8D1-68AB-5CEA-A558AB931B7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981032" y="162363"/>
              <a:ext cx="914400" cy="9144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49" name="Graphic 48" descr="Abacus with solid fill">
              <a:extLst>
                <a:ext uri="{FF2B5EF4-FFF2-40B4-BE49-F238E27FC236}">
                  <a16:creationId xmlns:a16="http://schemas.microsoft.com/office/drawing/2014/main" id="{2778A23C-0FE8-4279-F127-B3F50321B3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861377" y="354540"/>
              <a:ext cx="914400" cy="9144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0" name="Graphic 49" descr="Abacus with solid fill">
              <a:extLst>
                <a:ext uri="{FF2B5EF4-FFF2-40B4-BE49-F238E27FC236}">
                  <a16:creationId xmlns:a16="http://schemas.microsoft.com/office/drawing/2014/main" id="{3B9C5C06-2358-4B3C-8CBB-BCC2966363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741722" y="546717"/>
              <a:ext cx="914400" cy="9144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1" name="Graphic 50" descr="Abacus with solid fill">
              <a:extLst>
                <a:ext uri="{FF2B5EF4-FFF2-40B4-BE49-F238E27FC236}">
                  <a16:creationId xmlns:a16="http://schemas.microsoft.com/office/drawing/2014/main" id="{85AF713C-C033-45B5-4B66-27E3A5615B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622067" y="738894"/>
              <a:ext cx="914400" cy="9144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2" name="Graphic 51" descr="Abacus with solid fill">
              <a:extLst>
                <a:ext uri="{FF2B5EF4-FFF2-40B4-BE49-F238E27FC236}">
                  <a16:creationId xmlns:a16="http://schemas.microsoft.com/office/drawing/2014/main" id="{97E50560-D88C-79C6-D65C-59218D2981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382757" y="1123248"/>
              <a:ext cx="914400" cy="9144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3" name="Graphic 52" descr="Abacus with solid fill">
              <a:extLst>
                <a:ext uri="{FF2B5EF4-FFF2-40B4-BE49-F238E27FC236}">
                  <a16:creationId xmlns:a16="http://schemas.microsoft.com/office/drawing/2014/main" id="{4B595C4C-E025-A594-D25B-A5FB351C9D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502412" y="931071"/>
              <a:ext cx="914400" cy="9144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4" name="Graphic 53" descr="Abacus with solid fill">
              <a:extLst>
                <a:ext uri="{FF2B5EF4-FFF2-40B4-BE49-F238E27FC236}">
                  <a16:creationId xmlns:a16="http://schemas.microsoft.com/office/drawing/2014/main" id="{7AA990F6-6B17-6BCA-70D1-8B5D4C3F72D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263102" y="1315425"/>
              <a:ext cx="914400" cy="9144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5" name="Graphic 54" descr="Abacus with solid fill">
              <a:extLst>
                <a:ext uri="{FF2B5EF4-FFF2-40B4-BE49-F238E27FC236}">
                  <a16:creationId xmlns:a16="http://schemas.microsoft.com/office/drawing/2014/main" id="{CEFC0199-A87A-9867-8538-ECC462D1CF7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143447" y="1507599"/>
              <a:ext cx="914400" cy="954106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2A9F4AD2-8458-F33E-55A2-E25CA513B40A}"/>
              </a:ext>
            </a:extLst>
          </p:cNvPr>
          <p:cNvGrpSpPr/>
          <p:nvPr/>
        </p:nvGrpSpPr>
        <p:grpSpPr>
          <a:xfrm>
            <a:off x="8669364" y="229501"/>
            <a:ext cx="1421457" cy="1248681"/>
            <a:chOff x="8571625" y="-101306"/>
            <a:chExt cx="1421457" cy="1248681"/>
          </a:xfrm>
        </p:grpSpPr>
        <p:pic>
          <p:nvPicPr>
            <p:cNvPr id="56" name="Graphic 55" descr="Deciduous tree with solid fill">
              <a:extLst>
                <a:ext uri="{FF2B5EF4-FFF2-40B4-BE49-F238E27FC236}">
                  <a16:creationId xmlns:a16="http://schemas.microsoft.com/office/drawing/2014/main" id="{9642DB8A-B0CE-F044-9614-45210B89A6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117996" y="204801"/>
              <a:ext cx="875086" cy="875086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7" name="Graphic 56" descr="Deciduous tree with solid fill">
              <a:extLst>
                <a:ext uri="{FF2B5EF4-FFF2-40B4-BE49-F238E27FC236}">
                  <a16:creationId xmlns:a16="http://schemas.microsoft.com/office/drawing/2014/main" id="{A8EEDD9C-773E-92A1-2026-86DF494DCE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571625" y="-101306"/>
              <a:ext cx="1248681" cy="124868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093085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1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2)">
                                      <p:cBhvr>
                                        <p:cTn id="2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1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2)">
                                      <p:cBhvr>
                                        <p:cTn id="3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1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2)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46471-3967-2418-1E08-C4B58ED45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05242-CD59-A435-BE0F-45F9B425C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FlexiConc via Jupyter notebooks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859824-DE8C-B1A0-58BA-E6150B5FD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8 Aug 2025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9FFB38-E952-4B0F-C5D8-F3D42D76B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Reading concordances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CC3095-512E-7592-D424-6DCA8E984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4</a:t>
            </a:fld>
            <a:endParaRPr lang="en-GB"/>
          </a:p>
        </p:txBody>
      </p:sp>
      <p:pic>
        <p:nvPicPr>
          <p:cNvPr id="9" name="Graphic 8" descr="Programmer female with solid fill">
            <a:extLst>
              <a:ext uri="{FF2B5EF4-FFF2-40B4-BE49-F238E27FC236}">
                <a16:creationId xmlns:a16="http://schemas.microsoft.com/office/drawing/2014/main" id="{6633C0CA-1C96-CFDC-F55B-F2AB697E26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5445" y="1907833"/>
            <a:ext cx="1382060" cy="138206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FD41C296-D17E-1CD7-F35F-361BB2F7C56E}"/>
              </a:ext>
            </a:extLst>
          </p:cNvPr>
          <p:cNvGrpSpPr/>
          <p:nvPr/>
        </p:nvGrpSpPr>
        <p:grpSpPr>
          <a:xfrm>
            <a:off x="8313760" y="1510951"/>
            <a:ext cx="3672853" cy="1962201"/>
            <a:chOff x="8531969" y="1793218"/>
            <a:chExt cx="3672853" cy="1962201"/>
          </a:xfrm>
        </p:grpSpPr>
        <p:pic>
          <p:nvPicPr>
            <p:cNvPr id="11" name="Graphic 10" descr="Gears with solid fill">
              <a:extLst>
                <a:ext uri="{FF2B5EF4-FFF2-40B4-BE49-F238E27FC236}">
                  <a16:creationId xmlns:a16="http://schemas.microsoft.com/office/drawing/2014/main" id="{FA5D4CFD-9CDF-5F97-A098-77E7A668E6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531969" y="1793218"/>
              <a:ext cx="1778942" cy="1778942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B08F9C7-6C42-BB6E-2CE1-F054B469A2ED}"/>
                </a:ext>
              </a:extLst>
            </p:cNvPr>
            <p:cNvSpPr txBox="1"/>
            <p:nvPr/>
          </p:nvSpPr>
          <p:spPr>
            <a:xfrm>
              <a:off x="9632038" y="2801312"/>
              <a:ext cx="2572784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>
                  <a:solidFill>
                    <a:schemeClr val="accent2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FlexiConc</a:t>
              </a:r>
              <a:br>
                <a:rPr lang="en-US" sz="2800">
                  <a:solidFill>
                    <a:schemeClr val="accent2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</a:br>
              <a:r>
                <a:rPr lang="en-US" sz="2800">
                  <a:solidFill>
                    <a:schemeClr val="accent2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Python library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F55EAC-E3F7-100D-3AA0-52C907505C47}"/>
              </a:ext>
            </a:extLst>
          </p:cNvPr>
          <p:cNvGrpSpPr/>
          <p:nvPr/>
        </p:nvGrpSpPr>
        <p:grpSpPr>
          <a:xfrm>
            <a:off x="7650156" y="4366006"/>
            <a:ext cx="4484584" cy="1532546"/>
            <a:chOff x="7442210" y="4540827"/>
            <a:chExt cx="4484584" cy="1532546"/>
          </a:xfrm>
        </p:grpSpPr>
        <p:pic>
          <p:nvPicPr>
            <p:cNvPr id="14" name="Graphic 13" descr="Database with solid fill">
              <a:extLst>
                <a:ext uri="{FF2B5EF4-FFF2-40B4-BE49-F238E27FC236}">
                  <a16:creationId xmlns:a16="http://schemas.microsoft.com/office/drawing/2014/main" id="{742F9E96-2B57-56A6-1A95-E5D14B4DD6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442210" y="4540827"/>
              <a:ext cx="1532546" cy="1532546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ED5055-39D8-F8E7-AF22-E0E67654A9DD}"/>
                </a:ext>
              </a:extLst>
            </p:cNvPr>
            <p:cNvSpPr txBox="1"/>
            <p:nvPr/>
          </p:nvSpPr>
          <p:spPr>
            <a:xfrm>
              <a:off x="8725710" y="4596343"/>
              <a:ext cx="3201084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>
                  <a:solidFill>
                    <a:schemeClr val="accent6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Sketch Engine, KorAP, CLiC, CWB, CQPweb, WMatrix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7F171DF-7347-4C50-9068-82949123BA4A}"/>
              </a:ext>
            </a:extLst>
          </p:cNvPr>
          <p:cNvGrpSpPr/>
          <p:nvPr/>
        </p:nvGrpSpPr>
        <p:grpSpPr>
          <a:xfrm>
            <a:off x="4144241" y="1692585"/>
            <a:ext cx="2275608" cy="2951468"/>
            <a:chOff x="4539096" y="2090340"/>
            <a:chExt cx="2275608" cy="2951468"/>
          </a:xfrm>
        </p:grpSpPr>
        <p:pic>
          <p:nvPicPr>
            <p:cNvPr id="22" name="Graphic 21" descr="Computer with solid fill">
              <a:extLst>
                <a:ext uri="{FF2B5EF4-FFF2-40B4-BE49-F238E27FC236}">
                  <a16:creationId xmlns:a16="http://schemas.microsoft.com/office/drawing/2014/main" id="{AE2049ED-1388-AA42-43C7-B0F95A2292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539096" y="2090340"/>
              <a:ext cx="2275608" cy="2275608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43F147-8BE9-1E50-4930-A8B3A87635D3}"/>
                </a:ext>
              </a:extLst>
            </p:cNvPr>
            <p:cNvSpPr txBox="1"/>
            <p:nvPr/>
          </p:nvSpPr>
          <p:spPr>
            <a:xfrm>
              <a:off x="4539096" y="4087701"/>
              <a:ext cx="2275608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>
                  <a:solidFill>
                    <a:schemeClr val="accent1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Jupyter</a:t>
              </a:r>
            </a:p>
            <a:p>
              <a:pPr algn="ctr"/>
              <a:r>
                <a:rPr lang="en-US" sz="2800" b="1">
                  <a:solidFill>
                    <a:schemeClr val="accent1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notebook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DEE9D86-A3D9-C88B-6B10-AE4518072943}"/>
              </a:ext>
            </a:extLst>
          </p:cNvPr>
          <p:cNvGrpSpPr/>
          <p:nvPr/>
        </p:nvGrpSpPr>
        <p:grpSpPr>
          <a:xfrm>
            <a:off x="2547505" y="2535505"/>
            <a:ext cx="1463386" cy="312326"/>
            <a:chOff x="2547505" y="2535505"/>
            <a:chExt cx="1463386" cy="312326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8DD8DB0A-37F0-2036-AB61-F721F1C49686}"/>
                </a:ext>
              </a:extLst>
            </p:cNvPr>
            <p:cNvCxnSpPr/>
            <p:nvPr/>
          </p:nvCxnSpPr>
          <p:spPr>
            <a:xfrm>
              <a:off x="2547505" y="2535505"/>
              <a:ext cx="1463386" cy="0"/>
            </a:xfrm>
            <a:prstGeom prst="straightConnector1">
              <a:avLst/>
            </a:prstGeom>
            <a:ln w="6350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34F9061-1AD9-C69C-6960-4F7C01DA592C}"/>
                </a:ext>
              </a:extLst>
            </p:cNvPr>
            <p:cNvCxnSpPr/>
            <p:nvPr/>
          </p:nvCxnSpPr>
          <p:spPr>
            <a:xfrm>
              <a:off x="2547505" y="2847831"/>
              <a:ext cx="1463386" cy="0"/>
            </a:xfrm>
            <a:prstGeom prst="straightConnector1">
              <a:avLst/>
            </a:prstGeom>
            <a:ln w="6350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arrow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CB46D04-28E9-3E8D-ABF2-C94B753FFD50}"/>
              </a:ext>
            </a:extLst>
          </p:cNvPr>
          <p:cNvGrpSpPr/>
          <p:nvPr/>
        </p:nvGrpSpPr>
        <p:grpSpPr>
          <a:xfrm rot="21051144">
            <a:off x="6666220" y="2388600"/>
            <a:ext cx="1671951" cy="312326"/>
            <a:chOff x="2547505" y="2535505"/>
            <a:chExt cx="1463386" cy="312326"/>
          </a:xfrm>
        </p:grpSpPr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401002D-1D28-3913-1D64-BA7E7A76204A}"/>
                </a:ext>
              </a:extLst>
            </p:cNvPr>
            <p:cNvCxnSpPr/>
            <p:nvPr/>
          </p:nvCxnSpPr>
          <p:spPr>
            <a:xfrm>
              <a:off x="2547505" y="2535505"/>
              <a:ext cx="1463386" cy="0"/>
            </a:xfrm>
            <a:prstGeom prst="straightConnector1">
              <a:avLst/>
            </a:prstGeom>
            <a:ln w="63500" cap="flat" cmpd="sng" algn="ctr">
              <a:solidFill>
                <a:schemeClr val="accent2">
                  <a:lumMod val="75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ADC966AC-7BCE-0645-C7A7-74927F411531}"/>
                </a:ext>
              </a:extLst>
            </p:cNvPr>
            <p:cNvCxnSpPr/>
            <p:nvPr/>
          </p:nvCxnSpPr>
          <p:spPr>
            <a:xfrm>
              <a:off x="2547505" y="2847831"/>
              <a:ext cx="1463386" cy="0"/>
            </a:xfrm>
            <a:prstGeom prst="straightConnector1">
              <a:avLst/>
            </a:prstGeom>
            <a:ln w="63500" cap="flat" cmpd="sng" algn="ctr">
              <a:solidFill>
                <a:schemeClr val="accent2">
                  <a:lumMod val="75000"/>
                </a:schemeClr>
              </a:solidFill>
              <a:prstDash val="solid"/>
              <a:round/>
              <a:headEnd type="arrow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6D21E20-8CD1-0960-1304-87C1FE39BF1F}"/>
              </a:ext>
            </a:extLst>
          </p:cNvPr>
          <p:cNvGrpSpPr/>
          <p:nvPr/>
        </p:nvGrpSpPr>
        <p:grpSpPr>
          <a:xfrm rot="2353692">
            <a:off x="6429209" y="3960498"/>
            <a:ext cx="1463386" cy="312326"/>
            <a:chOff x="2547505" y="2535505"/>
            <a:chExt cx="1463386" cy="312326"/>
          </a:xfrm>
        </p:grpSpPr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E62FD1A-558D-6C7B-DA00-B0C2287E2D38}"/>
                </a:ext>
              </a:extLst>
            </p:cNvPr>
            <p:cNvCxnSpPr/>
            <p:nvPr/>
          </p:nvCxnSpPr>
          <p:spPr>
            <a:xfrm>
              <a:off x="2547505" y="2535505"/>
              <a:ext cx="1463386" cy="0"/>
            </a:xfrm>
            <a:prstGeom prst="straightConnector1">
              <a:avLst/>
            </a:prstGeom>
            <a:ln w="63500" cap="flat" cmpd="sng" algn="ctr">
              <a:solidFill>
                <a:schemeClr val="accent6">
                  <a:lumMod val="75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82B1E916-310C-24F1-81CF-23ACE4EE507C}"/>
                </a:ext>
              </a:extLst>
            </p:cNvPr>
            <p:cNvCxnSpPr/>
            <p:nvPr/>
          </p:nvCxnSpPr>
          <p:spPr>
            <a:xfrm>
              <a:off x="2547505" y="2847831"/>
              <a:ext cx="1463386" cy="0"/>
            </a:xfrm>
            <a:prstGeom prst="straightConnector1">
              <a:avLst/>
            </a:prstGeom>
            <a:ln w="63500" cap="flat" cmpd="sng" algn="ctr">
              <a:solidFill>
                <a:schemeClr val="accent6">
                  <a:lumMod val="75000"/>
                </a:schemeClr>
              </a:solidFill>
              <a:prstDash val="solid"/>
              <a:round/>
              <a:headEnd type="arrow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E2518B8-E054-5BD7-D0DB-D2886BBAEC9B}"/>
              </a:ext>
            </a:extLst>
          </p:cNvPr>
          <p:cNvGrpSpPr/>
          <p:nvPr/>
        </p:nvGrpSpPr>
        <p:grpSpPr>
          <a:xfrm>
            <a:off x="10143447" y="-379910"/>
            <a:ext cx="2110946" cy="2841615"/>
            <a:chOff x="10143447" y="-379910"/>
            <a:chExt cx="2110946" cy="2841615"/>
          </a:xfrm>
        </p:grpSpPr>
        <p:pic>
          <p:nvPicPr>
            <p:cNvPr id="21" name="Graphic 20" descr="Abacus with solid fill">
              <a:extLst>
                <a:ext uri="{FF2B5EF4-FFF2-40B4-BE49-F238E27FC236}">
                  <a16:creationId xmlns:a16="http://schemas.microsoft.com/office/drawing/2014/main" id="{8CA82E93-BFB4-124F-7E15-DE50DDC28E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339993" y="-379910"/>
              <a:ext cx="914400" cy="9144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8" name="Graphic 7" descr="Abacus with solid fill">
              <a:extLst>
                <a:ext uri="{FF2B5EF4-FFF2-40B4-BE49-F238E27FC236}">
                  <a16:creationId xmlns:a16="http://schemas.microsoft.com/office/drawing/2014/main" id="{51D4715D-4BD8-FC8F-681F-ECEDC71D6F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220340" y="-221991"/>
              <a:ext cx="914400" cy="9144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0" name="Graphic 9" descr="Abacus with solid fill">
              <a:extLst>
                <a:ext uri="{FF2B5EF4-FFF2-40B4-BE49-F238E27FC236}">
                  <a16:creationId xmlns:a16="http://schemas.microsoft.com/office/drawing/2014/main" id="{B42ABCB5-CE3B-F715-248B-8F3EC585F8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100687" y="-29814"/>
              <a:ext cx="914400" cy="9144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2" name="Graphic 11" descr="Abacus with solid fill">
              <a:extLst>
                <a:ext uri="{FF2B5EF4-FFF2-40B4-BE49-F238E27FC236}">
                  <a16:creationId xmlns:a16="http://schemas.microsoft.com/office/drawing/2014/main" id="{246F317A-5484-4025-4FEE-E02E36263A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981032" y="162363"/>
              <a:ext cx="914400" cy="9144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3" name="Graphic 12" descr="Abacus with solid fill">
              <a:extLst>
                <a:ext uri="{FF2B5EF4-FFF2-40B4-BE49-F238E27FC236}">
                  <a16:creationId xmlns:a16="http://schemas.microsoft.com/office/drawing/2014/main" id="{D9FE170A-B83A-C333-C21D-966991D382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861377" y="354540"/>
              <a:ext cx="914400" cy="9144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5" name="Graphic 14" descr="Abacus with solid fill">
              <a:extLst>
                <a:ext uri="{FF2B5EF4-FFF2-40B4-BE49-F238E27FC236}">
                  <a16:creationId xmlns:a16="http://schemas.microsoft.com/office/drawing/2014/main" id="{D5665751-A95E-5894-8FE4-945397ACFDD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741722" y="546717"/>
              <a:ext cx="914400" cy="9144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6" name="Graphic 15" descr="Abacus with solid fill">
              <a:extLst>
                <a:ext uri="{FF2B5EF4-FFF2-40B4-BE49-F238E27FC236}">
                  <a16:creationId xmlns:a16="http://schemas.microsoft.com/office/drawing/2014/main" id="{206EF3F4-EA70-BA9C-4432-582861B69E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622067" y="738894"/>
              <a:ext cx="914400" cy="9144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7" name="Graphic 16" descr="Abacus with solid fill">
              <a:extLst>
                <a:ext uri="{FF2B5EF4-FFF2-40B4-BE49-F238E27FC236}">
                  <a16:creationId xmlns:a16="http://schemas.microsoft.com/office/drawing/2014/main" id="{695ECEDF-B32C-B01A-1CD4-1A954D3B27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382757" y="1123248"/>
              <a:ext cx="914400" cy="9144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8" name="Graphic 17" descr="Abacus with solid fill">
              <a:extLst>
                <a:ext uri="{FF2B5EF4-FFF2-40B4-BE49-F238E27FC236}">
                  <a16:creationId xmlns:a16="http://schemas.microsoft.com/office/drawing/2014/main" id="{A77B3BC7-0273-EA3D-8B00-3E3CCDB6F18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502412" y="931071"/>
              <a:ext cx="914400" cy="9144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9" name="Graphic 18" descr="Abacus with solid fill">
              <a:extLst>
                <a:ext uri="{FF2B5EF4-FFF2-40B4-BE49-F238E27FC236}">
                  <a16:creationId xmlns:a16="http://schemas.microsoft.com/office/drawing/2014/main" id="{084D2C5C-D330-28A1-4DD6-7720545BC0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263102" y="1315425"/>
              <a:ext cx="914400" cy="9144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0" name="Graphic 19" descr="Abacus with solid fill">
              <a:extLst>
                <a:ext uri="{FF2B5EF4-FFF2-40B4-BE49-F238E27FC236}">
                  <a16:creationId xmlns:a16="http://schemas.microsoft.com/office/drawing/2014/main" id="{27AA47CF-3A40-16D5-023A-1776F5C3CF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143447" y="1507599"/>
              <a:ext cx="914400" cy="954106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F0E696C-E24C-262F-A475-CAB60A8F8391}"/>
              </a:ext>
            </a:extLst>
          </p:cNvPr>
          <p:cNvGrpSpPr/>
          <p:nvPr/>
        </p:nvGrpSpPr>
        <p:grpSpPr>
          <a:xfrm>
            <a:off x="8669364" y="229501"/>
            <a:ext cx="1421457" cy="1248681"/>
            <a:chOff x="8571625" y="-101306"/>
            <a:chExt cx="1421457" cy="1248681"/>
          </a:xfrm>
        </p:grpSpPr>
        <p:pic>
          <p:nvPicPr>
            <p:cNvPr id="24" name="Graphic 23" descr="Deciduous tree with solid fill">
              <a:extLst>
                <a:ext uri="{FF2B5EF4-FFF2-40B4-BE49-F238E27FC236}">
                  <a16:creationId xmlns:a16="http://schemas.microsoft.com/office/drawing/2014/main" id="{19A463A7-108A-7A0F-3432-5E2588E06E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117996" y="204801"/>
              <a:ext cx="875086" cy="875086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9" name="Graphic 28" descr="Deciduous tree with solid fill">
              <a:extLst>
                <a:ext uri="{FF2B5EF4-FFF2-40B4-BE49-F238E27FC236}">
                  <a16:creationId xmlns:a16="http://schemas.microsoft.com/office/drawing/2014/main" id="{B32F0C46-198D-3F5E-A00E-56FB2EEECE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571625" y="-101306"/>
              <a:ext cx="1248681" cy="124868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827A75C-652F-D033-1420-F7D0B4750D52}"/>
              </a:ext>
            </a:extLst>
          </p:cNvPr>
          <p:cNvSpPr txBox="1"/>
          <p:nvPr/>
        </p:nvSpPr>
        <p:spPr>
          <a:xfrm>
            <a:off x="0" y="5966945"/>
            <a:ext cx="68761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https://pypi.org/project/FlexiConc/</a:t>
            </a:r>
          </a:p>
        </p:txBody>
      </p:sp>
    </p:spTree>
    <p:extLst>
      <p:ext uri="{BB962C8B-B14F-4D97-AF65-F5344CB8AC3E}">
        <p14:creationId xmlns:p14="http://schemas.microsoft.com/office/powerpoint/2010/main" val="12051321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C14DA7B-3FEA-A297-5EE3-4A5251E59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FlexiConc via Jupyter notebooks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8CF1A9-5F98-23BE-405D-2E3674FC1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Why FlexiConc? ➞ benefit from algorithmic innovation!</a:t>
            </a:r>
          </a:p>
          <a:p>
            <a:r>
              <a:rPr lang="en-US"/>
              <a:t>Use FlexiConc library from Python code in Jupyter notebook</a:t>
            </a:r>
          </a:p>
          <a:p>
            <a:r>
              <a:rPr lang="en-US"/>
              <a:t>Combines (some) interactivity with custom programming, e.g.</a:t>
            </a:r>
            <a:br>
              <a:rPr lang="en-US"/>
            </a:br>
            <a:r>
              <a:rPr lang="en-US"/>
              <a:t>to carry out additional anlayses not available in concordancer</a:t>
            </a:r>
          </a:p>
          <a:p>
            <a:r>
              <a:rPr lang="en-US"/>
              <a:t>Connect with various indexing &amp; search backend to access your</a:t>
            </a:r>
            <a:br>
              <a:rPr lang="en-US"/>
            </a:br>
            <a:r>
              <a:rPr lang="en-US"/>
              <a:t>own corpora there ➞ FlexiConc has ready-made functions</a:t>
            </a:r>
          </a:p>
          <a:p>
            <a:pPr lvl="2"/>
            <a:endParaRPr lang="en-US"/>
          </a:p>
          <a:p>
            <a:r>
              <a:rPr lang="en-US"/>
              <a:t>The Right Way: install Jupyter Lab + FlexiConc on your computer</a:t>
            </a:r>
          </a:p>
          <a:p>
            <a:r>
              <a:rPr lang="en-US"/>
              <a:t>The easy way: run notebook in Google Colab </a:t>
            </a: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… in a moment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41321E-2D88-5D2B-B9EF-E4D264A9F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4C4DED-780F-914B-2836-5625FD2AF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4C00E6-C2BB-E271-5E79-466DB3020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246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4A585-DA50-4700-024B-1179470CC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BFEA3-4DAF-593E-2AF7-D935DD8DC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Installing FlexiConc (Windows / MacOS)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4449AB-3F22-329C-E044-C90C21FBDF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4973369"/>
          </a:xfrm>
        </p:spPr>
        <p:txBody>
          <a:bodyPr/>
          <a:lstStyle/>
          <a:p>
            <a:r>
              <a:rPr lang="en-US"/>
              <a:t>install Anaconda Python or miniconda (</a:t>
            </a:r>
            <a:r>
              <a:rPr lang="en-US">
                <a:hlinkClick r:id="rId2"/>
              </a:rPr>
              <a:t>anaconda.com/download</a:t>
            </a:r>
            <a:r>
              <a:rPr lang="en-US"/>
              <a:t>)</a:t>
            </a:r>
          </a:p>
          <a:p>
            <a:r>
              <a:rPr lang="en-US"/>
              <a:t>create a separate environment for FlexiConc</a:t>
            </a:r>
            <a:br>
              <a:rPr lang="en-US"/>
            </a:br>
            <a:r>
              <a:rPr lang="en-US"/>
              <a:t>(</a:t>
            </a:r>
            <a:r>
              <a:rPr lang="en-US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conda create -n FlexiConc python=3.13</a:t>
            </a:r>
            <a:r>
              <a:rPr lang="en-US"/>
              <a:t>)</a:t>
            </a:r>
          </a:p>
          <a:p>
            <a:r>
              <a:rPr lang="en-US"/>
              <a:t>don't forget to activate it (</a:t>
            </a:r>
            <a:r>
              <a:rPr lang="en-US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conda activate FlexiConc</a:t>
            </a:r>
            <a:r>
              <a:rPr lang="en-US"/>
              <a:t>)</a:t>
            </a:r>
          </a:p>
          <a:p>
            <a:r>
              <a:rPr lang="en-US"/>
              <a:t>install PyICU from Anaconda (</a:t>
            </a: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conda install pyicu</a:t>
            </a:r>
            <a:r>
              <a:rPr lang="en-US"/>
              <a:t>)</a:t>
            </a:r>
          </a:p>
          <a:p>
            <a:r>
              <a:rPr lang="en-US"/>
              <a:t>install JupyterLab (</a:t>
            </a:r>
            <a:r>
              <a:rPr lang="en-US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conda install jupyterlab</a:t>
            </a:r>
            <a:r>
              <a:rPr lang="en-US"/>
              <a:t>)</a:t>
            </a:r>
          </a:p>
          <a:p>
            <a:r>
              <a:rPr lang="en-US"/>
              <a:t>install FlexiConc and dependencies from PyPI with pip:</a:t>
            </a:r>
            <a:br>
              <a:rPr lang="en-US"/>
            </a:br>
            <a:r>
              <a:rPr lang="en-US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pip install -U "flexiconc[notebooks,web,ICU,partitioning,annotation]"</a:t>
            </a:r>
          </a:p>
          <a:p>
            <a:r>
              <a:rPr lang="en-US"/>
              <a:t>now start JupyterLab (</a:t>
            </a:r>
            <a:r>
              <a:rPr lang="en-US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jupyter lab .</a:t>
            </a:r>
            <a:r>
              <a:rPr lang="en-US"/>
              <a:t>) … or ask us for help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852E28-4E33-7952-6B44-E8653312A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BF2F8C-3141-299E-DCE4-E529BD04E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B77C60-97F7-17B7-CF7E-6576B01DE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4840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CE1EF-41DD-CB69-D971-1BE5A0E5E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Installing FlexiConc (Linux)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47E80E-D3B0-E3D0-166B-6B1B1ACD7C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create virtualenv: </a:t>
            </a:r>
            <a:r>
              <a:rPr lang="en-US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python3 -mvenv --upgrade-deps venv</a:t>
            </a:r>
          </a:p>
          <a:p>
            <a:r>
              <a:rPr lang="en-US"/>
              <a:t>activate virtualenv: </a:t>
            </a:r>
            <a:r>
              <a:rPr lang="en-US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source venv/bin/activate</a:t>
            </a:r>
          </a:p>
          <a:p>
            <a:r>
              <a:rPr lang="en-US"/>
              <a:t>install ICU (e.g. </a:t>
            </a:r>
            <a:r>
              <a:rPr lang="en-US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sudo apt install libicu-dev</a:t>
            </a:r>
            <a:r>
              <a:rPr lang="en-US"/>
              <a:t> on Ubuntu)</a:t>
            </a:r>
          </a:p>
          <a:p>
            <a:r>
              <a:rPr lang="en-US"/>
              <a:t>install JupyterLab (</a:t>
            </a:r>
            <a:r>
              <a:rPr lang="en-US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pip install jupyterlab</a:t>
            </a:r>
            <a:r>
              <a:rPr lang="en-US"/>
              <a:t>)</a:t>
            </a:r>
          </a:p>
          <a:p>
            <a:r>
              <a:rPr lang="en-US"/>
              <a:t>install FlexiConc and dependencies from PyPI with pip:</a:t>
            </a:r>
            <a:br>
              <a:rPr lang="en-US"/>
            </a:br>
            <a:r>
              <a:rPr lang="en-US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pip install -U "flexiconc[notebooks,web,ICU,partitioning,annotation]"</a:t>
            </a:r>
          </a:p>
          <a:p>
            <a:r>
              <a:rPr lang="en-US"/>
              <a:t>start JupyterLab in your working directory: </a:t>
            </a:r>
            <a:r>
              <a:rPr lang="en-US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jupyter lab .</a:t>
            </a:r>
          </a:p>
          <a:p>
            <a:r>
              <a:rPr lang="en-US"/>
              <a:t>ask us for help if it doesn't work …</a:t>
            </a:r>
            <a:endParaRPr lang="en-US">
              <a:solidFill>
                <a:schemeClr val="accent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D730C1-D91F-7C36-DB63-03EB62883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B34FB-5149-08FA-E53C-C8248D517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A3C671-089F-C995-2008-9B20770A2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4407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3870F9E-A7FE-FD33-0199-4D9D11605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8152" y="1208315"/>
            <a:ext cx="1792224" cy="17922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3B5C579-69A1-4399-0D21-4BAC8A99E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>
                <a:latin typeface="FAUSans Office"/>
              </a:rPr>
              <a:t>FlexiConc</a:t>
            </a:r>
            <a:r>
              <a:rPr lang="en-US">
                <a:latin typeface="FAUSans Office"/>
              </a:rPr>
              <a:t> in Jupyter notebooks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3BB586-3407-D299-19FF-17FA03593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latin typeface="FAUSans Office" panose="020B0504010101010104"/>
              </a:rPr>
              <a:t>First steps: </a:t>
            </a:r>
            <a:r>
              <a:rPr lang="en-US" b="1" err="1">
                <a:solidFill>
                  <a:schemeClr val="accent1">
                    <a:lumMod val="50000"/>
                  </a:schemeClr>
                </a:solidFill>
                <a:latin typeface="FAUSans Office" panose="020B0504010101010104"/>
                <a:cs typeface="Consolas" panose="020B0609020204030204" pitchFamily="49" charset="0"/>
              </a:rPr>
              <a:t>flexiconc_introduction</a:t>
            </a:r>
            <a:r>
              <a:rPr lang="en-US" b="1">
                <a:solidFill>
                  <a:schemeClr val="accent1">
                    <a:lumMod val="50000"/>
                  </a:schemeClr>
                </a:solidFill>
                <a:latin typeface="FAUSans Office" panose="020B0504010101010104"/>
                <a:cs typeface="Consolas" panose="020B0609020204030204" pitchFamily="49" charset="0"/>
              </a:rPr>
              <a:t>.ipynb</a:t>
            </a:r>
            <a:endParaRPr lang="en-US" b="1">
              <a:latin typeface="FAUSans Office" panose="020B0504010101010104"/>
            </a:endParaRPr>
          </a:p>
          <a:p>
            <a:r>
              <a:rPr lang="en-US">
                <a:latin typeface="FAUSans Office" panose="020B0504010101010104"/>
              </a:rPr>
              <a:t>Download from course website</a:t>
            </a:r>
          </a:p>
          <a:p>
            <a:r>
              <a:rPr lang="en-US">
                <a:latin typeface="FAUSans Office" panose="020B0504010101010104"/>
              </a:rPr>
              <a:t>Or copy in Google </a:t>
            </a:r>
            <a:r>
              <a:rPr lang="en-US" err="1">
                <a:latin typeface="FAUSans Office" panose="020B0504010101010104"/>
              </a:rPr>
              <a:t>Colab</a:t>
            </a:r>
            <a:r>
              <a:rPr lang="en-US">
                <a:latin typeface="FAUSans Office" panose="020B0504010101010104"/>
              </a:rPr>
              <a:t> and run it there</a:t>
            </a:r>
          </a:p>
          <a:p>
            <a:r>
              <a:rPr lang="en-US">
                <a:latin typeface="FAUSans Office" panose="020B0504010101010104"/>
                <a:hlinkClick r:id="rId3"/>
              </a:rPr>
              <a:t>https://colab.research.google.com/drive/1sAC7c0vljy6og_dSwHbvbCs3QTs4a6Lx?usp=sharing</a:t>
            </a:r>
            <a:r>
              <a:rPr lang="en-US">
                <a:latin typeface="FAUSans Office" panose="020B0504010101010104"/>
              </a:rPr>
              <a:t> </a:t>
            </a:r>
          </a:p>
          <a:p>
            <a:pPr marL="0" indent="0">
              <a:buNone/>
            </a:pPr>
            <a:endParaRPr lang="en-US">
              <a:latin typeface="FAUSans Office" panose="020B0504010101010104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F974A4-EE9B-D3D0-878E-BDC4DE545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BD4C8-B62B-D5B3-4018-D633B9ADD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DE56BD-704B-4759-17EE-28F697913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8</a:t>
            </a:fld>
            <a:endParaRPr lang="en-GB"/>
          </a:p>
        </p:txBody>
      </p:sp>
      <p:sp>
        <p:nvSpPr>
          <p:cNvPr id="7" name="AutoShape 2">
            <a:extLst>
              <a:ext uri="{FF2B5EF4-FFF2-40B4-BE49-F238E27FC236}">
                <a16:creationId xmlns:a16="http://schemas.microsoft.com/office/drawing/2014/main" id="{1A071D94-99B7-C3A6-A180-4FFC01BFFCD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586328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BBD9E-ADDA-C81F-EE2C-3C9249796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Import from CLiC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4C6156-4523-A58B-A923-AB1C7C57F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5"/>
            <a:ext cx="11426616" cy="2396822"/>
          </a:xfrm>
        </p:spPr>
        <p:txBody>
          <a:bodyPr/>
          <a:lstStyle/>
          <a:p>
            <a:r>
              <a:rPr lang="en-US"/>
              <a:t>Preparation: none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346712-D9DD-00BA-05FF-C50350750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10098-E9A1-CA75-4C4E-1565ACBCD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8C38A-2965-E0C1-6B4C-82E9A3EA7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9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F07182-EF53-7806-F406-BCC03502821D}"/>
              </a:ext>
            </a:extLst>
          </p:cNvPr>
          <p:cNvSpPr txBox="1"/>
          <p:nvPr/>
        </p:nvSpPr>
        <p:spPr>
          <a:xfrm>
            <a:off x="382692" y="5459088"/>
            <a:ext cx="11426616" cy="901397"/>
          </a:xfrm>
          <a:prstGeom prst="rect">
            <a:avLst/>
          </a:prstGeom>
          <a:ln w="50800">
            <a:solidFill>
              <a:schemeClr val="accent2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lIns="90000" tIns="46800" rIns="90000" bIns="46800" rtlCol="0" anchor="t">
            <a:noAutofit/>
          </a:bodyPr>
          <a:lstStyle/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Concordance()</a:t>
            </a: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C.retrieve_from_clic(query=["head"], corpora="dickens")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C10FB0-A627-AFBA-3B01-80CD2EA51667}"/>
              </a:ext>
            </a:extLst>
          </p:cNvPr>
          <p:cNvSpPr txBox="1"/>
          <p:nvPr/>
        </p:nvSpPr>
        <p:spPr>
          <a:xfrm>
            <a:off x="8780206" y="807227"/>
            <a:ext cx="3411794" cy="399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en-US" sz="2400">
                <a:solidFill>
                  <a:schemeClr val="tx1"/>
                </a:solidFill>
                <a:latin typeface="FAUSans Office" panose="020B0504010101010104" pitchFamily="34" charset="77"/>
                <a:cs typeface="FAUSans Office" panose="020B0504010101010104" pitchFamily="34" charset="77"/>
                <a:hlinkClick r:id="rId2"/>
              </a:rPr>
              <a:t>https://clic-fiction.com/</a:t>
            </a:r>
            <a:endParaRPr lang="en-US" sz="2400">
              <a:solidFill>
                <a:schemeClr val="tx1"/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8758765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61D0F62-8C0C-729B-5094-F72D8F3CE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Import from Sketch Engine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483968-8300-AF68-0269-9D76B9259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81BA8A-E1BB-E3F0-1BF8-2710ABF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EEF95D-E776-AD88-4459-D8DBF0245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10</a:t>
            </a:fld>
            <a:endParaRPr lang="en-GB"/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6B67DCBC-AF74-C8F2-43D7-A9CD686FF6D4}"/>
              </a:ext>
            </a:extLst>
          </p:cNvPr>
          <p:cNvSpPr txBox="1">
            <a:spLocks/>
          </p:cNvSpPr>
          <p:nvPr/>
        </p:nvSpPr>
        <p:spPr>
          <a:xfrm>
            <a:off x="382692" y="1388795"/>
            <a:ext cx="11426616" cy="239682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FAUSans Office" panose="020B0504010101010104" pitchFamily="34" charset="77"/>
                <a:ea typeface="+mn-ea"/>
                <a:cs typeface="FAUSans Office" panose="020B0504010101010104" pitchFamily="34" charset="77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FAUSans Office" panose="020B0504010101010104" pitchFamily="34" charset="77"/>
                <a:ea typeface="+mn-ea"/>
                <a:cs typeface="FAUSans Office" panose="020B0504010101010104" pitchFamily="34" charset="77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FAUSans Office" panose="020B0504010101010104" pitchFamily="34" charset="77"/>
                <a:ea typeface="+mn-ea"/>
                <a:cs typeface="FAUSans Office" panose="020B0504010101010104" pitchFamily="34" charset="77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FAUSans Office" panose="020B0504010101010104" pitchFamily="34" charset="77"/>
                <a:ea typeface="+mn-ea"/>
                <a:cs typeface="FAUSans Office" panose="020B0504010101010104" pitchFamily="34" charset="77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FAUSans Office" panose="020B0504010101010104" pitchFamily="34" charset="77"/>
                <a:ea typeface="+mn-ea"/>
                <a:cs typeface="FAUSans Office" panose="020B0504010101010104" pitchFamily="34" charset="77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FAUSans Office"/>
              </a:rPr>
              <a:t>Prerequisite: paid </a:t>
            </a:r>
            <a:r>
              <a:rPr lang="en-US" err="1">
                <a:latin typeface="FAUSans Office"/>
              </a:rPr>
              <a:t>SkE</a:t>
            </a:r>
            <a:r>
              <a:rPr lang="en-US">
                <a:latin typeface="FAUSans Office"/>
              </a:rPr>
              <a:t> account (free 30-day trials available)</a:t>
            </a:r>
          </a:p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36B93AC-ECBE-B759-A1EA-B597520C9C5C}"/>
              </a:ext>
            </a:extLst>
          </p:cNvPr>
          <p:cNvSpPr txBox="1"/>
          <p:nvPr/>
        </p:nvSpPr>
        <p:spPr>
          <a:xfrm>
            <a:off x="8032955" y="806498"/>
            <a:ext cx="4159045" cy="399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en-US" sz="2400">
                <a:solidFill>
                  <a:schemeClr val="tx1"/>
                </a:solidFill>
                <a:latin typeface="FAUSans Office" panose="020B0504010101010104" pitchFamily="34" charset="77"/>
                <a:cs typeface="FAUSans Office" panose="020B0504010101010104" pitchFamily="34" charset="77"/>
                <a:hlinkClick r:id="rId2"/>
              </a:rPr>
              <a:t>https://app.sketchengine.eu/</a:t>
            </a:r>
            <a:endParaRPr lang="en-US" sz="2400">
              <a:solidFill>
                <a:schemeClr val="tx1"/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8C5376B-A538-9D4F-AF23-CEC5EDEA3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2541" y="786581"/>
            <a:ext cx="8620599" cy="6321091"/>
          </a:xfrm>
          <a:prstGeom prst="rect">
            <a:avLst/>
          </a:prstGeom>
        </p:spPr>
      </p:pic>
      <p:sp>
        <p:nvSpPr>
          <p:cNvPr id="12" name="Up Arrow 11">
            <a:extLst>
              <a:ext uri="{FF2B5EF4-FFF2-40B4-BE49-F238E27FC236}">
                <a16:creationId xmlns:a16="http://schemas.microsoft.com/office/drawing/2014/main" id="{FE0F081E-88E4-0CAA-AD90-11B70FDB33B0}"/>
              </a:ext>
            </a:extLst>
          </p:cNvPr>
          <p:cNvSpPr/>
          <p:nvPr/>
        </p:nvSpPr>
        <p:spPr>
          <a:xfrm rot="18090620">
            <a:off x="10113093" y="1809136"/>
            <a:ext cx="223684" cy="658762"/>
          </a:xfrm>
          <a:prstGeom prst="up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4ADAB66-EDA3-8A2F-61E9-BE000120DE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98" t="3002" r="1404" b="2082"/>
          <a:stretch/>
        </p:blipFill>
        <p:spPr>
          <a:xfrm>
            <a:off x="4115997" y="2138517"/>
            <a:ext cx="4053685" cy="2804600"/>
          </a:xfrm>
          <a:prstGeom prst="rect">
            <a:avLst/>
          </a:prstGeom>
          <a:effectLst>
            <a:outerShdw blurRad="88900" dist="38100" dir="22800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5" name="Up Arrow 14">
            <a:extLst>
              <a:ext uri="{FF2B5EF4-FFF2-40B4-BE49-F238E27FC236}">
                <a16:creationId xmlns:a16="http://schemas.microsoft.com/office/drawing/2014/main" id="{DE2C4F6E-567A-A85A-250B-804D210D4BD7}"/>
              </a:ext>
            </a:extLst>
          </p:cNvPr>
          <p:cNvSpPr/>
          <p:nvPr/>
        </p:nvSpPr>
        <p:spPr>
          <a:xfrm rot="18090620">
            <a:off x="6863532" y="4026310"/>
            <a:ext cx="223684" cy="658762"/>
          </a:xfrm>
          <a:prstGeom prst="up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Up Arrow 15">
            <a:extLst>
              <a:ext uri="{FF2B5EF4-FFF2-40B4-BE49-F238E27FC236}">
                <a16:creationId xmlns:a16="http://schemas.microsoft.com/office/drawing/2014/main" id="{0072352C-60B8-BB1D-77B0-CCC8CA2E2322}"/>
              </a:ext>
            </a:extLst>
          </p:cNvPr>
          <p:cNvSpPr/>
          <p:nvPr/>
        </p:nvSpPr>
        <p:spPr>
          <a:xfrm rot="18090620">
            <a:off x="8057841" y="3885247"/>
            <a:ext cx="223684" cy="658762"/>
          </a:xfrm>
          <a:prstGeom prst="up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F86110-7051-B5EE-EC78-7895650FE1E7}"/>
              </a:ext>
            </a:extLst>
          </p:cNvPr>
          <p:cNvSpPr/>
          <p:nvPr/>
        </p:nvSpPr>
        <p:spPr>
          <a:xfrm>
            <a:off x="5840361" y="3897965"/>
            <a:ext cx="1877961" cy="141063"/>
          </a:xfrm>
          <a:prstGeom prst="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4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4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5" grpId="0" animBg="1"/>
      <p:bldP spid="15" grpId="1" animBg="1"/>
      <p:bldP spid="16" grpId="0" animBg="1"/>
      <p:bldP spid="1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CC29E-3A1E-8A1B-0D3E-53990A8E7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2DBA8F-4FAD-3E8A-49BE-87C7C614D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Import from Sketch Engine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7B5895-FB6D-32EE-EBE1-77147A373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458CCA-FC4C-923C-CB96-C4431A07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054D82-A27D-1897-4D53-4D0D02D17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11</a:t>
            </a:fld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70C7B7-5F4F-45FA-1730-D102ABC84D47}"/>
              </a:ext>
            </a:extLst>
          </p:cNvPr>
          <p:cNvSpPr txBox="1"/>
          <p:nvPr/>
        </p:nvSpPr>
        <p:spPr>
          <a:xfrm>
            <a:off x="8032955" y="806498"/>
            <a:ext cx="4159045" cy="399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en-US" sz="2400">
                <a:solidFill>
                  <a:schemeClr val="tx1"/>
                </a:solidFill>
                <a:latin typeface="FAUSans Office" panose="020B0504010101010104" pitchFamily="34" charset="77"/>
                <a:cs typeface="FAUSans Office" panose="020B0504010101010104" pitchFamily="34" charset="77"/>
                <a:hlinkClick r:id="rId2"/>
              </a:rPr>
              <a:t>https://app.sketchengine.eu/</a:t>
            </a:r>
            <a:endParaRPr lang="en-US" sz="2400">
              <a:solidFill>
                <a:schemeClr val="tx1"/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3D4483C-A874-CD5B-08E0-41022B957F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2541" y="786581"/>
            <a:ext cx="8620599" cy="6321091"/>
          </a:xfrm>
          <a:prstGeom prst="rect">
            <a:avLst/>
          </a:prstGeom>
        </p:spPr>
      </p:pic>
      <p:sp>
        <p:nvSpPr>
          <p:cNvPr id="2" name="Up Arrow 1">
            <a:extLst>
              <a:ext uri="{FF2B5EF4-FFF2-40B4-BE49-F238E27FC236}">
                <a16:creationId xmlns:a16="http://schemas.microsoft.com/office/drawing/2014/main" id="{A5654706-E85A-6B1F-785C-E662A91E64BD}"/>
              </a:ext>
            </a:extLst>
          </p:cNvPr>
          <p:cNvSpPr/>
          <p:nvPr/>
        </p:nvSpPr>
        <p:spPr>
          <a:xfrm rot="18090620">
            <a:off x="5555226" y="1573160"/>
            <a:ext cx="223684" cy="658762"/>
          </a:xfrm>
          <a:prstGeom prst="up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B686928-4876-26EE-60B5-0EA62F982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6365" y="1562240"/>
            <a:ext cx="7772400" cy="476977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50D751F-55CA-136F-A977-8F4A6ECFFD37}"/>
              </a:ext>
            </a:extLst>
          </p:cNvPr>
          <p:cNvSpPr/>
          <p:nvPr/>
        </p:nvSpPr>
        <p:spPr>
          <a:xfrm>
            <a:off x="2918104" y="1635038"/>
            <a:ext cx="678534" cy="154433"/>
          </a:xfrm>
          <a:prstGeom prst="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71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7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83613-615B-52D9-BED5-B86728179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34F6D-1ABD-1680-F148-D043834EF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Import from Sketch Engine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97E5255-2D9F-119F-6702-0576F7AAD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5"/>
            <a:ext cx="11426616" cy="2396822"/>
          </a:xfrm>
        </p:spPr>
        <p:txBody>
          <a:bodyPr/>
          <a:lstStyle/>
          <a:p>
            <a:r>
              <a:rPr lang="en-US"/>
              <a:t>Prerequisite: paid SkE account (free 30-day trials available)</a:t>
            </a:r>
          </a:p>
          <a:p>
            <a:r>
              <a:rPr lang="en-US"/>
              <a:t>Generate API access token (as shown on previous slides)</a:t>
            </a:r>
          </a:p>
          <a:p>
            <a:r>
              <a:rPr lang="en-US"/>
              <a:t>Note down full path to desired corpus (as shown on previous slides)</a:t>
            </a:r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4589D4-F5E8-2AE0-858A-791E881D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31EA4C-F68A-85AE-215B-8D2D3FC94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BAF60A-6A2F-261A-84BE-E9A773F31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12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375D8F-DA9F-C351-98E8-B678CD71DB40}"/>
              </a:ext>
            </a:extLst>
          </p:cNvPr>
          <p:cNvSpPr txBox="1"/>
          <p:nvPr/>
        </p:nvSpPr>
        <p:spPr>
          <a:xfrm>
            <a:off x="382692" y="3963662"/>
            <a:ext cx="11426616" cy="2496131"/>
          </a:xfrm>
          <a:prstGeom prst="rect">
            <a:avLst/>
          </a:prstGeom>
          <a:ln w="50800">
            <a:solidFill>
              <a:schemeClr val="accent2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lIns="90000" tIns="46800" rIns="90000" bIns="46800" rtlCol="0" anchor="t">
            <a:noAutofit/>
          </a:bodyPr>
          <a:lstStyle/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Concordance()</a:t>
            </a: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C.retrieve_from_sketchengine(</a:t>
            </a: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query='[lc="fake"] [lc="news"]', </a:t>
            </a: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corpus="</a:t>
            </a:r>
            <a:r>
              <a:rPr lang="en-US" sz="2600" b="1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user/SEvert/tta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</a:t>
            </a:r>
            <a:r>
              <a:rPr lang="en-US" sz="2600" b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insert your path here</a:t>
            </a: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api_key="</a:t>
            </a:r>
            <a:r>
              <a:rPr lang="en-US" sz="2600" b="1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[YOUR API KEY]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DCFF76-A206-451A-CEB7-E2D0795246DA}"/>
              </a:ext>
            </a:extLst>
          </p:cNvPr>
          <p:cNvSpPr txBox="1"/>
          <p:nvPr/>
        </p:nvSpPr>
        <p:spPr>
          <a:xfrm>
            <a:off x="8032955" y="806498"/>
            <a:ext cx="4159045" cy="399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en-US" sz="2400">
                <a:solidFill>
                  <a:schemeClr val="tx1"/>
                </a:solidFill>
                <a:latin typeface="FAUSans Office" panose="020B0504010101010104" pitchFamily="34" charset="77"/>
                <a:cs typeface="FAUSans Office" panose="020B0504010101010104" pitchFamily="34" charset="77"/>
                <a:hlinkClick r:id="rId2"/>
              </a:rPr>
              <a:t>https://app.sketchengine.eu/</a:t>
            </a:r>
            <a:endParaRPr lang="en-US" sz="2400">
              <a:solidFill>
                <a:schemeClr val="tx1"/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244692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E1F1562-2EE2-8DC8-F4F0-74D03C83E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Import from CQPweb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AD965-C856-0980-CDF8-A31F88ACC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6866E-347E-E9F8-43F7-3C2DF9BA5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CBF8A4-59D9-22DC-12E1-963F3B647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13</a:t>
            </a:fld>
            <a:endParaRPr lang="en-GB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45BFE4D-C99A-E610-D1D9-69FAFAABD2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7382"/>
          <a:stretch>
            <a:fillRect/>
          </a:stretch>
        </p:blipFill>
        <p:spPr>
          <a:xfrm>
            <a:off x="0" y="1208316"/>
            <a:ext cx="12192000" cy="5332650"/>
          </a:xfrm>
          <a:prstGeom prst="rect">
            <a:avLst/>
          </a:prstGeom>
        </p:spPr>
      </p:pic>
      <p:sp>
        <p:nvSpPr>
          <p:cNvPr id="10" name="Left Arrow 9">
            <a:extLst>
              <a:ext uri="{FF2B5EF4-FFF2-40B4-BE49-F238E27FC236}">
                <a16:creationId xmlns:a16="http://schemas.microsoft.com/office/drawing/2014/main" id="{DA77AACC-9774-8CB5-F2F5-D220C884854B}"/>
              </a:ext>
            </a:extLst>
          </p:cNvPr>
          <p:cNvSpPr/>
          <p:nvPr/>
        </p:nvSpPr>
        <p:spPr>
          <a:xfrm rot="1100332">
            <a:off x="10606776" y="4154368"/>
            <a:ext cx="720000" cy="288000"/>
          </a:xfrm>
          <a:prstGeom prst="leftArrow">
            <a:avLst>
              <a:gd name="adj1" fmla="val 50000"/>
              <a:gd name="adj2" fmla="val 63793"/>
            </a:avLst>
          </a:prstGeom>
          <a:gradFill>
            <a:gsLst>
              <a:gs pos="0">
                <a:schemeClr val="accent2"/>
              </a:gs>
              <a:gs pos="50000">
                <a:schemeClr val="accent2">
                  <a:lumMod val="90000"/>
                </a:schemeClr>
              </a:gs>
              <a:gs pos="100000">
                <a:schemeClr val="accent2">
                  <a:lumMod val="50000"/>
                </a:schemeClr>
              </a:gs>
            </a:gsLst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err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1B088BB-E8B4-30B5-7349-C1E3F59D7FC5}"/>
              </a:ext>
            </a:extLst>
          </p:cNvPr>
          <p:cNvGrpSpPr/>
          <p:nvPr/>
        </p:nvGrpSpPr>
        <p:grpSpPr>
          <a:xfrm>
            <a:off x="859537" y="1782357"/>
            <a:ext cx="7772398" cy="5075643"/>
            <a:chOff x="859537" y="1782357"/>
            <a:chExt cx="7772398" cy="5075643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BB6149F1-F434-714F-4D91-7D609C5398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859537" y="1782357"/>
              <a:ext cx="7772398" cy="5075643"/>
            </a:xfrm>
            <a:prstGeom prst="rect">
              <a:avLst/>
            </a:prstGeom>
            <a:ln>
              <a:noFill/>
            </a:ln>
            <a:effectLst>
              <a:outerShdw blurRad="244740" dist="50800" dir="18900000" algn="tl" rotWithShape="0">
                <a:srgbClr val="333333">
                  <a:alpha val="63399"/>
                </a:srgbClr>
              </a:outerShdw>
            </a:effectLst>
          </p:spPr>
        </p:pic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35F07801-BF5C-47A5-437E-428B25BDE2AC}"/>
                </a:ext>
              </a:extLst>
            </p:cNvPr>
            <p:cNvSpPr/>
            <p:nvPr/>
          </p:nvSpPr>
          <p:spPr>
            <a:xfrm>
              <a:off x="4765400" y="3067664"/>
              <a:ext cx="1160207" cy="213850"/>
            </a:xfrm>
            <a:prstGeom prst="roundRect">
              <a:avLst/>
            </a:prstGeom>
            <a:noFill/>
            <a:ln w="50800"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FC1B5C9D-762C-58AE-03B5-8534121419CB}"/>
                </a:ext>
              </a:extLst>
            </p:cNvPr>
            <p:cNvSpPr/>
            <p:nvPr/>
          </p:nvSpPr>
          <p:spPr>
            <a:xfrm>
              <a:off x="4765399" y="3303639"/>
              <a:ext cx="475195" cy="213850"/>
            </a:xfrm>
            <a:prstGeom prst="roundRect">
              <a:avLst/>
            </a:prstGeom>
            <a:noFill/>
            <a:ln w="50800"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54EC083C-2044-6294-BF60-61522C66AC8B}"/>
                </a:ext>
              </a:extLst>
            </p:cNvPr>
            <p:cNvSpPr/>
            <p:nvPr/>
          </p:nvSpPr>
          <p:spPr>
            <a:xfrm>
              <a:off x="4785064" y="4647877"/>
              <a:ext cx="1883365" cy="213850"/>
            </a:xfrm>
            <a:prstGeom prst="roundRect">
              <a:avLst/>
            </a:prstGeom>
            <a:noFill/>
            <a:ln w="50800"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555ACE37-626C-E98A-4EFD-49D4F3DA7FB5}"/>
                </a:ext>
              </a:extLst>
            </p:cNvPr>
            <p:cNvSpPr/>
            <p:nvPr/>
          </p:nvSpPr>
          <p:spPr>
            <a:xfrm>
              <a:off x="4765400" y="5449230"/>
              <a:ext cx="884552" cy="1393900"/>
            </a:xfrm>
            <a:prstGeom prst="roundRect">
              <a:avLst>
                <a:gd name="adj" fmla="val 7422"/>
              </a:avLst>
            </a:prstGeom>
            <a:noFill/>
            <a:ln w="50800"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8F36AEB5-0260-FC48-C9BE-0876638FA769}"/>
              </a:ext>
            </a:extLst>
          </p:cNvPr>
          <p:cNvSpPr txBox="1"/>
          <p:nvPr/>
        </p:nvSpPr>
        <p:spPr>
          <a:xfrm>
            <a:off x="5122606" y="777056"/>
            <a:ext cx="7069394" cy="399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en-US" sz="2400">
                <a:solidFill>
                  <a:schemeClr val="tx1"/>
                </a:solidFill>
                <a:latin typeface="FAUSans Office" panose="020B0504010101010104" pitchFamily="34" charset="77"/>
                <a:cs typeface="FAUSans Office" panose="020B0504010101010104" pitchFamily="34" charset="77"/>
                <a:hlinkClick r:id="rId5"/>
              </a:rPr>
              <a:t>https://corpora.linguistik.uni-erlangen.de/cqpweb/</a:t>
            </a:r>
            <a:endParaRPr lang="en-US" sz="2400">
              <a:solidFill>
                <a:schemeClr val="tx1"/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7962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F9900-9AB7-E69A-05FB-E6FE84A18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8D28C-BB24-B39C-9105-5874CA912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Import from CQPweb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D8F2E35-4B77-98F7-CE5B-D1F683FA9C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5"/>
            <a:ext cx="11426616" cy="2396822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2700">
                <a:latin typeface="FAUSans Office"/>
              </a:rPr>
              <a:t>Obtain desired concordance in </a:t>
            </a:r>
            <a:r>
              <a:rPr lang="en-US" sz="2700" err="1">
                <a:latin typeface="FAUSans Office"/>
              </a:rPr>
              <a:t>CQPweb</a:t>
            </a:r>
            <a:r>
              <a:rPr lang="en-US" sz="2700">
                <a:latin typeface="FAUSans Office"/>
              </a:rPr>
              <a:t> and save it with download action (as shown on previous slide)</a:t>
            </a:r>
          </a:p>
          <a:p>
            <a:r>
              <a:rPr lang="en-US" sz="2700">
                <a:latin typeface="FAUSans Office"/>
              </a:rPr>
              <a:t>Make sure to include all relevant metadata</a:t>
            </a:r>
          </a:p>
          <a:p>
            <a:r>
              <a:rPr lang="en-US" sz="2700">
                <a:latin typeface="FAUSans Office"/>
              </a:rPr>
              <a:t>Save the downloaded file in same directory as </a:t>
            </a:r>
            <a:r>
              <a:rPr lang="en-US" sz="2700" err="1">
                <a:latin typeface="FAUSans Office"/>
              </a:rPr>
              <a:t>Jupyter</a:t>
            </a:r>
            <a:r>
              <a:rPr lang="en-US" sz="2700">
                <a:latin typeface="FAUSans Office"/>
              </a:rPr>
              <a:t> notebook</a:t>
            </a:r>
            <a:endParaRPr lang="en-US">
              <a:latin typeface="FAUSans Office"/>
            </a:endParaRPr>
          </a:p>
          <a:p>
            <a:endParaRPr lang="en-US" sz="27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B1EDA-66A1-5EAA-C925-2F872D9DF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82563-3135-8AC9-0837-B5EE73940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4F4A5-59AA-2CD5-F4D4-6571C750C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14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B5561B-8F30-1429-78B3-146EF91F4702}"/>
              </a:ext>
            </a:extLst>
          </p:cNvPr>
          <p:cNvSpPr txBox="1"/>
          <p:nvPr/>
        </p:nvSpPr>
        <p:spPr>
          <a:xfrm>
            <a:off x="382692" y="5459440"/>
            <a:ext cx="11436023" cy="980689"/>
          </a:xfrm>
          <a:prstGeom prst="rect">
            <a:avLst/>
          </a:prstGeom>
          <a:ln w="50800">
            <a:solidFill>
              <a:schemeClr val="accent2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lIns="90000" tIns="46800" rIns="90000" bIns="46800" rtlCol="0" anchor="t">
            <a:noAutofit/>
          </a:bodyPr>
          <a:lstStyle/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Concordance()</a:t>
            </a: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C.load_from_cqpweb_export("CQPweb_WaterSanitation_ParlUK.txt")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B07653-E6C2-89D2-AC6A-9EF9454C9622}"/>
              </a:ext>
            </a:extLst>
          </p:cNvPr>
          <p:cNvSpPr txBox="1"/>
          <p:nvPr/>
        </p:nvSpPr>
        <p:spPr>
          <a:xfrm>
            <a:off x="5122606" y="786581"/>
            <a:ext cx="7069394" cy="399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en-US" sz="2400">
                <a:solidFill>
                  <a:schemeClr val="tx1"/>
                </a:solidFill>
                <a:latin typeface="FAUSans Office" panose="020B0504010101010104" pitchFamily="34" charset="77"/>
                <a:cs typeface="FAUSans Office" panose="020B0504010101010104" pitchFamily="34" charset="77"/>
                <a:hlinkClick r:id="rId2"/>
              </a:rPr>
              <a:t>https://corpora.linguistik.uni-erlangen.de/cqpweb/</a:t>
            </a:r>
            <a:endParaRPr lang="en-US" sz="2400">
              <a:solidFill>
                <a:schemeClr val="tx1"/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886536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E92F6BC-7BD4-098B-D306-8B15371F3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Import from WMatrix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0706597-DE72-B72E-8A35-61690FB107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5"/>
            <a:ext cx="11426616" cy="1546416"/>
          </a:xfrm>
        </p:spPr>
        <p:txBody>
          <a:bodyPr/>
          <a:lstStyle/>
          <a:p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Tag Wizard: </a:t>
            </a:r>
            <a:r>
              <a:rPr lang="en-US"/>
              <a:t>Create your own corpus from text files in ZIP archive</a:t>
            </a:r>
          </a:p>
          <a:p>
            <a:r>
              <a:rPr lang="en-US"/>
              <a:t>Annotated with POS, lemma, semantic concept in 9 languages</a:t>
            </a:r>
          </a:p>
          <a:p>
            <a:r>
              <a:rPr lang="en-US"/>
              <a:t>Corpus (“folder”) can be downloaded in SQLite format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055032-F0EA-9E3A-CC1E-798EF8F96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9D3BB9-9AAF-8126-F24B-AF86AF5E8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CA3D83-752B-1673-ED8F-0AD92219F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15</a:t>
            </a:fld>
            <a:endParaRPr lang="en-GB"/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C0C8B7B-57E2-829C-535B-3FAFB75374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097" y="3009715"/>
            <a:ext cx="7611806" cy="353125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44AC93F-7165-D9CC-F564-88B57C63D1A2}"/>
              </a:ext>
            </a:extLst>
          </p:cNvPr>
          <p:cNvSpPr txBox="1"/>
          <p:nvPr/>
        </p:nvSpPr>
        <p:spPr>
          <a:xfrm>
            <a:off x="6744928" y="807227"/>
            <a:ext cx="5447072" cy="399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en-US" sz="2400">
                <a:solidFill>
                  <a:schemeClr val="tx1"/>
                </a:solidFill>
                <a:latin typeface="FAUSans Office" panose="020B0504010101010104" pitchFamily="34" charset="77"/>
                <a:cs typeface="FAUSans Office" panose="020B0504010101010104" pitchFamily="34" charset="77"/>
                <a:hlinkClick r:id="rId3"/>
              </a:rPr>
              <a:t>https://ucrel-wmatrix7.lancaster.ac.uk/</a:t>
            </a:r>
            <a:r>
              <a:rPr lang="en-US" sz="2400">
                <a:solidFill>
                  <a:schemeClr val="tx1"/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5838447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E7EBC-B6BB-FBC8-362B-EBC5486A5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DEE2988-86AE-BA10-DE58-F2D265786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Import from WMatrix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E760AE0-74AE-9508-2E39-BA1F7C9CDC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1" y="1388795"/>
            <a:ext cx="11543837" cy="1546416"/>
          </a:xfrm>
        </p:spPr>
        <p:txBody>
          <a:bodyPr/>
          <a:lstStyle/>
          <a:p>
            <a:r>
              <a:rPr lang="en-US"/>
              <a:t>Use own corpus (“folder”) or copy </a:t>
            </a:r>
            <a:r>
              <a:rPr lang="en-US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ESSLLI_Water_ParlUK</a:t>
            </a: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/>
              <a:t>from library</a:t>
            </a:r>
          </a:p>
          <a:p>
            <a:r>
              <a:rPr lang="en-US"/>
              <a:t>Main function: keyword analysis (for word, lemma, POS, concept)</a:t>
            </a:r>
          </a:p>
          <a:p>
            <a:r>
              <a:rPr lang="en-US"/>
              <a:t>Note interesting keywords ➞ concordance analysis in FlexiConc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A0C3C4-5309-DCFA-FC0B-3E002BB6F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9822EE-DB46-F59E-C194-F2658CAC3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FD28B-ED10-6E9B-9C71-3A478CAA3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16</a:t>
            </a:fld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21C8235-4A35-0CBE-B555-0C944AAF47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88905" y="3118833"/>
            <a:ext cx="10131408" cy="342065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4196BCB-E0C7-F9C3-551A-EBD19FD6B7A2}"/>
              </a:ext>
            </a:extLst>
          </p:cNvPr>
          <p:cNvSpPr txBox="1"/>
          <p:nvPr/>
        </p:nvSpPr>
        <p:spPr>
          <a:xfrm>
            <a:off x="6744928" y="807227"/>
            <a:ext cx="5447072" cy="399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en-US" sz="2400">
                <a:solidFill>
                  <a:schemeClr val="tx1"/>
                </a:solidFill>
                <a:latin typeface="FAUSans Office" panose="020B0504010101010104" pitchFamily="34" charset="77"/>
                <a:cs typeface="FAUSans Office" panose="020B0504010101010104" pitchFamily="34" charset="77"/>
                <a:hlinkClick r:id="rId3"/>
              </a:rPr>
              <a:t>https://ucrel-wmatrix7.lancaster.ac.uk/</a:t>
            </a:r>
            <a:r>
              <a:rPr lang="en-US" sz="2400">
                <a:solidFill>
                  <a:schemeClr val="tx1"/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  </a:t>
            </a:r>
          </a:p>
        </p:txBody>
      </p:sp>
      <p:sp>
        <p:nvSpPr>
          <p:cNvPr id="2" name="Left Arrow 1">
            <a:extLst>
              <a:ext uri="{FF2B5EF4-FFF2-40B4-BE49-F238E27FC236}">
                <a16:creationId xmlns:a16="http://schemas.microsoft.com/office/drawing/2014/main" id="{DDA24F66-65F0-B275-E6CA-768B8877A64A}"/>
              </a:ext>
            </a:extLst>
          </p:cNvPr>
          <p:cNvSpPr/>
          <p:nvPr/>
        </p:nvSpPr>
        <p:spPr>
          <a:xfrm rot="1100332">
            <a:off x="10073375" y="5481723"/>
            <a:ext cx="720000" cy="288000"/>
          </a:xfrm>
          <a:prstGeom prst="leftArrow">
            <a:avLst>
              <a:gd name="adj1" fmla="val 50000"/>
              <a:gd name="adj2" fmla="val 63793"/>
            </a:avLst>
          </a:prstGeom>
          <a:gradFill>
            <a:gsLst>
              <a:gs pos="0">
                <a:schemeClr val="accent2"/>
              </a:gs>
              <a:gs pos="50000">
                <a:schemeClr val="accent2">
                  <a:lumMod val="90000"/>
                </a:schemeClr>
              </a:gs>
              <a:gs pos="100000">
                <a:schemeClr val="accent2">
                  <a:lumMod val="50000"/>
                </a:schemeClr>
              </a:gs>
            </a:gsLst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err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Left Arrow 2">
            <a:extLst>
              <a:ext uri="{FF2B5EF4-FFF2-40B4-BE49-F238E27FC236}">
                <a16:creationId xmlns:a16="http://schemas.microsoft.com/office/drawing/2014/main" id="{94669932-3613-2FC5-3714-2290276003C6}"/>
              </a:ext>
            </a:extLst>
          </p:cNvPr>
          <p:cNvSpPr/>
          <p:nvPr/>
        </p:nvSpPr>
        <p:spPr>
          <a:xfrm rot="1100332">
            <a:off x="10073376" y="6210347"/>
            <a:ext cx="720000" cy="288000"/>
          </a:xfrm>
          <a:prstGeom prst="leftArrow">
            <a:avLst>
              <a:gd name="adj1" fmla="val 50000"/>
              <a:gd name="adj2" fmla="val 63793"/>
            </a:avLst>
          </a:prstGeom>
          <a:gradFill>
            <a:gsLst>
              <a:gs pos="0">
                <a:schemeClr val="accent2"/>
              </a:gs>
              <a:gs pos="50000">
                <a:schemeClr val="accent2">
                  <a:lumMod val="90000"/>
                </a:schemeClr>
              </a:gs>
              <a:gs pos="100000">
                <a:schemeClr val="accent2">
                  <a:lumMod val="50000"/>
                </a:schemeClr>
              </a:gs>
            </a:gsLst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err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4231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xit" presetSubtype="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AE41D-0E9C-E14C-883A-59A620703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505B3-75D6-4070-25B9-773171DFF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Import from WMatrix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26F18F1-C256-5575-756E-5CB6EF3DD0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5"/>
            <a:ext cx="11426616" cy="2396822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>
                <a:latin typeface="FAUSans Office"/>
              </a:rPr>
              <a:t>Get a free </a:t>
            </a:r>
            <a:r>
              <a:rPr lang="en-US" err="1">
                <a:latin typeface="FAUSans Office"/>
              </a:rPr>
              <a:t>WMatrix</a:t>
            </a:r>
            <a:r>
              <a:rPr lang="en-US">
                <a:latin typeface="FAUSans Office"/>
              </a:rPr>
              <a:t> account (or use our demo account)</a:t>
            </a:r>
          </a:p>
          <a:p>
            <a:r>
              <a:rPr lang="en-US">
                <a:latin typeface="FAUSans Office"/>
              </a:rPr>
              <a:t>Demo account credentials: </a:t>
            </a:r>
            <a:br>
              <a:rPr lang="en-US">
                <a:latin typeface="FAUSans Office"/>
              </a:rPr>
            </a:br>
            <a:r>
              <a:rPr lang="en-US">
                <a:latin typeface="FAUSans Office"/>
              </a:rPr>
              <a:t>username: </a:t>
            </a:r>
            <a:r>
              <a:rPr lang="en-US" b="1">
                <a:latin typeface="FAUSans Office"/>
              </a:rPr>
              <a:t>demo1@esslli.2025</a:t>
            </a:r>
            <a:r>
              <a:rPr lang="en-US">
                <a:latin typeface="FAUSans Office"/>
              </a:rPr>
              <a:t>       password: </a:t>
            </a:r>
            <a:r>
              <a:rPr lang="en-US" b="1">
                <a:latin typeface="FAUSans Office"/>
              </a:rPr>
              <a:t>u73ripee4y</a:t>
            </a:r>
            <a:endParaRPr lang="en-US" b="1"/>
          </a:p>
          <a:p>
            <a:r>
              <a:rPr lang="en-US">
                <a:latin typeface="FAUSans Office"/>
              </a:rPr>
              <a:t>Download complete annotated </a:t>
            </a:r>
            <a:r>
              <a:rPr lang="en-US" err="1">
                <a:latin typeface="FAUSans Office"/>
              </a:rPr>
              <a:t>WMatrix</a:t>
            </a:r>
            <a:r>
              <a:rPr lang="en-US">
                <a:latin typeface="FAUSans Office"/>
              </a:rPr>
              <a:t> corpus</a:t>
            </a:r>
          </a:p>
          <a:p>
            <a:r>
              <a:rPr lang="en-US">
                <a:latin typeface="FAUSans Office"/>
              </a:rPr>
              <a:t>Then use query to obtain concordance for desired keyword</a:t>
            </a:r>
          </a:p>
          <a:p>
            <a:pPr marL="0" indent="0">
              <a:buNone/>
            </a:pPr>
            <a:endParaRPr lang="en-US"/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2AAC2-86F9-4A65-5852-19EDE2D63B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5230F-6AAE-A41F-846B-E7C531D2B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D94F64-A87D-1199-7014-E69FF5B5D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17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9A5AE0-E3ED-916F-10D2-B4F43C43BC99}"/>
              </a:ext>
            </a:extLst>
          </p:cNvPr>
          <p:cNvSpPr txBox="1"/>
          <p:nvPr/>
        </p:nvSpPr>
        <p:spPr>
          <a:xfrm>
            <a:off x="382692" y="4396403"/>
            <a:ext cx="11426616" cy="2043726"/>
          </a:xfrm>
          <a:prstGeom prst="rect">
            <a:avLst/>
          </a:prstGeom>
          <a:ln w="50800">
            <a:solidFill>
              <a:schemeClr val="accent2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lIns="90000" tIns="46800" rIns="90000" bIns="46800" rtlCol="0" anchor="t">
            <a:noAutofit/>
          </a:bodyPr>
          <a:lstStyle/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cs typeface="Consolas" panose="020B0609020204030204" pitchFamily="49" charset="0"/>
              </a:rPr>
              <a:t>labour2005 = </a:t>
            </a:r>
            <a:r>
              <a:rPr lang="en-US" sz="2600" b="1" err="1">
                <a:solidFill>
                  <a:schemeClr val="accent1">
                    <a:lumMod val="50000"/>
                  </a:schemeClr>
                </a:solidFill>
                <a:latin typeface="Consolas"/>
                <a:cs typeface="Consolas" panose="020B0609020204030204" pitchFamily="49" charset="0"/>
              </a:rPr>
              <a:t>wmatrix.load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cs typeface="Consolas" panose="020B0609020204030204" pitchFamily="49" charset="0"/>
              </a:rPr>
              <a:t>(</a:t>
            </a: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cs typeface="Consolas" panose="020B0609020204030204" pitchFamily="49" charset="0"/>
              </a:rPr>
              <a:t>    </a:t>
            </a:r>
            <a:r>
              <a:rPr lang="en-US" sz="2600" b="1" err="1">
                <a:solidFill>
                  <a:schemeClr val="accent1">
                    <a:lumMod val="50000"/>
                  </a:schemeClr>
                </a:solidFill>
                <a:latin typeface="Consolas"/>
                <a:cs typeface="Consolas" panose="020B0609020204030204" pitchFamily="49" charset="0"/>
              </a:rPr>
              <a:t>corpus_name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cs typeface="Consolas" panose="020B0609020204030204" pitchFamily="49" charset="0"/>
              </a:rPr>
              <a:t>="</a:t>
            </a:r>
            <a:r>
              <a:rPr lang="en-US" sz="2600" b="1">
                <a:solidFill>
                  <a:schemeClr val="accent3">
                    <a:lumMod val="50000"/>
                  </a:schemeClr>
                </a:solidFill>
                <a:latin typeface="Consolas"/>
                <a:cs typeface="Consolas" panose="020B0609020204030204" pitchFamily="49" charset="0"/>
              </a:rPr>
              <a:t>LabourManifesto2005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cs typeface="Consolas" panose="020B0609020204030204" pitchFamily="49" charset="0"/>
              </a:rPr>
              <a:t>",</a:t>
            </a: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cs typeface="Consolas" panose="020B0609020204030204" pitchFamily="49" charset="0"/>
              </a:rPr>
              <a:t>    username="</a:t>
            </a:r>
            <a:r>
              <a:rPr lang="en-US" sz="2600" b="1">
                <a:solidFill>
                  <a:schemeClr val="accent3">
                    <a:lumMod val="50000"/>
                  </a:schemeClr>
                </a:solidFill>
                <a:latin typeface="Consolas"/>
                <a:cs typeface="Consolas" panose="020B0609020204030204" pitchFamily="49" charset="0"/>
              </a:rPr>
              <a:t>[USER]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cs typeface="Consolas" panose="020B0609020204030204" pitchFamily="49" charset="0"/>
              </a:rPr>
              <a:t>", password="</a:t>
            </a:r>
            <a:r>
              <a:rPr lang="en-US" sz="2600" b="1">
                <a:solidFill>
                  <a:schemeClr val="accent3">
                    <a:lumMod val="50000"/>
                  </a:schemeClr>
                </a:solidFill>
                <a:latin typeface="Consolas"/>
                <a:cs typeface="Consolas" panose="020B0609020204030204" pitchFamily="49" charset="0"/>
              </a:rPr>
              <a:t>[PASSWORD]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cs typeface="Consolas" panose="020B0609020204030204" pitchFamily="49" charset="0"/>
              </a:rPr>
              <a:t>",</a:t>
            </a: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cs typeface="Consolas" panose="020B0609020204030204" pitchFamily="49" charset="0"/>
              </a:rPr>
              <a:t>    </a:t>
            </a:r>
            <a:r>
              <a:rPr lang="en-US" sz="2600" b="1" err="1">
                <a:solidFill>
                  <a:schemeClr val="accent1">
                    <a:lumMod val="50000"/>
                  </a:schemeClr>
                </a:solidFill>
                <a:latin typeface="Consolas"/>
                <a:cs typeface="Consolas" panose="020B0609020204030204" pitchFamily="49" charset="0"/>
              </a:rPr>
              <a:t>db_filename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cs typeface="Consolas" panose="020B0609020204030204" pitchFamily="49" charset="0"/>
              </a:rPr>
              <a:t>="labour2005.db")</a:t>
            </a: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cs typeface="Consolas" panose="020B0609020204030204" pitchFamily="49" charset="0"/>
              </a:rPr>
              <a:t>C = labour2005.concordance_from_query("</a:t>
            </a:r>
            <a:r>
              <a:rPr lang="en-US" sz="2600" b="1">
                <a:solidFill>
                  <a:schemeClr val="accent3">
                    <a:lumMod val="50000"/>
                  </a:schemeClr>
                </a:solidFill>
                <a:latin typeface="Consolas"/>
              </a:rPr>
              <a:t>community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cs typeface="Consolas" panose="020B0609020204030204" pitchFamily="49" charset="0"/>
              </a:rPr>
              <a:t>")</a:t>
            </a:r>
            <a:endParaRPr lang="en-US" sz="2600" b="1">
              <a:solidFill>
                <a:schemeClr val="accent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1E785B-5D39-CFD3-4955-6B7F8D7EC59B}"/>
              </a:ext>
            </a:extLst>
          </p:cNvPr>
          <p:cNvSpPr txBox="1"/>
          <p:nvPr/>
        </p:nvSpPr>
        <p:spPr>
          <a:xfrm>
            <a:off x="6744928" y="807227"/>
            <a:ext cx="5447072" cy="399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en-US" sz="2400">
                <a:solidFill>
                  <a:schemeClr val="tx1"/>
                </a:solidFill>
                <a:latin typeface="FAUSans Office" panose="020B0504010101010104" pitchFamily="34" charset="77"/>
                <a:cs typeface="FAUSans Office" panose="020B0504010101010104" pitchFamily="34" charset="77"/>
                <a:hlinkClick r:id="rId2"/>
              </a:rPr>
              <a:t>https://ucrel-wmatrix7.lancaster.ac.uk/</a:t>
            </a:r>
            <a:r>
              <a:rPr lang="en-US" sz="2400">
                <a:solidFill>
                  <a:schemeClr val="tx1"/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0369402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E481E-B5F6-C9F3-7926-71F2B3FF9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FAUSans Office"/>
              </a:rPr>
              <a:t>Import your own files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6D948-B894-72A3-60B2-C8FFE2456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F0B6C5-3AC5-5370-818C-4CC478DA4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778B26-3AFC-C4D7-F98D-65218873F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371202-528D-BCE4-048E-1DF4CB5C3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18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AC2784-E8B0-18F5-B245-7EE011DF52C1}"/>
              </a:ext>
            </a:extLst>
          </p:cNvPr>
          <p:cNvSpPr txBox="1"/>
          <p:nvPr/>
        </p:nvSpPr>
        <p:spPr>
          <a:xfrm>
            <a:off x="382692" y="1396028"/>
            <a:ext cx="11426616" cy="4777401"/>
          </a:xfrm>
          <a:prstGeom prst="rect">
            <a:avLst/>
          </a:prstGeom>
          <a:ln w="50800">
            <a:solidFill>
              <a:schemeClr val="accent2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lIns="90000" tIns="46800" rIns="90000" bIns="46800" rtlCol="0" anchor="t">
            <a:noAutofit/>
          </a:bodyPr>
          <a:lstStyle/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from </a:t>
            </a:r>
            <a:r>
              <a:rPr lang="en-US" sz="2600" b="1" err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flexiconc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 import </a:t>
            </a:r>
            <a:r>
              <a:rPr lang="en-US" sz="2600" b="1" err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TextImport</a:t>
            </a:r>
            <a:endParaRPr lang="en-US" b="1">
              <a:solidFill>
                <a:schemeClr val="accent1">
                  <a:lumMod val="50000"/>
                </a:schemeClr>
              </a:solidFill>
              <a:latin typeface="Consolas"/>
              <a:cs typeface="Arial"/>
            </a:endParaRP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T = </a:t>
            </a:r>
            <a:r>
              <a:rPr lang="en-US" sz="2600" b="1" err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TextImport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()</a:t>
            </a:r>
            <a:endParaRPr lang="en-US" b="1">
              <a:solidFill>
                <a:schemeClr val="accent1">
                  <a:lumMod val="50000"/>
                </a:schemeClr>
              </a:solidFill>
              <a:latin typeface="Consolas"/>
              <a:cs typeface="Arial"/>
            </a:endParaRPr>
          </a:p>
          <a:p>
            <a:r>
              <a:rPr lang="en-US" sz="2600" b="1" err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T.load_files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(</a:t>
            </a:r>
            <a:endParaRPr lang="en-US" b="1">
              <a:solidFill>
                <a:schemeClr val="accent1">
                  <a:lumMod val="50000"/>
                </a:schemeClr>
              </a:solidFill>
              <a:latin typeface="Consolas"/>
              <a:cs typeface="Arial"/>
            </a:endParaRP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    paths=["</a:t>
            </a:r>
            <a:r>
              <a:rPr lang="en-US" sz="2600" b="1">
                <a:solidFill>
                  <a:schemeClr val="accent3">
                    <a:lumMod val="50000"/>
                  </a:schemeClr>
                </a:solidFill>
                <a:latin typeface="Consolas"/>
              </a:rPr>
              <a:t>data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"],</a:t>
            </a:r>
            <a:endParaRPr lang="en-US" b="1">
              <a:solidFill>
                <a:schemeClr val="accent1">
                  <a:lumMod val="50000"/>
                </a:schemeClr>
              </a:solidFill>
              <a:latin typeface="Consolas"/>
              <a:cs typeface="Arial"/>
            </a:endParaRP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    </a:t>
            </a:r>
            <a:r>
              <a:rPr lang="en-US" sz="2600" b="1" err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shorten_paths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=</a:t>
            </a:r>
            <a:r>
              <a:rPr lang="en-US" sz="2600" b="1">
                <a:solidFill>
                  <a:schemeClr val="accent4">
                    <a:lumMod val="76000"/>
                  </a:schemeClr>
                </a:solidFill>
                <a:latin typeface="Consolas"/>
                <a:ea typeface="+mn-lt"/>
                <a:cs typeface="+mn-lt"/>
              </a:rPr>
              <a:t>True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,</a:t>
            </a:r>
            <a:endParaRPr lang="en-US" b="1">
              <a:solidFill>
                <a:schemeClr val="accent1">
                  <a:lumMod val="50000"/>
                </a:schemeClr>
              </a:solidFill>
              <a:latin typeface="Consolas"/>
              <a:cs typeface="Arial"/>
            </a:endParaRP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    </a:t>
            </a:r>
            <a:r>
              <a:rPr lang="en-US" sz="2600" b="1" err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db_name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="</a:t>
            </a:r>
            <a:r>
              <a:rPr lang="en-US" sz="2600" b="1" err="1">
                <a:solidFill>
                  <a:schemeClr val="accent3">
                    <a:lumMod val="50000"/>
                  </a:schemeClr>
                </a:solidFill>
                <a:latin typeface="Consolas"/>
              </a:rPr>
              <a:t>db.sqlite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",</a:t>
            </a:r>
            <a:endParaRPr lang="en-US" b="1">
              <a:solidFill>
                <a:schemeClr val="accent1">
                  <a:lumMod val="50000"/>
                </a:schemeClr>
              </a:solidFill>
              <a:latin typeface="Consolas"/>
              <a:cs typeface="Arial"/>
            </a:endParaRP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    </a:t>
            </a:r>
            <a:r>
              <a:rPr lang="en-US" sz="2600" b="1" err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use_spacy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=</a:t>
            </a:r>
            <a:r>
              <a:rPr lang="en-US" sz="2600" b="1">
                <a:solidFill>
                  <a:schemeClr val="accent4">
                    <a:lumMod val="76000"/>
                  </a:schemeClr>
                </a:solidFill>
                <a:latin typeface="Consolas"/>
                <a:ea typeface="+mn-lt"/>
                <a:cs typeface="+mn-lt"/>
              </a:rPr>
              <a:t>True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,</a:t>
            </a:r>
            <a:endParaRPr lang="en-US" b="1">
              <a:solidFill>
                <a:schemeClr val="accent1">
                  <a:lumMod val="50000"/>
                </a:schemeClr>
              </a:solidFill>
              <a:latin typeface="Consolas"/>
              <a:cs typeface="Arial"/>
            </a:endParaRP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    lemma=</a:t>
            </a:r>
            <a:r>
              <a:rPr lang="en-US" sz="2600" b="1">
                <a:solidFill>
                  <a:schemeClr val="accent4">
                    <a:lumMod val="76000"/>
                  </a:schemeClr>
                </a:solidFill>
                <a:latin typeface="Consolas"/>
                <a:ea typeface="+mn-lt"/>
                <a:cs typeface="+mn-lt"/>
              </a:rPr>
              <a:t>True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,</a:t>
            </a:r>
            <a:endParaRPr lang="en-US" b="1">
              <a:solidFill>
                <a:schemeClr val="accent1">
                  <a:lumMod val="50000"/>
                </a:schemeClr>
              </a:solidFill>
              <a:latin typeface="Consolas"/>
              <a:cs typeface="Arial"/>
            </a:endParaRP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    pos=</a:t>
            </a:r>
            <a:r>
              <a:rPr lang="en-US" sz="2600" b="1">
                <a:solidFill>
                  <a:schemeClr val="accent4">
                    <a:lumMod val="76000"/>
                  </a:schemeClr>
                </a:solidFill>
                <a:latin typeface="Consolas"/>
                <a:ea typeface="+mn-lt"/>
                <a:cs typeface="+mn-lt"/>
              </a:rPr>
              <a:t>True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,</a:t>
            </a:r>
            <a:endParaRPr lang="en-US" b="1">
              <a:solidFill>
                <a:schemeClr val="accent1">
                  <a:lumMod val="50000"/>
                </a:schemeClr>
              </a:solidFill>
              <a:latin typeface="Consolas"/>
              <a:cs typeface="Arial"/>
            </a:endParaRP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    tag=</a:t>
            </a:r>
            <a:r>
              <a:rPr lang="en-US" sz="2600" b="1">
                <a:solidFill>
                  <a:schemeClr val="accent4">
                    <a:lumMod val="76000"/>
                  </a:schemeClr>
                </a:solidFill>
                <a:latin typeface="Consolas"/>
                <a:ea typeface="+mn-lt"/>
                <a:cs typeface="+mn-lt"/>
              </a:rPr>
              <a:t>True</a:t>
            </a:r>
            <a:endParaRPr lang="en-US" b="1">
              <a:solidFill>
                <a:schemeClr val="accent4">
                  <a:lumMod val="76000"/>
                </a:schemeClr>
              </a:solidFill>
              <a:latin typeface="Consolas"/>
              <a:cs typeface="Arial"/>
            </a:endParaRP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ea typeface="+mn-lt"/>
                <a:cs typeface="+mn-lt"/>
              </a:rPr>
              <a:t>)</a:t>
            </a: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cs typeface="Arial"/>
              </a:rPr>
              <a:t>C = </a:t>
            </a:r>
            <a:r>
              <a:rPr lang="en-US" sz="2600" b="1" err="1">
                <a:solidFill>
                  <a:schemeClr val="accent1">
                    <a:lumMod val="50000"/>
                  </a:schemeClr>
                </a:solidFill>
                <a:latin typeface="Consolas"/>
                <a:cs typeface="Arial"/>
              </a:rPr>
              <a:t>T.concordance_from_query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cs typeface="Arial"/>
              </a:rPr>
              <a:t>("</a:t>
            </a:r>
            <a:r>
              <a:rPr lang="en-US" sz="2600" b="1">
                <a:solidFill>
                  <a:schemeClr val="accent3">
                    <a:lumMod val="50000"/>
                  </a:schemeClr>
                </a:solidFill>
                <a:latin typeface="Consolas"/>
                <a:cs typeface="Arial"/>
              </a:rPr>
              <a:t>stomach</a:t>
            </a:r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/>
                <a:cs typeface="Arial"/>
              </a:rPr>
              <a:t>")</a:t>
            </a:r>
            <a:endParaRPr lang="en-US" sz="2600">
              <a:solidFill>
                <a:schemeClr val="accent1">
                  <a:lumMod val="50000"/>
                </a:schemeClr>
              </a:solidFill>
              <a:latin typeface="Consolas"/>
              <a:cs typeface="Arial"/>
            </a:endParaRPr>
          </a:p>
          <a:p>
            <a:endParaRPr lang="en-US" sz="2600" b="1">
              <a:solidFill>
                <a:schemeClr val="accent1">
                  <a:lumMod val="50000"/>
                </a:schemeClr>
              </a:solidFill>
              <a:latin typeface="Consola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882633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FC1CE-2E3A-816C-73BD-539C38AB0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28120-B702-4221-3F4A-25A8D870A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 users: Import from CWB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9D21F88-7420-5E91-6085-7759D416D8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5"/>
            <a:ext cx="11426616" cy="2396822"/>
          </a:xfrm>
        </p:spPr>
        <p:txBody>
          <a:bodyPr/>
          <a:lstStyle/>
          <a:p>
            <a:r>
              <a:rPr lang="en-US"/>
              <a:t>Install IMS Open Corpus Workbench from </a:t>
            </a:r>
            <a:r>
              <a:rPr lang="en-US">
                <a:hlinkClick r:id="rId2"/>
              </a:rPr>
              <a:t>cwb.sourceforge.io</a:t>
            </a:r>
            <a:endParaRPr lang="en-US"/>
          </a:p>
          <a:p>
            <a:r>
              <a:rPr lang="en-US"/>
              <a:t>Index your favourite corpus (or obtain a pre-indexed one)</a:t>
            </a:r>
          </a:p>
          <a:p>
            <a:r>
              <a:rPr lang="en-US"/>
              <a:t>Python API:  </a:t>
            </a:r>
            <a:r>
              <a:rPr lang="en-US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pip install cwb-ccc</a:t>
            </a:r>
            <a:endParaRPr lang="en-US"/>
          </a:p>
          <a:p>
            <a:r>
              <a:rPr lang="en-US"/>
              <a:t>NB: will need complete development evironment with C compiler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8252E-27FC-3729-40FC-1581AF8B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C76564-2E20-062D-B55B-A06ADFA02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3A1F6-061C-4415-F9BF-BED78D8EE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19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C515B0-46A4-ED32-EA50-1A14BCA8E97B}"/>
              </a:ext>
            </a:extLst>
          </p:cNvPr>
          <p:cNvSpPr txBox="1"/>
          <p:nvPr/>
        </p:nvSpPr>
        <p:spPr>
          <a:xfrm>
            <a:off x="382692" y="3963662"/>
            <a:ext cx="11426616" cy="2474796"/>
          </a:xfrm>
          <a:prstGeom prst="rect">
            <a:avLst/>
          </a:prstGeom>
          <a:ln w="50800">
            <a:solidFill>
              <a:schemeClr val="accent2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lIns="90000" tIns="46800" rIns="90000" bIns="46800" rtlCol="0" anchor="t">
            <a:noAutofit/>
          </a:bodyPr>
          <a:lstStyle/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Concordance()</a:t>
            </a: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C.retrieve_from_cwb(</a:t>
            </a: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corpus_name = "PARLSPEECH_UK", </a:t>
            </a: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query = r'[pos="JJ.*"] [lemma="elephant"]',</a:t>
            </a: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tokens_attrs = ["word", "pos", "lemma"],</a:t>
            </a:r>
          </a:p>
          <a:p>
            <a:r>
              <a:rPr lang="en-US" sz="26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metadata_attrs = ["text_party", "text_year", "text_date"])</a:t>
            </a:r>
          </a:p>
        </p:txBody>
      </p:sp>
      <p:pic>
        <p:nvPicPr>
          <p:cNvPr id="11" name="Picture 10" descr="A black screen with green text&#10;&#10;AI-generated content may be incorrect.">
            <a:extLst>
              <a:ext uri="{FF2B5EF4-FFF2-40B4-BE49-F238E27FC236}">
                <a16:creationId xmlns:a16="http://schemas.microsoft.com/office/drawing/2014/main" id="{B95539E4-5AA4-88B4-770D-6684D3386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0" y="102507"/>
            <a:ext cx="3302000" cy="100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0648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5ED52-D41B-F4FE-D6DD-DC1550D93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EAAA481-0309-81AF-455E-21BF7E31A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8152" y="1208315"/>
            <a:ext cx="1792224" cy="17922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AF72F3-FEB6-2B64-3D49-25DE424A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err="1">
                <a:latin typeface="FAUSans Office"/>
              </a:rPr>
              <a:t>FlexiConc</a:t>
            </a:r>
            <a:r>
              <a:rPr lang="en-US">
                <a:latin typeface="FAUSans Office"/>
              </a:rPr>
              <a:t> in Jupyter notebooks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A1C660-5EB2-9768-AD9A-434C993F6A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latin typeface="FAUSans Office" panose="020B0504010101010104"/>
              </a:rPr>
              <a:t>Loading your own data: </a:t>
            </a:r>
            <a:r>
              <a:rPr lang="en-US" b="1" err="1">
                <a:solidFill>
                  <a:schemeClr val="accent1">
                    <a:lumMod val="50000"/>
                  </a:schemeClr>
                </a:solidFill>
                <a:latin typeface="FAUSans Office" panose="020B0504010101010104"/>
                <a:cs typeface="Consolas" panose="020B0609020204030204" pitchFamily="49" charset="0"/>
              </a:rPr>
              <a:t>flexiconc_import</a:t>
            </a:r>
            <a:r>
              <a:rPr lang="en-US" b="1">
                <a:solidFill>
                  <a:schemeClr val="accent1">
                    <a:lumMod val="50000"/>
                  </a:schemeClr>
                </a:solidFill>
                <a:latin typeface="FAUSans Office" panose="020B0504010101010104"/>
                <a:cs typeface="Consolas" panose="020B0609020204030204" pitchFamily="49" charset="0"/>
              </a:rPr>
              <a:t>.ipynb</a:t>
            </a:r>
            <a:endParaRPr lang="en-US" b="1">
              <a:latin typeface="FAUSans Office" panose="020B0504010101010104"/>
            </a:endParaRPr>
          </a:p>
          <a:p>
            <a:r>
              <a:rPr lang="en-US">
                <a:latin typeface="FAUSans Office" panose="020B0504010101010104"/>
              </a:rPr>
              <a:t>Download from course website</a:t>
            </a:r>
          </a:p>
          <a:p>
            <a:r>
              <a:rPr lang="en-US">
                <a:latin typeface="FAUSans Office" panose="020B0504010101010104"/>
              </a:rPr>
              <a:t>Or copy in Google </a:t>
            </a:r>
            <a:r>
              <a:rPr lang="en-US" err="1">
                <a:latin typeface="FAUSans Office" panose="020B0504010101010104"/>
              </a:rPr>
              <a:t>Colab</a:t>
            </a:r>
            <a:r>
              <a:rPr lang="en-US">
                <a:latin typeface="FAUSans Office" panose="020B0504010101010104"/>
              </a:rPr>
              <a:t> and run it there</a:t>
            </a:r>
          </a:p>
          <a:p>
            <a:r>
              <a:rPr lang="en-US">
                <a:latin typeface="FAUSans Office" panose="020B0504010101010104"/>
                <a:hlinkClick r:id="rId3"/>
              </a:rPr>
              <a:t>https://colab.research.google.com/drive/1HuVRl748lWe65Mzl5HNge4Wwgq5xiqw2?usp=sharing</a:t>
            </a:r>
            <a:r>
              <a:rPr lang="en-US">
                <a:latin typeface="FAUSans Office" panose="020B0504010101010104"/>
              </a:rPr>
              <a:t> </a:t>
            </a:r>
          </a:p>
          <a:p>
            <a:pPr marL="0" indent="0">
              <a:buNone/>
            </a:pPr>
            <a:endParaRPr lang="en-US">
              <a:latin typeface="FAUSans Office" panose="020B0504010101010104"/>
            </a:endParaRPr>
          </a:p>
          <a:p>
            <a:r>
              <a:rPr lang="en-US">
                <a:latin typeface="FAUSans Office" panose="020B0504010101010104"/>
              </a:rPr>
              <a:t>After you’ve learned how to load your own data, explore a concordance of your choice. At the end of the session, we’ll discuss your experiences and results.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4F113C-878B-FB5D-DF3F-8D5643028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2F6D4D-5C98-0FF7-53A1-855E2844E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1E80F3-A056-7C0B-CA71-23AD51713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20</a:t>
            </a:fld>
            <a:endParaRPr lang="en-GB"/>
          </a:p>
        </p:txBody>
      </p:sp>
      <p:sp>
        <p:nvSpPr>
          <p:cNvPr id="7" name="AutoShape 2">
            <a:extLst>
              <a:ext uri="{FF2B5EF4-FFF2-40B4-BE49-F238E27FC236}">
                <a16:creationId xmlns:a16="http://schemas.microsoft.com/office/drawing/2014/main" id="{7D3E0DE9-349E-FFC6-5E89-1BC956F3206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129669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12E411-59A7-58FA-E9D8-97567937D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FlexiConc internals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BA3F77D-7F45-4D46-1AF9-376A5DE14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A </a:t>
            </a:r>
            <a:r>
              <a:rPr lang="en-US" err="1"/>
              <a:t>FlexiConc</a:t>
            </a:r>
            <a:r>
              <a:rPr lang="en-US"/>
              <a:t>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Concordance</a:t>
            </a:r>
            <a:r>
              <a:rPr lang="en-US"/>
              <a:t> object must include two Pandas </a:t>
            </a:r>
            <a:r>
              <a:rPr lang="en-US" err="1"/>
              <a:t>dataframes</a:t>
            </a:r>
            <a:endParaRPr lang="en-US"/>
          </a:p>
          <a:p>
            <a:r>
              <a:rPr lang="en-US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metadata</a:t>
            </a:r>
          </a:p>
          <a:p>
            <a:pPr lvl="1"/>
            <a:r>
              <a:rPr lang="en-US"/>
              <a:t>information about concordance lines</a:t>
            </a:r>
          </a:p>
          <a:p>
            <a:r>
              <a:rPr lang="en-US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tokens</a:t>
            </a:r>
          </a:p>
          <a:p>
            <a:pPr lvl="1"/>
            <a:r>
              <a:rPr lang="en-US"/>
              <a:t>information about individual tokens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E33FD83-E8D1-7F83-7ADD-39567BC9C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C6B52C7-CF9E-BECB-B081-FD6B7F921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B599FB4-3805-E113-F7C4-9CEF2CBA0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 smtClean="0"/>
              <a:pPr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8399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34477D-B687-C9E8-7EE9-EFA251929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sv-SE"/>
              <a:t>Concordances in FlexiConc: metadata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D1BC58F-6B68-B9D5-3ABF-66B7D7A48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64AEC37-04D9-A14D-1506-BA9AC3498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C51F9B1-FD48-4C55-C0C6-5787D2E77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 smtClean="0"/>
              <a:pPr/>
              <a:t>22</a:t>
            </a:fld>
            <a:endParaRPr lang="en-GB"/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1B3890A5-2257-E1AC-FEE5-D226859E2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92" y="1687043"/>
            <a:ext cx="11426616" cy="4342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00787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D863D-DB82-6793-B3FC-6877F653A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FDC5F2-D365-F6E1-4A2F-66FF3570B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sv-SE"/>
              <a:t>Concordances in FlexiConc: tokens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9EA99C4-5B91-7B73-405E-E2912D828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E12C8BE-FEB6-0E9B-19E8-1DB87B1EB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C27288D-16A6-30E6-052E-B1D30BBD1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 smtClean="0"/>
              <a:pPr/>
              <a:t>23</a:t>
            </a:fld>
            <a:endParaRPr lang="en-GB"/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6DEE5A1-767F-D592-54D2-B3B068CDC8A5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1095068" y="1325890"/>
            <a:ext cx="9163664" cy="5097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2976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94CFE7-E854-7F44-7001-57E6634E7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Representation </a:t>
            </a:r>
            <a:r>
              <a:rPr lang="sv-SE" err="1"/>
              <a:t>of</a:t>
            </a:r>
            <a:r>
              <a:rPr lang="sv-SE"/>
              <a:t> </a:t>
            </a:r>
            <a:r>
              <a:rPr lang="sv-SE" err="1"/>
              <a:t>algorithms</a:t>
            </a:r>
            <a:r>
              <a:rPr lang="sv-SE"/>
              <a:t> in </a:t>
            </a:r>
            <a:r>
              <a:rPr lang="sv-SE" err="1"/>
              <a:t>FlexiConc</a:t>
            </a:r>
            <a:endParaRPr lang="sv-SE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B7107FA-1844-2E69-25D2-18D14EBF4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 err="1"/>
              <a:t>Algorithms</a:t>
            </a:r>
            <a:r>
              <a:rPr lang="sv-SE"/>
              <a:t> </a:t>
            </a:r>
            <a:r>
              <a:rPr lang="sv-SE" err="1"/>
              <a:t>are</a:t>
            </a:r>
            <a:r>
              <a:rPr lang="sv-SE"/>
              <a:t> </a:t>
            </a:r>
            <a:r>
              <a:rPr lang="sv-SE" err="1"/>
              <a:t>stored</a:t>
            </a:r>
            <a:r>
              <a:rPr lang="sv-SE"/>
              <a:t> as </a:t>
            </a:r>
            <a:r>
              <a:rPr lang="sv-SE" err="1"/>
              <a:t>individual</a:t>
            </a:r>
            <a:r>
              <a:rPr lang="sv-SE"/>
              <a:t> Python </a:t>
            </a:r>
            <a:r>
              <a:rPr lang="sv-SE" err="1"/>
              <a:t>files</a:t>
            </a:r>
            <a:r>
              <a:rPr lang="sv-SE"/>
              <a:t> (.py) in the </a:t>
            </a:r>
            <a:r>
              <a:rPr lang="sv-SE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algorithms</a:t>
            </a:r>
            <a:r>
              <a:rPr lang="sv-SE"/>
              <a:t> folder </a:t>
            </a:r>
            <a:r>
              <a:rPr lang="sv-SE" err="1"/>
              <a:t>of </a:t>
            </a:r>
            <a:r>
              <a:rPr lang="sv-SE"/>
              <a:t>the </a:t>
            </a:r>
            <a:r>
              <a:rPr lang="sv-SE">
                <a:latin typeface="Consolas" panose="020B0609020204030204" pitchFamily="49" charset="0"/>
                <a:cs typeface="Consolas" panose="020B0609020204030204" pitchFamily="49" charset="0"/>
              </a:rPr>
              <a:t>flexiconc</a:t>
            </a:r>
            <a:r>
              <a:rPr lang="sv-SE"/>
              <a:t> </a:t>
            </a:r>
            <a:r>
              <a:rPr lang="sv-SE" err="1"/>
              <a:t>package</a:t>
            </a:r>
            <a:endParaRPr lang="sv-SE"/>
          </a:p>
          <a:p>
            <a:r>
              <a:rPr lang="sv-SE" err="1"/>
              <a:t>Algorithms</a:t>
            </a:r>
            <a:r>
              <a:rPr lang="sv-SE"/>
              <a:t> </a:t>
            </a:r>
            <a:r>
              <a:rPr lang="en-US"/>
              <a:t>can also be loaded </a:t>
            </a:r>
            <a:r>
              <a:rPr lang="sv-SE"/>
              <a:t>from </a:t>
            </a:r>
            <a:r>
              <a:rPr lang="sv-SE" err="1"/>
              <a:t>user</a:t>
            </a:r>
            <a:r>
              <a:rPr lang="sv-SE"/>
              <a:t>-</a:t>
            </a:r>
            <a:r>
              <a:rPr lang="en-US"/>
              <a:t>specified</a:t>
            </a:r>
            <a:r>
              <a:rPr lang="sv-SE"/>
              <a:t> folders</a:t>
            </a:r>
          </a:p>
          <a:p>
            <a:r>
              <a:rPr lang="en-US"/>
              <a:t>Each algorithm includes an exact specification of its API as a JSON schema, which can be updated dynamically for each node</a:t>
            </a:r>
          </a:p>
          <a:p>
            <a:pPr lvl="1"/>
            <a:r>
              <a:rPr lang="en-US"/>
              <a:t>name</a:t>
            </a:r>
          </a:p>
          <a:p>
            <a:pPr lvl="1"/>
            <a:r>
              <a:rPr lang="en-US"/>
              <a:t>description</a:t>
            </a:r>
          </a:p>
          <a:p>
            <a:pPr lvl="1"/>
            <a:r>
              <a:rPr lang="en-US"/>
              <a:t>algorithm type</a:t>
            </a:r>
          </a:p>
          <a:p>
            <a:pPr lvl="1"/>
            <a:r>
              <a:rPr lang="en-US"/>
              <a:t>arguments</a:t>
            </a:r>
          </a:p>
          <a:p>
            <a:pPr lvl="1"/>
            <a:r>
              <a:rPr lang="en-US"/>
              <a:t>availability of an algorithm for a node</a:t>
            </a:r>
          </a:p>
          <a:p>
            <a:endParaRPr lang="sv-SE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89600C9-187E-2B37-CF87-53D1197C5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E11ABE3-1A8C-66CA-0FEB-0C261BF58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B9D128E-681E-FBCE-8738-DE578A880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 smtClean="0"/>
              <a:pPr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9310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E62231-107B-4E1A-40AB-9010F7B2C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of a FlexiConc algorithm</a:t>
            </a:r>
            <a:endParaRPr lang="sv-SE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F3FF71F-1E43-06BB-4958-F3C744C48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F8A63A0-2F88-FAF8-334C-22CD8FE52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4B25DF3-54CA-12A2-570B-27E4BF476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 smtClean="0"/>
              <a:pPr/>
              <a:t>25</a:t>
            </a:fld>
            <a:endParaRPr lang="en-GB"/>
          </a:p>
        </p:txBody>
      </p:sp>
      <p:pic>
        <p:nvPicPr>
          <p:cNvPr id="10" name="Picture 9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4EA0138F-58D2-2B66-E87C-C5A3784EEF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659" y="0"/>
            <a:ext cx="9153274" cy="6858000"/>
          </a:xfrm>
          <a:prstGeom prst="rect">
            <a:avLst/>
          </a:prstGeom>
        </p:spPr>
      </p:pic>
      <p:sp>
        <p:nvSpPr>
          <p:cNvPr id="11" name="Прямоугольник: скругленные углы 5">
            <a:extLst>
              <a:ext uri="{FF2B5EF4-FFF2-40B4-BE49-F238E27FC236}">
                <a16:creationId xmlns:a16="http://schemas.microsoft.com/office/drawing/2014/main" id="{10DB4507-7214-49E1-D7C0-9A07E97ABD57}"/>
              </a:ext>
            </a:extLst>
          </p:cNvPr>
          <p:cNvSpPr/>
          <p:nvPr/>
        </p:nvSpPr>
        <p:spPr>
          <a:xfrm>
            <a:off x="2607548" y="344395"/>
            <a:ext cx="7710283" cy="6513605"/>
          </a:xfrm>
          <a:prstGeom prst="roundRect">
            <a:avLst>
              <a:gd name="adj" fmla="val 6750"/>
            </a:avLst>
          </a:prstGeom>
          <a:solidFill>
            <a:srgbClr val="F4AAB9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7B18AD-FEFA-5DF3-9CE1-7D00DCAC79CE}"/>
              </a:ext>
            </a:extLst>
          </p:cNvPr>
          <p:cNvSpPr txBox="1"/>
          <p:nvPr/>
        </p:nvSpPr>
        <p:spPr>
          <a:xfrm>
            <a:off x="0" y="3017939"/>
            <a:ext cx="2114026" cy="8221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Docstring</a:t>
            </a:r>
            <a:endParaRPr lang="sv-SE" sz="2400">
              <a:solidFill>
                <a:schemeClr val="accent2">
                  <a:lumMod val="50000"/>
                </a:schemeClr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18620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4CE47-5244-6670-4527-56BF1CB3D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5086BB-A2F0-582D-C4D5-298C3F8B4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of a FlexiConc algorithm</a:t>
            </a:r>
            <a:endParaRPr lang="sv-SE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A026944-FECE-C048-C823-82DFB4A4A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E5BEA8-9022-2AB3-BEEC-61C2620DA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AEF71AC-A972-87D3-A35E-7DC19848F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 smtClean="0"/>
              <a:pPr/>
              <a:t>26</a:t>
            </a:fld>
            <a:endParaRPr lang="en-GB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E047AC9-1FF4-D2BF-E270-5C8A60E40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090" y="2769665"/>
            <a:ext cx="10515600" cy="1928269"/>
          </a:xfrm>
          <a:prstGeom prst="rect">
            <a:avLst/>
          </a:prstGeom>
        </p:spPr>
      </p:pic>
      <p:sp>
        <p:nvSpPr>
          <p:cNvPr id="7" name="Прямоугольник: скругленные углы 3">
            <a:extLst>
              <a:ext uri="{FF2B5EF4-FFF2-40B4-BE49-F238E27FC236}">
                <a16:creationId xmlns:a16="http://schemas.microsoft.com/office/drawing/2014/main" id="{B27A061F-F0EB-4BCA-4108-FD72407CD50F}"/>
              </a:ext>
            </a:extLst>
          </p:cNvPr>
          <p:cNvSpPr/>
          <p:nvPr/>
        </p:nvSpPr>
        <p:spPr>
          <a:xfrm>
            <a:off x="2391238" y="3322740"/>
            <a:ext cx="9584452" cy="1456784"/>
          </a:xfrm>
          <a:prstGeom prst="roundRect">
            <a:avLst>
              <a:gd name="adj" fmla="val 21440"/>
            </a:avLst>
          </a:prstGeom>
          <a:solidFill>
            <a:srgbClr val="F4AAB9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F19B8F-66A0-183F-F341-953FC27C370A}"/>
              </a:ext>
            </a:extLst>
          </p:cNvPr>
          <p:cNvSpPr txBox="1"/>
          <p:nvPr/>
        </p:nvSpPr>
        <p:spPr>
          <a:xfrm>
            <a:off x="-216310" y="3322739"/>
            <a:ext cx="2114026" cy="8221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Metadata</a:t>
            </a:r>
            <a:endParaRPr lang="sv-SE" sz="2400">
              <a:solidFill>
                <a:schemeClr val="accent2">
                  <a:lumMod val="50000"/>
                </a:schemeClr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439660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AD729-48BD-3D7E-421F-784C0E700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C6DE87-49A6-6AFC-06D5-F0BB17499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of a FlexiConc algorithm</a:t>
            </a:r>
            <a:endParaRPr lang="sv-SE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D0D9061-11AD-29E8-9E75-96BBDD96F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5A2EEA8-360E-8DB7-8717-66DF74E9D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7DC4DA0-97A0-E338-59D6-3FB957C6B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 smtClean="0"/>
              <a:pPr/>
              <a:t>27</a:t>
            </a:fld>
            <a:endParaRPr lang="en-GB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5790976-2CEE-028E-142F-924E9FFF9D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0"/>
            <a:ext cx="10287000" cy="6860681"/>
          </a:xfrm>
          <a:prstGeom prst="rect">
            <a:avLst/>
          </a:prstGeom>
        </p:spPr>
      </p:pic>
      <p:sp>
        <p:nvSpPr>
          <p:cNvPr id="7" name="Прямоугольник: скругленные углы 3">
            <a:extLst>
              <a:ext uri="{FF2B5EF4-FFF2-40B4-BE49-F238E27FC236}">
                <a16:creationId xmlns:a16="http://schemas.microsoft.com/office/drawing/2014/main" id="{5C9F4ABE-80EF-B553-CA5A-FF0D4A4633AB}"/>
              </a:ext>
            </a:extLst>
          </p:cNvPr>
          <p:cNvSpPr/>
          <p:nvPr/>
        </p:nvSpPr>
        <p:spPr>
          <a:xfrm>
            <a:off x="2625382" y="0"/>
            <a:ext cx="9566618" cy="6858000"/>
          </a:xfrm>
          <a:prstGeom prst="roundRect">
            <a:avLst>
              <a:gd name="adj" fmla="val 6750"/>
            </a:avLst>
          </a:prstGeom>
          <a:solidFill>
            <a:srgbClr val="F4AAB9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A95A2E-E916-F516-6991-8FE0E6E92976}"/>
              </a:ext>
            </a:extLst>
          </p:cNvPr>
          <p:cNvSpPr txBox="1"/>
          <p:nvPr/>
        </p:nvSpPr>
        <p:spPr>
          <a:xfrm>
            <a:off x="0" y="2262930"/>
            <a:ext cx="2114026" cy="8221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Argument schema</a:t>
            </a:r>
            <a:endParaRPr lang="sv-SE" sz="2400">
              <a:solidFill>
                <a:schemeClr val="accent2">
                  <a:lumMod val="50000"/>
                </a:schemeClr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  <p:sp>
        <p:nvSpPr>
          <p:cNvPr id="9" name="Прямоугольник: скругленные углы 6">
            <a:extLst>
              <a:ext uri="{FF2B5EF4-FFF2-40B4-BE49-F238E27FC236}">
                <a16:creationId xmlns:a16="http://schemas.microsoft.com/office/drawing/2014/main" id="{ACA72A65-129A-2E78-00FF-F8A1E25AE812}"/>
              </a:ext>
            </a:extLst>
          </p:cNvPr>
          <p:cNvSpPr/>
          <p:nvPr/>
        </p:nvSpPr>
        <p:spPr>
          <a:xfrm>
            <a:off x="2625382" y="3548542"/>
            <a:ext cx="9566618" cy="595619"/>
          </a:xfrm>
          <a:prstGeom prst="roundRect">
            <a:avLst>
              <a:gd name="adj" fmla="val 50000"/>
            </a:avLst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8E3759-9ED7-7B4E-58C3-FFB7AD2DBEA9}"/>
              </a:ext>
            </a:extLst>
          </p:cNvPr>
          <p:cNvSpPr txBox="1"/>
          <p:nvPr/>
        </p:nvSpPr>
        <p:spPr>
          <a:xfrm>
            <a:off x="0" y="3445777"/>
            <a:ext cx="2114026" cy="8221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Dynamic list of possible values</a:t>
            </a:r>
            <a:endParaRPr lang="sv-SE" sz="2400">
              <a:solidFill>
                <a:schemeClr val="accent1">
                  <a:lumMod val="50000"/>
                </a:schemeClr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99471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D9925-544F-D1AF-1B11-F7AFED6DD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C91DFB-A4B9-2CB8-1E93-FD34E55F4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of a FlexiConc algorithm</a:t>
            </a:r>
            <a:endParaRPr lang="sv-SE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35476B1-19B3-7166-7B5D-EA8BC9AD8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B0D7EC8-F261-7380-B63F-712E50D90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487A19E-E534-BD01-A6DC-3FF10D666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 smtClean="0"/>
              <a:pPr/>
              <a:t>28</a:t>
            </a:fld>
            <a:endParaRPr lang="en-GB"/>
          </a:p>
        </p:txBody>
      </p:sp>
      <p:pic>
        <p:nvPicPr>
          <p:cNvPr id="3" name="Picture 2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EB5A6061-49FB-BADE-41F3-58AADAB82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09535"/>
            <a:ext cx="12192000" cy="3325933"/>
          </a:xfrm>
          <a:prstGeom prst="rect">
            <a:avLst/>
          </a:prstGeom>
        </p:spPr>
      </p:pic>
      <p:sp>
        <p:nvSpPr>
          <p:cNvPr id="7" name="Прямоугольник: скругленные углы 1">
            <a:extLst>
              <a:ext uri="{FF2B5EF4-FFF2-40B4-BE49-F238E27FC236}">
                <a16:creationId xmlns:a16="http://schemas.microsoft.com/office/drawing/2014/main" id="{C2582093-D97B-70A4-ED8B-37803B69F4E5}"/>
              </a:ext>
            </a:extLst>
          </p:cNvPr>
          <p:cNvSpPr/>
          <p:nvPr/>
        </p:nvSpPr>
        <p:spPr>
          <a:xfrm>
            <a:off x="187027" y="4356562"/>
            <a:ext cx="11817946" cy="1176668"/>
          </a:xfrm>
          <a:prstGeom prst="roundRect">
            <a:avLst>
              <a:gd name="adj" fmla="val 21440"/>
            </a:avLst>
          </a:prstGeom>
          <a:solidFill>
            <a:srgbClr val="F4AAB9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8" name="Прямоугольник: скругленные углы 1">
            <a:extLst>
              <a:ext uri="{FF2B5EF4-FFF2-40B4-BE49-F238E27FC236}">
                <a16:creationId xmlns:a16="http://schemas.microsoft.com/office/drawing/2014/main" id="{2933A8D7-C135-7831-5F7E-609637C325B9}"/>
              </a:ext>
            </a:extLst>
          </p:cNvPr>
          <p:cNvSpPr/>
          <p:nvPr/>
        </p:nvSpPr>
        <p:spPr>
          <a:xfrm>
            <a:off x="187027" y="2211673"/>
            <a:ext cx="11817946" cy="659261"/>
          </a:xfrm>
          <a:prstGeom prst="roundRect">
            <a:avLst>
              <a:gd name="adj" fmla="val 21440"/>
            </a:avLst>
          </a:prstGeom>
          <a:solidFill>
            <a:srgbClr val="F4AAB9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9" name="Прямоугольник: скругленные углы 1">
            <a:extLst>
              <a:ext uri="{FF2B5EF4-FFF2-40B4-BE49-F238E27FC236}">
                <a16:creationId xmlns:a16="http://schemas.microsoft.com/office/drawing/2014/main" id="{472D9539-0673-87B0-8BAF-1B169E54CC20}"/>
              </a:ext>
            </a:extLst>
          </p:cNvPr>
          <p:cNvSpPr/>
          <p:nvPr/>
        </p:nvSpPr>
        <p:spPr>
          <a:xfrm>
            <a:off x="187027" y="3095969"/>
            <a:ext cx="11817946" cy="969705"/>
          </a:xfrm>
          <a:prstGeom prst="roundRect">
            <a:avLst>
              <a:gd name="adj" fmla="val 21440"/>
            </a:avLst>
          </a:prstGeom>
          <a:solidFill>
            <a:srgbClr val="F4AAB9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67651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8" grpId="1" animBg="1"/>
      <p:bldP spid="9" grpId="0" animBg="1"/>
      <p:bldP spid="9" grpId="1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890E2-FF71-1A26-E4AE-D42A91616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E3C421-F56D-D001-95AC-AABCBD4D5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of a FlexiConc algorithm</a:t>
            </a:r>
            <a:endParaRPr lang="sv-SE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F8D03B-D8E3-2731-2E23-8DBE8EFF7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44C73C0-6C21-292C-F4A9-E279EC9D9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A5594BB-2BFF-6952-BC09-571442DC0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 smtClean="0"/>
              <a:pPr/>
              <a:t>29</a:t>
            </a:fld>
            <a:endParaRPr lang="en-GB"/>
          </a:p>
        </p:txBody>
      </p:sp>
      <p:pic>
        <p:nvPicPr>
          <p:cNvPr id="8" name="Picture 7" descr="A screen shot of a computer code">
            <a:extLst>
              <a:ext uri="{FF2B5EF4-FFF2-40B4-BE49-F238E27FC236}">
                <a16:creationId xmlns:a16="http://schemas.microsoft.com/office/drawing/2014/main" id="{DC7106D4-8014-474E-AD0F-3ADA1A8FC3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3847"/>
            <a:ext cx="12192000" cy="4252377"/>
          </a:xfrm>
          <a:prstGeom prst="rect">
            <a:avLst/>
          </a:prstGeom>
        </p:spPr>
      </p:pic>
      <p:sp>
        <p:nvSpPr>
          <p:cNvPr id="9" name="Прямоугольник: скругленные углы 3">
            <a:extLst>
              <a:ext uri="{FF2B5EF4-FFF2-40B4-BE49-F238E27FC236}">
                <a16:creationId xmlns:a16="http://schemas.microsoft.com/office/drawing/2014/main" id="{14163838-D44E-45E7-5019-84DEFDF99C6C}"/>
              </a:ext>
            </a:extLst>
          </p:cNvPr>
          <p:cNvSpPr/>
          <p:nvPr/>
        </p:nvSpPr>
        <p:spPr>
          <a:xfrm>
            <a:off x="187026" y="1703055"/>
            <a:ext cx="11817946" cy="1308371"/>
          </a:xfrm>
          <a:prstGeom prst="roundRect">
            <a:avLst>
              <a:gd name="adj" fmla="val 21440"/>
            </a:avLst>
          </a:prstGeom>
          <a:solidFill>
            <a:srgbClr val="F4AAB9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0" name="Прямоугольник: скругленные углы 3">
            <a:extLst>
              <a:ext uri="{FF2B5EF4-FFF2-40B4-BE49-F238E27FC236}">
                <a16:creationId xmlns:a16="http://schemas.microsoft.com/office/drawing/2014/main" id="{C9D20B76-8A2F-128E-4B4C-2BEAAFE16138}"/>
              </a:ext>
            </a:extLst>
          </p:cNvPr>
          <p:cNvSpPr/>
          <p:nvPr/>
        </p:nvSpPr>
        <p:spPr>
          <a:xfrm>
            <a:off x="187025" y="3267876"/>
            <a:ext cx="11817946" cy="2750728"/>
          </a:xfrm>
          <a:prstGeom prst="roundRect">
            <a:avLst>
              <a:gd name="adj" fmla="val 21440"/>
            </a:avLst>
          </a:prstGeom>
          <a:solidFill>
            <a:srgbClr val="F4AAB9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77285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80EDC-A5E3-17B4-0559-9937A69CE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E727B1-A359-3F98-5399-150E1EB81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of a FlexiConc algorithm</a:t>
            </a:r>
            <a:endParaRPr lang="sv-SE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6DB9853-C8FC-4832-98E6-D9D9DC1A4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956281A-1C44-F3D6-4001-A51B52D50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6E8722-BA31-D4F7-DBB4-BE3658852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 smtClean="0"/>
              <a:pPr/>
              <a:t>30</a:t>
            </a:fld>
            <a:endParaRPr lang="en-GB"/>
          </a:p>
        </p:txBody>
      </p:sp>
      <p:pic>
        <p:nvPicPr>
          <p:cNvPr id="8" name="Picture 7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E2E6B396-DF75-F4DC-1739-FFA31D411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1062"/>
            <a:ext cx="12192000" cy="3362991"/>
          </a:xfrm>
          <a:prstGeom prst="rect">
            <a:avLst/>
          </a:prstGeom>
        </p:spPr>
      </p:pic>
      <p:sp>
        <p:nvSpPr>
          <p:cNvPr id="9" name="Прямоугольник: скругленные углы 1">
            <a:extLst>
              <a:ext uri="{FF2B5EF4-FFF2-40B4-BE49-F238E27FC236}">
                <a16:creationId xmlns:a16="http://schemas.microsoft.com/office/drawing/2014/main" id="{AEA7FB6C-9DAF-2673-3EA8-4F41B7B32C3B}"/>
              </a:ext>
            </a:extLst>
          </p:cNvPr>
          <p:cNvSpPr/>
          <p:nvPr/>
        </p:nvSpPr>
        <p:spPr>
          <a:xfrm>
            <a:off x="187027" y="1537502"/>
            <a:ext cx="11817946" cy="3677056"/>
          </a:xfrm>
          <a:prstGeom prst="roundRect">
            <a:avLst>
              <a:gd name="adj" fmla="val 21440"/>
            </a:avLst>
          </a:prstGeom>
          <a:solidFill>
            <a:srgbClr val="F4AAB9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2509AB-36A5-CBA8-7B24-AB520694EC3B}"/>
              </a:ext>
            </a:extLst>
          </p:cNvPr>
          <p:cNvSpPr txBox="1"/>
          <p:nvPr/>
        </p:nvSpPr>
        <p:spPr>
          <a:xfrm>
            <a:off x="0" y="5389655"/>
            <a:ext cx="12192000" cy="8221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800">
                <a:solidFill>
                  <a:schemeClr val="tx1"/>
                </a:solidFill>
                <a:latin typeface="FAUSans Office"/>
                <a:cs typeface="FAUSans Office" panose="020B0504010101010104" pitchFamily="34" charset="77"/>
              </a:rPr>
              <a:t>Creating custom algorithms should be doable!</a:t>
            </a:r>
            <a:endParaRPr lang="sv-SE" sz="2800">
              <a:solidFill>
                <a:schemeClr val="tx1"/>
              </a:solidFill>
              <a:latin typeface="FAUSans Office"/>
              <a:cs typeface="FAUSans Office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769601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B442C1-B590-A6D0-3B35-BC41F13F8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Executing algorithms</a:t>
            </a:r>
            <a:endParaRPr lang="sv-SE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A7D8371-F337-0849-0841-828E0C594C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Algorithms are applied to subsets of concordance lines and return information about</a:t>
            </a:r>
          </a:p>
          <a:p>
            <a:pPr lvl="1"/>
            <a:r>
              <a:rPr lang="en-US"/>
              <a:t>selected lines</a:t>
            </a:r>
          </a:p>
          <a:p>
            <a:pPr lvl="1"/>
            <a:r>
              <a:rPr lang="en-US"/>
              <a:t>ordering of lines</a:t>
            </a:r>
          </a:p>
          <a:p>
            <a:pPr lvl="1"/>
            <a:r>
              <a:rPr lang="en-US"/>
              <a:t>grouping of lines</a:t>
            </a:r>
          </a:p>
          <a:p>
            <a:pPr lvl="1"/>
            <a:r>
              <a:rPr lang="en-US"/>
              <a:t>token spans to be highlighted in the concordance view</a:t>
            </a:r>
          </a:p>
          <a:p>
            <a:r>
              <a:rPr lang="en-US"/>
              <a:t>Algorithms can only be accessed via </a:t>
            </a:r>
            <a:r>
              <a:rPr lang="en-US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add_subset_node</a:t>
            </a: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/>
              <a:t>and </a:t>
            </a:r>
            <a:r>
              <a:rPr lang="en-US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add_arrangement_node</a:t>
            </a:r>
            <a:r>
              <a:rPr lang="en-US"/>
              <a:t>, ensuring that</a:t>
            </a:r>
          </a:p>
          <a:p>
            <a:pPr lvl="1"/>
            <a:r>
              <a:rPr lang="en-US"/>
              <a:t>only permissible algorithm combinations are used</a:t>
            </a:r>
          </a:p>
          <a:p>
            <a:pPr lvl="1"/>
            <a:r>
              <a:rPr lang="en-US"/>
              <a:t>any algorithm call is documented in the analysis tree</a:t>
            </a:r>
          </a:p>
          <a:p>
            <a:pPr lvl="1"/>
            <a:r>
              <a:rPr lang="en-US"/>
              <a:t>the results of algorithm execution are stored correctly</a:t>
            </a:r>
            <a:endParaRPr lang="sv-SE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794E8FD-1F45-02E5-9D0C-DA08C46AD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9 Sep 2025 | © RC21 Team</a:t>
            </a:r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A8A33B1-E7E9-3E5D-B9C8-D210276AC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C8D733-E093-7D3E-403D-FF9A794E5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 smtClean="0"/>
              <a:pPr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94783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8A385-948C-1191-9D48-25F19DA6F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Wrapping up 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701FB-0544-E472-689C-DE10D9D0D3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Concordance reading as link between quantitative and qualitative perspectives on corpora (“distant vs. close reading“)</a:t>
            </a:r>
          </a:p>
          <a:p>
            <a:r>
              <a:rPr lang="en-US"/>
              <a:t>Many applications: literary stylistics, discourse analysis, language teaching, lexicography, query refinement, topic models, …</a:t>
            </a:r>
          </a:p>
          <a:p>
            <a:r>
              <a:rPr lang="en-US"/>
              <a:t>Aim: identify recurrent patterns at different levels </a:t>
            </a:r>
            <a:r>
              <a:rPr lang="en-US">
                <a:sym typeface="Wingdings" pitchFamily="2" charset="2"/>
              </a:rPr>
              <a:t>➞ interpretation</a:t>
            </a:r>
          </a:p>
          <a:p>
            <a:r>
              <a:rPr lang="en-US">
                <a:sym typeface="Wingdings" pitchFamily="2" charset="2"/>
              </a:rPr>
              <a:t>Computational algorithms support organising concordance lines</a:t>
            </a:r>
          </a:p>
          <a:p>
            <a:r>
              <a:rPr lang="en-US">
                <a:sym typeface="Wingdings" pitchFamily="2" charset="2"/>
              </a:rPr>
              <a:t>Strategies: Selecting, Sorting, Ranking, Partitioning, Clustering</a:t>
            </a:r>
          </a:p>
          <a:p>
            <a:r>
              <a:rPr lang="en-US">
                <a:sym typeface="Wingdings" pitchFamily="2" charset="2"/>
              </a:rPr>
              <a:t>Analysis tree as reproducible research documentation &amp; template</a:t>
            </a:r>
          </a:p>
          <a:p>
            <a:r>
              <a:rPr lang="en-US">
                <a:sym typeface="Wingdings" pitchFamily="2" charset="2"/>
              </a:rPr>
              <a:t>FlexiConc Python library as open-source software implementation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F6D44B-F4B4-19B6-A63E-9C5791A4A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8 Aug 2025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347FF2-ECBA-E4E5-C44D-43B7CAEEB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Reading concordances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13BE2-A00E-75D4-294E-D40F57488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35620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 dir="r"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18D35-B176-B533-7223-D0AEF3126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Farewell &amp; materials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B5C2F6B-C76C-B285-BC56-C1D0F39A7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4247535"/>
            <a:ext cx="11426616" cy="1928334"/>
          </a:xfrm>
        </p:spPr>
        <p:txBody>
          <a:bodyPr/>
          <a:lstStyle/>
          <a:p>
            <a:r>
              <a:rPr lang="en-US"/>
              <a:t>Project homepage:</a:t>
            </a:r>
            <a:br>
              <a:rPr lang="en-US"/>
            </a:br>
            <a:r>
              <a:rPr lang="en-US">
                <a:hlinkClick r:id="rId3"/>
              </a:rPr>
              <a:t>https://www.dhss.phil.fau.eu/research/reading-concordances/</a:t>
            </a:r>
            <a:endParaRPr lang="en-US"/>
          </a:p>
          <a:p>
            <a:r>
              <a:rPr lang="en-US"/>
              <a:t>Open course materials for reuse:</a:t>
            </a:r>
            <a:br>
              <a:rPr lang="en-US"/>
            </a:br>
            <a:r>
              <a:rPr lang="en-US">
                <a:hlinkClick r:id="rId4"/>
              </a:rPr>
              <a:t>https://github.com/reading-concordances/teaching/</a:t>
            </a:r>
            <a:r>
              <a:rPr lang="en-US"/>
              <a:t>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E69597-30D4-B739-B651-E282810A2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8 Aug 2025 | © RC21 Team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7F3F9D-2235-5E47-783E-9F6A5B30F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Reading concordances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4E1C2B-9F39-6DA0-D714-4AE0D976C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33</a:t>
            </a:fld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5BBD74-8D3A-74F0-410A-4979D2A5FC28}"/>
              </a:ext>
            </a:extLst>
          </p:cNvPr>
          <p:cNvSpPr/>
          <p:nvPr/>
        </p:nvSpPr>
        <p:spPr>
          <a:xfrm>
            <a:off x="3301602" y="1628141"/>
            <a:ext cx="5330334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7200" b="1" cap="none" spc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Thank you!</a:t>
            </a:r>
          </a:p>
        </p:txBody>
      </p:sp>
      <p:pic>
        <p:nvPicPr>
          <p:cNvPr id="9" name="Picture 8" descr="A black and white sign with a person and a euro symbol&#10;&#10;AI-generated content may be incorrect.">
            <a:extLst>
              <a:ext uri="{FF2B5EF4-FFF2-40B4-BE49-F238E27FC236}">
                <a16:creationId xmlns:a16="http://schemas.microsoft.com/office/drawing/2014/main" id="{ACE405DB-81B2-4B65-EBAE-FF42AC3E74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8783" y="5692878"/>
            <a:ext cx="2350525" cy="818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3723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B37E4543-2836-A5C8-E9DC-A52CA90E1D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 flipV="1">
            <a:off x="10229850" y="1228725"/>
            <a:ext cx="67238233" cy="6832516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4E8F797-9ADC-876C-3A44-BF5F5FD4F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FAUSans Office"/>
              </a:rPr>
              <a:t>Feedback and contributions welcome!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912275-F018-D2C6-ED92-E0939A3E7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8 Aug 2025 | © RC21 Team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2F4C52-79AA-B4C2-ACEF-92433699F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Reading concordances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212EB7-6E1E-4BA5-EBAC-EBBABE94A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34</a:t>
            </a:fld>
            <a:endParaRPr lang="en-GB"/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0067C5E-72DB-2E01-F810-6474C3CD821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283"/>
          <a:stretch>
            <a:fillRect/>
          </a:stretch>
        </p:blipFill>
        <p:spPr>
          <a:xfrm>
            <a:off x="0" y="2606572"/>
            <a:ext cx="7772400" cy="393439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5CC4E64-6ECC-C09C-C666-13702D2FE90C}"/>
              </a:ext>
            </a:extLst>
          </p:cNvPr>
          <p:cNvSpPr txBox="1"/>
          <p:nvPr/>
        </p:nvSpPr>
        <p:spPr>
          <a:xfrm>
            <a:off x="7865806" y="4168878"/>
            <a:ext cx="4326194" cy="23720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b">
            <a:noAutofit/>
          </a:bodyPr>
          <a:lstStyle/>
          <a:p>
            <a:r>
              <a:rPr lang="en-US" sz="240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Get in touch with us to contribute to our project blog!</a:t>
            </a:r>
          </a:p>
          <a:p>
            <a:pPr marL="342900" indent="-246063">
              <a:buFont typeface="Wingdings" pitchFamily="2" charset="2"/>
              <a:buChar char="§"/>
            </a:pPr>
            <a:r>
              <a:rPr lang="en-US" sz="2400">
                <a:solidFill>
                  <a:schemeClr val="tx1"/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experience with FlexiConc</a:t>
            </a:r>
          </a:p>
          <a:p>
            <a:pPr marL="342900" indent="-246063">
              <a:buFont typeface="Wingdings" pitchFamily="2" charset="2"/>
              <a:buChar char="§"/>
            </a:pPr>
            <a:r>
              <a:rPr lang="en-US" sz="2400">
                <a:solidFill>
                  <a:schemeClr val="tx1"/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concordance reading for</a:t>
            </a:r>
            <a:br>
              <a:rPr lang="en-US" sz="2400">
                <a:solidFill>
                  <a:schemeClr val="tx1"/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</a:br>
            <a:r>
              <a:rPr lang="en-US" sz="2400">
                <a:solidFill>
                  <a:schemeClr val="tx1"/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your own research</a:t>
            </a:r>
          </a:p>
          <a:p>
            <a:pPr marL="342900" indent="-246063">
              <a:buFont typeface="Wingdings" pitchFamily="2" charset="2"/>
              <a:buChar char="§"/>
            </a:pPr>
            <a:r>
              <a:rPr lang="en-US" sz="2400">
                <a:solidFill>
                  <a:schemeClr val="tx1"/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needs/ideas for algorithms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4AA892-0CFC-0904-5AE1-DCAE0C52FFA9}"/>
              </a:ext>
            </a:extLst>
          </p:cNvPr>
          <p:cNvSpPr txBox="1"/>
          <p:nvPr/>
        </p:nvSpPr>
        <p:spPr>
          <a:xfrm>
            <a:off x="501445" y="1336662"/>
            <a:ext cx="9527458" cy="9848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r>
              <a:rPr lang="en-US" sz="3200">
                <a:solidFill>
                  <a:schemeClr val="accent1">
                    <a:lumMod val="50000"/>
                  </a:schemeClr>
                </a:solidFill>
                <a:latin typeface="FAUSans Office"/>
                <a:cs typeface="FAUSans Office" panose="020B0504010101010104" pitchFamily="34" charset="77"/>
              </a:rPr>
              <a:t>Please fill in our feedback form for this course!</a:t>
            </a:r>
            <a:endParaRPr lang="en-US" sz="3200">
              <a:solidFill>
                <a:schemeClr val="accent1">
                  <a:lumMod val="50000"/>
                </a:schemeClr>
              </a:solidFill>
            </a:endParaRPr>
          </a:p>
          <a:p>
            <a:r>
              <a:rPr lang="en-US" sz="3200">
                <a:solidFill>
                  <a:schemeClr val="tx1"/>
                </a:solidFill>
                <a:ea typeface="+mn-lt"/>
                <a:cs typeface="+mn-lt"/>
              </a:rPr>
              <a:t>https://forms.gle/k7n6ViVhNfjNgDZr7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8690BCD-7B39-DE33-0777-26A4BEDBCA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9803" y="1200103"/>
            <a:ext cx="2045110" cy="2045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507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3">
      <a:dk1>
        <a:srgbClr val="000000"/>
      </a:dk1>
      <a:lt1>
        <a:srgbClr val="FFFFFF"/>
      </a:lt1>
      <a:dk2>
        <a:srgbClr val="242424"/>
      </a:dk2>
      <a:lt2>
        <a:srgbClr val="CCCCCC"/>
      </a:lt2>
      <a:accent1>
        <a:srgbClr val="54C5F3"/>
      </a:accent1>
      <a:accent2>
        <a:srgbClr val="F4AAB9"/>
      </a:accent2>
      <a:accent3>
        <a:srgbClr val="C0D7A1"/>
      </a:accent3>
      <a:accent4>
        <a:srgbClr val="C8A8F3"/>
      </a:accent4>
      <a:accent5>
        <a:srgbClr val="F3D4AE"/>
      </a:accent5>
      <a:accent6>
        <a:srgbClr val="65CBB9"/>
      </a:accent6>
      <a:hlink>
        <a:srgbClr val="5B19B5"/>
      </a:hlink>
      <a:folHlink>
        <a:srgbClr val="5B19B5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  <a:ln>
          <a:noFill/>
        </a:ln>
      </a:spPr>
      <a:bodyPr wrap="square" lIns="0" tIns="0" rIns="0" bIns="0" rtlCol="0" anchor="ctr">
        <a:noAutofit/>
      </a:bodyPr>
      <a:lstStyle>
        <a:defPPr algn="ctr">
          <a:defRPr sz="2400">
            <a:solidFill>
              <a:schemeClr val="tx1"/>
            </a:solidFill>
            <a:latin typeface="FAUSans Office" panose="020B0504010101010104" pitchFamily="34" charset="77"/>
            <a:cs typeface="FAUSans Office" panose="020B0504010101010104" pitchFamily="34" charset="77"/>
          </a:defRPr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34863935D01D9249BB91A8139635CB70" ma:contentTypeVersion="12" ma:contentTypeDescription="Ein neues Dokument erstellen." ma:contentTypeScope="" ma:versionID="18dcdc1908d3458267de78ec98295768">
  <xsd:schema xmlns:xsd="http://www.w3.org/2001/XMLSchema" xmlns:xs="http://www.w3.org/2001/XMLSchema" xmlns:p="http://schemas.microsoft.com/office/2006/metadata/properties" xmlns:ns2="ff3c66ed-9060-4b44-be2d-3d344d05f2dc" xmlns:ns3="5a9f7cd3-bec7-49ea-ba26-5e85d7756a91" targetNamespace="http://schemas.microsoft.com/office/2006/metadata/properties" ma:root="true" ma:fieldsID="77d4618e6615a7af1a8235f049b4077e" ns2:_="" ns3:_="">
    <xsd:import namespace="ff3c66ed-9060-4b44-be2d-3d344d05f2dc"/>
    <xsd:import namespace="5a9f7cd3-bec7-49ea-ba26-5e85d7756a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f3c66ed-9060-4b44-be2d-3d344d05f2d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0e979915-1b84-43d5-84e4-ad1a289bda8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a9f7cd3-bec7-49ea-ba26-5e85d7756a9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d5b605a-5bf4-4ec9-8ac6-8280965f468e}" ma:internalName="TaxCatchAll" ma:showField="CatchAllData" ma:web="5a9f7cd3-bec7-49ea-ba26-5e85d7756a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a9f7cd3-bec7-49ea-ba26-5e85d7756a91" xsi:nil="true"/>
    <lcf76f155ced4ddcb4097134ff3c332f xmlns="ff3c66ed-9060-4b44-be2d-3d344d05f2d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31E5E88D-A801-4F03-815F-5EB72868160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25A9F1E-09A3-4FEA-8F2B-9091F8F05A70}">
  <ds:schemaRefs>
    <ds:schemaRef ds:uri="5a9f7cd3-bec7-49ea-ba26-5e85d7756a91"/>
    <ds:schemaRef ds:uri="ff3c66ed-9060-4b44-be2d-3d344d05f2d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DD028DA-32C0-4908-B62D-9AF597270AB1}">
  <ds:schemaRefs>
    <ds:schemaRef ds:uri="5a9f7cd3-bec7-49ea-ba26-5e85d7756a91"/>
    <ds:schemaRef ds:uri="ff3c66ed-9060-4b44-be2d-3d344d05f2d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b2efcef3-8496-40b8-9de8-f135982f3461}" enabled="0" method="" siteId="{b2efcef3-8496-40b8-9de8-f135982f346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144</TotalTime>
  <Words>2020</Words>
  <Application>Microsoft Macintosh PowerPoint</Application>
  <PresentationFormat>Widescreen</PresentationFormat>
  <Paragraphs>304</Paragraphs>
  <Slides>34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Calibri</vt:lpstr>
      <vt:lpstr>Consolas</vt:lpstr>
      <vt:lpstr>Wingdings</vt:lpstr>
      <vt:lpstr>Aptos</vt:lpstr>
      <vt:lpstr>FAUSans Office</vt:lpstr>
      <vt:lpstr>Arial</vt:lpstr>
      <vt:lpstr>Office Theme</vt:lpstr>
      <vt:lpstr>PowerPoint Presentation</vt:lpstr>
      <vt:lpstr>Orientation</vt:lpstr>
      <vt:lpstr>FlexiConc</vt:lpstr>
      <vt:lpstr>FlexiConc via Jupyter notebooks</vt:lpstr>
      <vt:lpstr>FlexiConc via Jupyter notebooks</vt:lpstr>
      <vt:lpstr>Installing FlexiConc (Windows / MacOS)</vt:lpstr>
      <vt:lpstr>Installing FlexiConc (Linux)</vt:lpstr>
      <vt:lpstr>FlexiConc in Jupyter notebooks</vt:lpstr>
      <vt:lpstr>Import from CLiC</vt:lpstr>
      <vt:lpstr>Import from Sketch Engine</vt:lpstr>
      <vt:lpstr>Import from Sketch Engine</vt:lpstr>
      <vt:lpstr>Import from Sketch Engine</vt:lpstr>
      <vt:lpstr>Import from CQPweb</vt:lpstr>
      <vt:lpstr>Import from CQPweb</vt:lpstr>
      <vt:lpstr>Import from WMatrix</vt:lpstr>
      <vt:lpstr>Import from WMatrix</vt:lpstr>
      <vt:lpstr>Import from WMatrix</vt:lpstr>
      <vt:lpstr>Import your own files</vt:lpstr>
      <vt:lpstr>Pro users: Import from CWB</vt:lpstr>
      <vt:lpstr>FlexiConc in Jupyter notebooks</vt:lpstr>
      <vt:lpstr>FlexiConc internals</vt:lpstr>
      <vt:lpstr>Concordances in FlexiConc: metadata</vt:lpstr>
      <vt:lpstr>Concordances in FlexiConc: tokens</vt:lpstr>
      <vt:lpstr>Representation of algorithms in FlexiConc</vt:lpstr>
      <vt:lpstr>Implementation of a FlexiConc algorithm</vt:lpstr>
      <vt:lpstr>Implementation of a FlexiConc algorithm</vt:lpstr>
      <vt:lpstr>Implementation of a FlexiConc algorithm</vt:lpstr>
      <vt:lpstr>Implementation of a FlexiConc algorithm</vt:lpstr>
      <vt:lpstr>Implementation of a FlexiConc algorithm</vt:lpstr>
      <vt:lpstr>Implementation of a FlexiConc algorithm</vt:lpstr>
      <vt:lpstr>Executing algorithms</vt:lpstr>
      <vt:lpstr>Wrapping up …</vt:lpstr>
      <vt:lpstr>Farewell &amp; materials </vt:lpstr>
      <vt:lpstr>Feedback and contributions welcome!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Natalie Finlayson (English Language and Linguistics)</dc:creator>
  <cp:lastModifiedBy> </cp:lastModifiedBy>
  <cp:revision>21</cp:revision>
  <dcterms:created xsi:type="dcterms:W3CDTF">2024-03-12T00:45:26Z</dcterms:created>
  <dcterms:modified xsi:type="dcterms:W3CDTF">2026-09-24T21:34:46Z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0x01010034863935D01D9249BB91A8139635CB70</vt:lpwstr>
  </property>
  <property fmtid="{D5CDD505-2E9C-101B-9397-08002B2CF9AE}" pid="3" name="MediaServiceImageTags">
    <vt:lpwstr/>
  </property>
  <property fmtid="{D5CDD505-2E9C-101B-9397-08002B2CF9AE}" pid="4" name="ICV">
    <vt:lpwstr/>
  </property>
  <property fmtid="{D5CDD505-2E9C-101B-9397-08002B2CF9AE}" pid="5" name="KSOProductBuildVer">
    <vt:lpwstr>1033-11.1.0.11711</vt:lpwstr>
  </property>
</Properties>
</file>