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 bookmarkIdSeed="2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2685" r:id="rId5"/>
    <p:sldId id="2686" r:id="rId6"/>
    <p:sldId id="2671" r:id="rId7"/>
    <p:sldId id="2650" r:id="rId8"/>
    <p:sldId id="2672" r:id="rId9"/>
    <p:sldId id="2663" r:id="rId10"/>
    <p:sldId id="336" r:id="rId11"/>
    <p:sldId id="2665" r:id="rId12"/>
    <p:sldId id="341" r:id="rId13"/>
    <p:sldId id="342" r:id="rId14"/>
    <p:sldId id="343" r:id="rId15"/>
    <p:sldId id="347" r:id="rId16"/>
    <p:sldId id="348" r:id="rId17"/>
    <p:sldId id="349" r:id="rId18"/>
    <p:sldId id="350" r:id="rId19"/>
    <p:sldId id="351" r:id="rId20"/>
    <p:sldId id="2666" r:id="rId21"/>
    <p:sldId id="2648" r:id="rId22"/>
    <p:sldId id="2687" r:id="rId23"/>
    <p:sldId id="2576" r:id="rId24"/>
    <p:sldId id="2592" r:id="rId25"/>
    <p:sldId id="2593" r:id="rId26"/>
    <p:sldId id="2595" r:id="rId27"/>
    <p:sldId id="2597" r:id="rId28"/>
    <p:sldId id="2682" r:id="rId29"/>
    <p:sldId id="2683" r:id="rId30"/>
    <p:sldId id="428" r:id="rId31"/>
    <p:sldId id="2684" r:id="rId32"/>
    <p:sldId id="295" r:id="rId33"/>
    <p:sldId id="296" r:id="rId34"/>
  </p:sldIdLst>
  <p:sldSz cx="12192000" cy="6858000"/>
  <p:notesSz cx="6858000" cy="9144000"/>
  <p:embeddedFontLst>
    <p:embeddedFont>
      <p:font typeface="Consolas" panose="020B0609020204030204" pitchFamily="49" charset="0"/>
      <p:regular r:id="rId37"/>
      <p:bold r:id="rId38"/>
      <p:italic r:id="rId39"/>
      <p:boldItalic r:id="rId40"/>
    </p:embeddedFont>
    <p:embeddedFont>
      <p:font typeface="FAUSans Office" panose="020B0504010101010104" pitchFamily="34" charset="77"/>
      <p:regular r:id="rId41"/>
      <p:bold r:id="rId42"/>
      <p:italic r:id="rId43"/>
      <p:boldItalic r:id="rId44"/>
    </p:embeddedFont>
    <p:embeddedFont>
      <p:font typeface="Georgia" panose="02040502050405020303" pitchFamily="18" charset="0"/>
      <p:regular r:id="rId45"/>
      <p:bold r:id="rId46"/>
      <p:italic r:id="rId47"/>
      <p:boldItalic r:id="rId4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C05CF46-3410-AA0A-1245-8A9FE69B923A}" name="Piperski, Aleksandr" initials="PA" userId="S::to51xyhu@fauad.fau.de::f69a4bad-1b71-4b84-bcb6-3723fb1bc78f" providerId="AD"/>
  <p188:author id="{FEEC5457-15E6-6E38-F443-7A192C593AD5}" name="Dykes, Nathan" initials="DN" userId="S::la06moso@fauad.fau.de::bb86161d-c33f-41e7-93df-f57ac910d3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  <a:srgbClr val="B71738"/>
    <a:srgbClr val="FBD4DC"/>
    <a:srgbClr val="CC0066"/>
    <a:srgbClr val="C0DAD2"/>
    <a:srgbClr val="BAC0D9"/>
    <a:srgbClr val="C0DABB"/>
    <a:srgbClr val="990033"/>
    <a:srgbClr val="FF99CC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03"/>
    <p:restoredTop sz="82356"/>
  </p:normalViewPr>
  <p:slideViewPr>
    <p:cSldViewPr snapToGrid="0">
      <p:cViewPr varScale="1">
        <p:scale>
          <a:sx n="133" d="100"/>
          <a:sy n="133" d="100"/>
        </p:scale>
        <p:origin x="12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 varScale="1">
        <p:scale>
          <a:sx n="127" d="100"/>
          <a:sy n="127" d="100"/>
        </p:scale>
        <p:origin x="2928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3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microsoft.com/office/2018/10/relationships/authors" Target="author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8.fntdata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6.xml"/><Relationship Id="rId41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4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4796673-B35C-B37D-3219-C53285AA13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D8D901-A21A-BE4D-089A-7CA65E41BE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FC277-78D7-FD40-B599-ED34D02CBE47}" type="datetimeFigureOut"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0E049B-85E9-A6EA-A8B1-7CC12B8D670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5A40A3-2E20-0293-C9D9-7C5F7E2CA8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D7A19F-1495-B848-AD29-53732E1E2D4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639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179876-35BB-4790-A6E6-84E358FFE4CB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D78C15-C8E2-434D-9C71-D59CB069DB57}" type="slidenum">
              <a:rPr lang="en-GB" smtClean="0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FAUSans Office" panose="020B0504010101010104" pitchFamily="34" charset="77"/>
        <a:ea typeface="+mn-ea"/>
        <a:cs typeface="FAUSans Office" panose="020B0504010101010104" pitchFamily="34" charset="77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02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D5529-89DA-EEFE-B6C6-DFC93F140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CCB23-63F4-FAF9-6839-D04E05D0B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D42A09-AAE7-1F7D-6767-D6E09B5ED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2D1EC-0EDA-5DC0-59DD-1F395602E2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93889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9916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619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5555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703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4791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4189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4202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D5529-89DA-EEFE-B6C6-DFC93F140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CCB23-63F4-FAF9-6839-D04E05D0B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D42A09-AAE7-1F7D-6767-D6E09B5ED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2D1EC-0EDA-5DC0-59DD-1F395602E2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93889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83D3D-1C5B-9812-0FF7-E9D1B0C50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8D814-1AA9-3EC9-B056-5A54A25BA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9BCC26-5BB0-4C02-3033-D1B1B6C9F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15D0C-5F4F-F270-8D5F-932C65E97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40763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How are these disciplines different, what do you expect?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33181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37519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D78C15-C8E2-434D-9C71-D59CB069DB57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5769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E425B-BB73-0FDD-AE72-948955EB4E7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AE34CC-55E9-3EAA-FAD2-F9E92FB8B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05D6B7-A8AB-CA8C-79E0-7CAACB4D8F0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A41DCA-5075-D6A6-27D9-1F6EFA9244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DDDC70-CDC1-383C-086E-4DAC17386644}" type="slidenum">
              <a:rPr/>
              <a:t>29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607172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329BA-D53B-3ECF-00B0-B00288A495D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D285F7-A266-4B2D-889B-0FA51D5B60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16242-7F4E-D4E5-38EB-5DE5D529C1E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DCA042-CAF4-DB30-735F-590ED5322D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DDDC70-CDC1-383C-086E-4DAC17386644}" type="slidenum">
              <a:rPr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6672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 b="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22 Sep 2026 | © RC21 Team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326E29E-1E2A-44E5-3FC5-786EBA6F840B}"/>
              </a:ext>
            </a:extLst>
          </p:cNvPr>
          <p:cNvSpPr/>
          <p:nvPr userDrawn="1"/>
        </p:nvSpPr>
        <p:spPr>
          <a:xfrm rot="5400000">
            <a:off x="5491842" y="-5491842"/>
            <a:ext cx="1208314" cy="12192002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749424-4954-1C18-42E0-2013AE4CDBE1}"/>
              </a:ext>
            </a:extLst>
          </p:cNvPr>
          <p:cNvSpPr/>
          <p:nvPr userDrawn="1"/>
        </p:nvSpPr>
        <p:spPr>
          <a:xfrm rot="5400000">
            <a:off x="5937484" y="603483"/>
            <a:ext cx="317030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" y="0"/>
            <a:ext cx="11353801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787075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2800"/>
            </a:lvl1pPr>
            <a:lvl2pPr>
              <a:lnSpc>
                <a:spcPct val="100000"/>
              </a:lnSpc>
              <a:defRPr sz="2400"/>
            </a:lvl2pPr>
            <a:lvl3pPr>
              <a:lnSpc>
                <a:spcPct val="100000"/>
              </a:lnSpc>
              <a:defRPr sz="2000"/>
            </a:lvl3pPr>
            <a:lvl4pPr>
              <a:lnSpc>
                <a:spcPct val="100000"/>
              </a:lnSpc>
              <a:defRPr sz="1800"/>
            </a:lvl4pPr>
            <a:lvl5pPr>
              <a:lnSpc>
                <a:spcPct val="100000"/>
              </a:lnSpc>
              <a:defRPr sz="18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>
            <a:lvl1pPr>
              <a:defRPr sz="14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6EEB0E35-5D1A-91D7-4276-70D070F07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10" name="Date Placeholder 5">
            <a:extLst>
              <a:ext uri="{FF2B5EF4-FFF2-40B4-BE49-F238E27FC236}">
                <a16:creationId xmlns:a16="http://schemas.microsoft.com/office/drawing/2014/main" id="{187236D0-EBE9-D380-6DE3-C01CA28A9D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380333-980E-8B55-2771-139A8D5F02D0}"/>
              </a:ext>
            </a:extLst>
          </p:cNvPr>
          <p:cNvSpPr/>
          <p:nvPr userDrawn="1"/>
        </p:nvSpPr>
        <p:spPr>
          <a:xfrm rot="5400000">
            <a:off x="5491843" y="-5491842"/>
            <a:ext cx="1208314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97651C4-8807-4F0E-0675-D3C14F0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486369-1C5D-6097-3686-4653D1016C85}"/>
              </a:ext>
            </a:extLst>
          </p:cNvPr>
          <p:cNvSpPr/>
          <p:nvPr userDrawn="1"/>
        </p:nvSpPr>
        <p:spPr>
          <a:xfrm rot="5400000">
            <a:off x="5937484" y="603483"/>
            <a:ext cx="317030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CC04A0E-C353-DABE-D7E4-FDF6F688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>
            <a:lvl1pPr>
              <a:defRPr sz="1400" b="1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886CC9A8-9C30-A973-C0B3-A0C6131FD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3" name="Date Placeholder 5">
            <a:extLst>
              <a:ext uri="{FF2B5EF4-FFF2-40B4-BE49-F238E27FC236}">
                <a16:creationId xmlns:a16="http://schemas.microsoft.com/office/drawing/2014/main" id="{318A9E0B-9889-F3AE-2AC1-0AAB27D090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/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380333-980E-8B55-2771-139A8D5F02D0}"/>
              </a:ext>
            </a:extLst>
          </p:cNvPr>
          <p:cNvSpPr/>
          <p:nvPr userDrawn="1"/>
        </p:nvSpPr>
        <p:spPr>
          <a:xfrm rot="5400000">
            <a:off x="5491843" y="-5491842"/>
            <a:ext cx="1208314" cy="12192001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97651C4-8807-4F0E-0675-D3C14F0D2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08315"/>
          </a:xfrm>
        </p:spPr>
        <p:txBody>
          <a:bodyPr lIns="180000" tIns="36000" rIns="180000" bIns="36000">
            <a:normAutofit/>
          </a:bodyPr>
          <a:lstStyle>
            <a:lvl1pPr>
              <a:defRPr sz="4400" b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788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cree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5AF9C64-C7CC-5D02-1146-F48C09F3AF0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76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9167" y="476672"/>
            <a:ext cx="10363200" cy="1143000"/>
          </a:xfrm>
        </p:spPr>
        <p:txBody>
          <a:bodyPr/>
          <a:lstStyle>
            <a:lvl1pPr>
              <a:defRPr>
                <a:latin typeface="Georgia"/>
                <a:cs typeface="Georgia"/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9167" y="1844824"/>
            <a:ext cx="10363200" cy="4104456"/>
          </a:xfrm>
        </p:spPr>
        <p:txBody>
          <a:bodyPr/>
          <a:lstStyle>
            <a:lvl1pPr>
              <a:defRPr b="0"/>
            </a:lvl1pPr>
            <a:lvl2pPr>
              <a:defRPr b="0"/>
            </a:lvl2pPr>
            <a:lvl3pPr>
              <a:defRPr b="0"/>
            </a:lvl3pPr>
            <a:lvl4pPr>
              <a:defRPr b="0"/>
            </a:lvl4pPr>
            <a:lvl5pPr>
              <a:defRPr b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6046C8BF-7BC8-6945-8EEE-43B53A9A2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584" y="6597650"/>
            <a:ext cx="922867" cy="2603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3452C1B-248A-F54D-898B-15D5FC6C1C4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53727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defRPr>
            </a:lvl1pPr>
          </a:lstStyle>
          <a:p>
            <a:fld id="{B2EB7B1D-155F-DE45-A4D9-3453DB08EE0D}" type="slidenum">
              <a:rPr lang="en-GB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6" r:id="rId4"/>
    <p:sldLayoutId id="2147483655" r:id="rId5"/>
    <p:sldLayoutId id="2147483657" r:id="rId6"/>
    <p:sldLayoutId id="2147483666" r:id="rId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FAUSans Office" panose="020B0504010101010104" pitchFamily="34" charset="77"/>
          <a:ea typeface="+mj-ea"/>
          <a:cs typeface="FAUSans Office" panose="020B0504010101010104" pitchFamily="34" charset="77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AUSans Office" panose="020B0504010101010104" pitchFamily="34" charset="77"/>
          <a:ea typeface="+mn-ea"/>
          <a:cs typeface="FAUSans Office" panose="020B0504010101010104" pitchFamily="34" charset="77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thetrumparchive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rpora.linguistik.uni-erlangen.de/cqpweb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7910/DVN/L4OAKN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eading-concordances/teaching/blob/main/course/handouts/flexiconc_clic_handout_2026.pdf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 rot="5400000">
            <a:off x="5466402" y="201470"/>
            <a:ext cx="1208315" cy="12141122"/>
          </a:xfrm>
          <a:prstGeom prst="rect">
            <a:avLst/>
          </a:prstGeom>
          <a:gradFill>
            <a:gsLst>
              <a:gs pos="0">
                <a:schemeClr val="accent2">
                  <a:satMod val="105000"/>
                  <a:tint val="67000"/>
                  <a:lumMod val="18268"/>
                  <a:lumOff val="81732"/>
                </a:schemeClr>
              </a:gs>
              <a:gs pos="50000">
                <a:schemeClr val="accent2">
                  <a:satMod val="103000"/>
                  <a:tint val="73000"/>
                  <a:lumMod val="41062"/>
                  <a:lumOff val="58938"/>
                </a:schemeClr>
              </a:gs>
              <a:gs pos="100000">
                <a:schemeClr val="accent2">
                  <a:satMod val="109000"/>
                  <a:tint val="81000"/>
                  <a:lumMod val="63251"/>
                  <a:lumOff val="36749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1937" y="1315330"/>
            <a:ext cx="11381778" cy="1881695"/>
          </a:xfrm>
          <a:prstGeom prst="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b"/>
          <a:lstStyle/>
          <a:p>
            <a:pPr marL="716280" algn="ctr"/>
            <a:r>
              <a:rPr lang="en-GB" sz="32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Reading Concordances with Algorithms: </a:t>
            </a:r>
          </a:p>
          <a:p>
            <a:pPr marL="9525" algn="ctr"/>
            <a:r>
              <a:rPr lang="en-GB" sz="32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a training course in key corpus linguistics methodology</a:t>
            </a:r>
            <a:endParaRPr lang="en-US" sz="3200" b="1" dirty="0">
              <a:solidFill>
                <a:schemeClr val="tx1">
                  <a:lumMod val="50000"/>
                  <a:lumOff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  <a:p>
            <a:pPr marL="9525" algn="ctr"/>
            <a:r>
              <a:rPr 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 </a:t>
            </a:r>
          </a:p>
          <a:p>
            <a:pPr marL="9525" algn="ctr"/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Working with concordance tools</a:t>
            </a:r>
          </a:p>
        </p:txBody>
      </p:sp>
      <p:sp>
        <p:nvSpPr>
          <p:cNvPr id="3" name="Rounded Rectangle 8"/>
          <p:cNvSpPr/>
          <p:nvPr/>
        </p:nvSpPr>
        <p:spPr>
          <a:xfrm>
            <a:off x="336551" y="5872740"/>
            <a:ext cx="11512550" cy="798581"/>
          </a:xfrm>
          <a:prstGeom prst="rect">
            <a:avLst/>
          </a:prstGeom>
          <a:noFill/>
          <a:ln w="25400">
            <a:noFill/>
          </a:ln>
          <a:effec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marL="9525" algn="ctr"/>
            <a:r>
              <a:rPr lang="en-GB" sz="2400" b="1" dirty="0">
                <a:solidFill>
                  <a:schemeClr val="accent2">
                    <a:lumMod val="50000"/>
                  </a:schemeClr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Stephanie Evert &amp; Michaela Mahlberg</a:t>
            </a:r>
            <a:endParaRPr lang="en-US" sz="2400" dirty="0">
              <a:solidFill>
                <a:schemeClr val="accent2">
                  <a:lumMod val="50000"/>
                </a:schemeClr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F9565-715D-91DC-A0E3-3DEF4044BC1D}"/>
              </a:ext>
            </a:extLst>
          </p:cNvPr>
          <p:cNvGrpSpPr/>
          <p:nvPr/>
        </p:nvGrpSpPr>
        <p:grpSpPr>
          <a:xfrm>
            <a:off x="10337369" y="5728675"/>
            <a:ext cx="1803752" cy="1208316"/>
            <a:chOff x="3511630" y="417286"/>
            <a:chExt cx="5701633" cy="3207169"/>
          </a:xfrm>
        </p:grpSpPr>
        <p:pic>
          <p:nvPicPr>
            <p:cNvPr id="21" name="Picture 20" descr="A black screen with a white border&#10;&#10;Description automatically generated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11630" y="417286"/>
              <a:ext cx="5701633" cy="3207169"/>
            </a:xfrm>
            <a:prstGeom prst="rect">
              <a:avLst/>
            </a:prstGeom>
          </p:spPr>
        </p:pic>
        <p:pic>
          <p:nvPicPr>
            <p:cNvPr id="1036" name="Picture 12" descr="Image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705" r="6032"/>
            <a:stretch>
              <a:fillRect/>
            </a:stretch>
          </p:blipFill>
          <p:spPr bwMode="auto">
            <a:xfrm>
              <a:off x="3916325" y="585969"/>
              <a:ext cx="4944139" cy="2601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1" name="Picture 1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1240" y="5021154"/>
            <a:ext cx="2106591" cy="499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2A21E52-34BC-F9E0-9C6B-6668245D70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7149" y="5163497"/>
            <a:ext cx="2511354" cy="324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8E96232E-D99C-4442-E83E-DC75693EE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169" y="4948407"/>
            <a:ext cx="2511354" cy="63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772A65-CCB4-DB4C-8DC4-6895D43EE36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783" y="172716"/>
            <a:ext cx="2193359" cy="11913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9597A6-EAFF-C8A8-767C-CCA4715AFA7F}"/>
              </a:ext>
            </a:extLst>
          </p:cNvPr>
          <p:cNvSpPr txBox="1"/>
          <p:nvPr/>
        </p:nvSpPr>
        <p:spPr>
          <a:xfrm>
            <a:off x="1536324" y="3535294"/>
            <a:ext cx="9113004" cy="9880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 fontAlgn="base"/>
            <a:r>
              <a:rPr lang="en-GB" sz="2400" dirty="0">
                <a:latin typeface="FAUSans Office" panose="020B0504010101010104" pitchFamily="34" charset="77"/>
                <a:cs typeface="FAUSans Office" panose="020B0504010101010104" pitchFamily="34" charset="77"/>
              </a:rPr>
              <a:t>UTN Computational Linguistics Fall School</a:t>
            </a:r>
          </a:p>
          <a:p>
            <a:pPr algn="ctr" fontAlgn="base"/>
            <a:r>
              <a:rPr lang="en-GB" sz="2400" dirty="0">
                <a:latin typeface="FAUSans Office" panose="020B0504010101010104" pitchFamily="34" charset="77"/>
                <a:cs typeface="FAUSans Office" panose="020B0504010101010104" pitchFamily="34" charset="77"/>
              </a:rPr>
              <a:t>21–25 September 2026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526B14F-312E-F64D-0DB5-DA6331901BA8}"/>
              </a:ext>
            </a:extLst>
          </p:cNvPr>
          <p:cNvSpPr/>
          <p:nvPr/>
        </p:nvSpPr>
        <p:spPr>
          <a:xfrm>
            <a:off x="10843245" y="420897"/>
            <a:ext cx="792000" cy="792000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>
                <a:latin typeface="FAUSans Office" panose="020B0504010101010104" pitchFamily="34" charset="77"/>
                <a:cs typeface="FAUSans Office" panose="020B0504010101010104" pitchFamily="34" charset="77"/>
              </a:rPr>
              <a:t>2</a:t>
            </a:r>
            <a:endParaRPr lang="en-US" sz="4400" b="1" dirty="0"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963A-7EDF-7735-4277-86E77D969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0FC33-BFC3-3E3B-E79D-197D89BBA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learned so far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97E1D-C1A3-885E-0EB5-5DC4548D2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Concordances collect occurrences of a node for “vertical reading” </a:t>
            </a:r>
          </a:p>
          <a:p>
            <a:r>
              <a:rPr lang="en-US" dirty="0"/>
              <a:t>Help (corpus) linguists to identify recurrent patterns</a:t>
            </a:r>
          </a:p>
          <a:p>
            <a:r>
              <a:rPr lang="en-US" dirty="0"/>
              <a:t>It is not always easy to spot patterns in concordances</a:t>
            </a:r>
            <a:br>
              <a:rPr lang="en-US" dirty="0"/>
            </a:br>
            <a:r>
              <a:rPr lang="en-US" dirty="0"/>
              <a:t>(except for educational and famous examples)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52537-943A-E12E-5162-78704FD95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4A85FF-1A5F-2288-1A6C-36552337D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</a:t>
            </a:fld>
            <a:endParaRPr lang="en-GB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0EAF333-0ADF-3F59-5B95-2C49625C0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495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A412-76F6-9465-2D32-1CD7FB09E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353801" cy="1208315"/>
          </a:xfrm>
        </p:spPr>
        <p:txBody>
          <a:bodyPr>
            <a:normAutofit/>
          </a:bodyPr>
          <a:lstStyle/>
          <a:p>
            <a:r>
              <a:rPr lang="en-DE" dirty="0"/>
              <a:t>Recap: Theoretical foundations 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46DCA-F8A5-22F3-F68D-60AE9AEDC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039438"/>
          </a:xfrm>
        </p:spPr>
        <p:txBody>
          <a:bodyPr/>
          <a:lstStyle/>
          <a:p>
            <a:r>
              <a:rPr lang="en-DE" dirty="0"/>
              <a:t> Lexicogrammatical level: </a:t>
            </a:r>
          </a:p>
          <a:p>
            <a:pPr lvl="1"/>
            <a:r>
              <a:rPr lang="en-GB" dirty="0"/>
              <a:t>L</a:t>
            </a:r>
            <a:r>
              <a:rPr lang="en-DE" dirty="0"/>
              <a:t>exical item</a:t>
            </a:r>
          </a:p>
          <a:p>
            <a:pPr lvl="1"/>
            <a:r>
              <a:rPr lang="en-DE" dirty="0"/>
              <a:t>Patterns (as in Pattern Grammar)</a:t>
            </a:r>
          </a:p>
          <a:p>
            <a:pPr lvl="1"/>
            <a:endParaRPr lang="en-DE" dirty="0"/>
          </a:p>
          <a:p>
            <a:r>
              <a:rPr lang="en-DE" dirty="0"/>
              <a:t>Textual level</a:t>
            </a:r>
          </a:p>
          <a:p>
            <a:pPr lvl="1"/>
            <a:r>
              <a:rPr lang="en-DE" dirty="0"/>
              <a:t>Local textual functions </a:t>
            </a:r>
          </a:p>
          <a:p>
            <a:pPr lvl="1"/>
            <a:r>
              <a:rPr lang="en-DE" dirty="0"/>
              <a:t>Lexical Priming (Hoey 2005) </a:t>
            </a:r>
          </a:p>
          <a:p>
            <a:pPr lvl="1"/>
            <a:endParaRPr lang="en-DE" dirty="0"/>
          </a:p>
          <a:p>
            <a:r>
              <a:rPr lang="en-DE" dirty="0"/>
              <a:t>Purpose of the analysis:</a:t>
            </a:r>
          </a:p>
          <a:p>
            <a:pPr lvl="1"/>
            <a:r>
              <a:rPr lang="en-DE" dirty="0"/>
              <a:t>The study of fiction requires a </a:t>
            </a:r>
            <a:r>
              <a:rPr lang="en-GB" dirty="0"/>
              <a:t>“</a:t>
            </a:r>
            <a:r>
              <a:rPr lang="en-DE" dirty="0"/>
              <a:t>fiction-specific</a:t>
            </a:r>
            <a:r>
              <a:rPr lang="en-US" dirty="0"/>
              <a:t>”</a:t>
            </a:r>
            <a:r>
              <a:rPr lang="en-DE" dirty="0"/>
              <a:t> approach</a:t>
            </a:r>
            <a:r>
              <a:rPr lang="en-US" dirty="0"/>
              <a:t>, different from analysing socio-political debate around environmental issues</a:t>
            </a:r>
            <a:endParaRPr lang="en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A6EC24-9FE4-CB54-C552-B95D0AB2C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40967"/>
            <a:ext cx="2743200" cy="317031"/>
          </a:xfrm>
        </p:spPr>
        <p:txBody>
          <a:bodyPr/>
          <a:lstStyle/>
          <a:p>
            <a:fld id="{B2EB7B1D-155F-DE45-A4D9-3453DB08EE0D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B41750-34EB-0AF8-2B16-854991915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B5846D-049B-D87A-85C1-537DCD54DB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</p:spPr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872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34D82-2528-0664-6E74-9AD89E5F9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067504" cy="1208315"/>
          </a:xfrm>
        </p:spPr>
        <p:txBody>
          <a:bodyPr>
            <a:normAutofit fontScale="90000"/>
          </a:bodyPr>
          <a:lstStyle/>
          <a:p>
            <a:r>
              <a:rPr lang="en-US" dirty="0"/>
              <a:t>Methodology: a reading procedure (Sinclair 2003)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CC8A1-423B-5231-3900-CCBD4A8E5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0064" y="6540965"/>
            <a:ext cx="5071872" cy="317035"/>
          </a:xfr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F3293-7C47-DC6C-D172-69A0BEFA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AD912C-1FAE-66C1-40C8-2BF0A27BA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749" y="1420691"/>
            <a:ext cx="10254502" cy="495884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D05669F-E0F5-056D-3F56-55F54127C087}"/>
              </a:ext>
            </a:extLst>
          </p:cNvPr>
          <p:cNvSpPr/>
          <p:nvPr/>
        </p:nvSpPr>
        <p:spPr>
          <a:xfrm>
            <a:off x="1073889" y="1868895"/>
            <a:ext cx="1850064" cy="2532984"/>
          </a:xfrm>
          <a:prstGeom prst="rect">
            <a:avLst/>
          </a:prstGeom>
          <a:noFill/>
          <a:ln w="508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DF340540-D40D-25E1-CA6D-33535523B3CB}"/>
              </a:ext>
            </a:extLst>
          </p:cNvPr>
          <p:cNvCxnSpPr>
            <a:cxnSpLocks/>
          </p:cNvCxnSpPr>
          <p:nvPr/>
        </p:nvCxnSpPr>
        <p:spPr>
          <a:xfrm rot="10800000">
            <a:off x="1020726" y="2021785"/>
            <a:ext cx="106325" cy="2592000"/>
          </a:xfrm>
          <a:prstGeom prst="bentConnector3">
            <a:avLst>
              <a:gd name="adj1" fmla="val 555002"/>
            </a:avLst>
          </a:prstGeom>
          <a:ln w="44450">
            <a:solidFill>
              <a:schemeClr val="accent3">
                <a:lumMod val="50000"/>
              </a:schemeClr>
            </a:solidFill>
            <a:tailEnd type="arrow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3" name="Date Placeholder 5">
            <a:extLst>
              <a:ext uri="{FF2B5EF4-FFF2-40B4-BE49-F238E27FC236}">
                <a16:creationId xmlns:a16="http://schemas.microsoft.com/office/drawing/2014/main" id="{E5F04863-2A6A-DEEB-96B0-B70F69C469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40966"/>
            <a:ext cx="2743200" cy="317032"/>
          </a:xfrm>
        </p:spPr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046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3E960-B334-54ED-A0A0-3AC41895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Concordancing tools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D262B-9919-E85F-DF3D-0CBFACF8C9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021150"/>
          </a:xfrm>
        </p:spPr>
        <p:txBody>
          <a:bodyPr/>
          <a:lstStyle/>
          <a:p>
            <a:r>
              <a:rPr lang="en-GB" dirty="0"/>
              <a:t>A</a:t>
            </a:r>
            <a:r>
              <a:rPr lang="en-DE" dirty="0"/>
              <a:t>re created for different purposes</a:t>
            </a:r>
            <a:endParaRPr lang="en-US" dirty="0"/>
          </a:p>
          <a:p>
            <a:r>
              <a:rPr lang="en-DE" dirty="0"/>
              <a:t>Follow different traditions (cf. yesterday’s origin stories)</a:t>
            </a:r>
          </a:p>
          <a:p>
            <a:r>
              <a:rPr lang="en-DE" dirty="0"/>
              <a:t>Use different terminology (cf. concordance vs contexts) </a:t>
            </a:r>
          </a:p>
          <a:p>
            <a:r>
              <a:rPr lang="en-GB" dirty="0"/>
              <a:t>Combine functionalities (key words, n-grams, etc.) </a:t>
            </a:r>
          </a:p>
          <a:p>
            <a:r>
              <a:rPr lang="en-US" dirty="0"/>
              <a:t>Can be specialised or general-purpose</a:t>
            </a:r>
            <a:endParaRPr lang="en-DE" dirty="0"/>
          </a:p>
          <a:p>
            <a:r>
              <a:rPr lang="en-GB" dirty="0"/>
              <a:t>Can be web-based or standalone</a:t>
            </a:r>
          </a:p>
          <a:p>
            <a:r>
              <a:rPr lang="en-GB" dirty="0"/>
              <a:t>Often come with corpora</a:t>
            </a:r>
          </a:p>
          <a:p>
            <a:r>
              <a:rPr lang="en-GB" dirty="0"/>
              <a:t>Are continuously developed (until they aren’t)</a:t>
            </a:r>
          </a:p>
          <a:p>
            <a:r>
              <a:rPr lang="en-GB" dirty="0"/>
              <a:t>Provide user support (hopefully)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6341F-7593-EAB3-021A-138B29A96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67F86-83BF-2790-C243-196A629F9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3A296-CA94-7BEA-6D8D-8B148CF0E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5744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3C244-5049-15CE-586D-CCF1A0DC0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Concordancing tools: CQPweb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D1021D8-DC13-A7BA-1B4D-B7BE503556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885" b="18058"/>
          <a:stretch>
            <a:fillRect/>
          </a:stretch>
        </p:blipFill>
        <p:spPr>
          <a:xfrm>
            <a:off x="0" y="1208315"/>
            <a:ext cx="12192000" cy="533205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1A74E0-9627-83B3-8800-8CE5C0FA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56987-1CD7-2067-68EB-D500CFC39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E7DBA8-E2E8-B1F2-5B01-466CB5C0B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4679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BD0779F-042E-047B-2628-52AD16A945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7939" y="1237190"/>
            <a:ext cx="4049378" cy="52997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57C6ED5-BC1D-7B48-70EE-B12F96FA8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353801" cy="1208315"/>
          </a:xfrm>
        </p:spPr>
        <p:txBody>
          <a:bodyPr/>
          <a:lstStyle/>
          <a:p>
            <a:r>
              <a:rPr lang="en-US"/>
              <a:t>CQPweb: A hands-on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D5BF91-EEB8-68D7-FAA8-1F2357573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4787075"/>
          </a:xfrm>
        </p:spPr>
        <p:txBody>
          <a:bodyPr/>
          <a:lstStyle/>
          <a:p>
            <a:r>
              <a:rPr lang="en-US"/>
              <a:t>Goal: Understand this [</a:t>
            </a:r>
            <a:r>
              <a:rPr lang="en-US">
                <a:solidFill>
                  <a:schemeClr val="accent5">
                    <a:lumMod val="50000"/>
                  </a:schemeClr>
                </a:solidFill>
                <a:sym typeface="Wingdings" pitchFamily="2" charset="2"/>
              </a:rPr>
              <a:t>➞</a:t>
            </a:r>
            <a:r>
              <a:rPr lang="en-US"/>
              <a:t>] guy's rhetoric,</a:t>
            </a:r>
            <a:br>
              <a:rPr lang="en-US"/>
            </a:br>
            <a:r>
              <a:rPr lang="en-US"/>
              <a:t>terminology, phraseology and topics</a:t>
            </a:r>
          </a:p>
          <a:p>
            <a:pPr lvl="2"/>
            <a:endParaRPr lang="en-US"/>
          </a:p>
          <a:p>
            <a:r>
              <a:rPr lang="en-US"/>
              <a:t>We need a large collection of texts written</a:t>
            </a:r>
            <a:br>
              <a:rPr lang="en-US"/>
            </a:br>
            <a:r>
              <a:rPr lang="en-US"/>
              <a:t>by Trump, e.g. the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Trump Twitter Archive </a:t>
            </a:r>
            <a:r>
              <a:rPr lang="en-US"/>
              <a:t>[</a:t>
            </a:r>
            <a:r>
              <a:rPr lang="en-US">
                <a:hlinkClick r:id="rId4"/>
              </a:rPr>
              <a:t>www.thetrumparchive.com</a:t>
            </a:r>
            <a:r>
              <a:rPr lang="en-US"/>
              <a:t>]</a:t>
            </a:r>
          </a:p>
          <a:p>
            <a:pPr lvl="2"/>
            <a:endParaRPr lang="en-US"/>
          </a:p>
          <a:p>
            <a:r>
              <a:rPr lang="en-US"/>
              <a:t>Step 1: Compile a linguistic corpus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</a:rPr>
              <a:t>🗸</a:t>
            </a:r>
          </a:p>
          <a:p>
            <a:r>
              <a:rPr lang="en-US"/>
              <a:t>Step 2: Upload to indexing &amp; search engine </a:t>
            </a:r>
            <a:r>
              <a:rPr lang="en-US" b="1">
                <a:solidFill>
                  <a:schemeClr val="accent3">
                    <a:lumMod val="50000"/>
                  </a:schemeClr>
                </a:solidFill>
              </a:rPr>
              <a:t>🗸</a:t>
            </a:r>
            <a:endParaRPr lang="en-US"/>
          </a:p>
          <a:p>
            <a:r>
              <a:rPr lang="en-US"/>
              <a:t>Step 3: Analyse through concordance reading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06C07EF-337F-BA27-7623-807D07339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40500"/>
            <a:ext cx="2743200" cy="317500"/>
          </a:xfrm>
        </p:spPr>
        <p:txBody>
          <a:bodyPr/>
          <a:lstStyle/>
          <a:p>
            <a:fld id="{B0613C82-7869-6749-8B64-6E6BEACED82A}" type="slidenum">
              <a:rPr lang="de-DE"/>
              <a:pPr/>
              <a:t>7</a:t>
            </a:fld>
            <a:endParaRPr lang="de-D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8CBC7C-45BB-8275-E232-A1D6F3FC1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8E11D2-5CED-2B3F-E56C-72D3EE649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</p:spTree>
    <p:extLst>
      <p:ext uri="{BB962C8B-B14F-4D97-AF65-F5344CB8AC3E}">
        <p14:creationId xmlns:p14="http://schemas.microsoft.com/office/powerpoint/2010/main" val="4094914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40141-C606-F38E-6CCF-8E4AE0E81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52E1E7D-BDAC-B6B4-B66B-2B302D190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CQPweb: A hands-on example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68AEE4-0149-F2BF-D286-F73F7AB1E7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353800" cy="2169021"/>
          </a:xfrm>
        </p:spPr>
        <p:txBody>
          <a:bodyPr/>
          <a:lstStyle/>
          <a:p>
            <a:r>
              <a:rPr lang="en-US"/>
              <a:t>CQPweb server @ FAU:</a:t>
            </a:r>
            <a:br>
              <a:rPr lang="en-US"/>
            </a:br>
            <a:r>
              <a:rPr lang="en-US">
                <a:solidFill>
                  <a:schemeClr val="accent4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https://corpora.linguistik.uni-erlangen.de/cqpweb/</a:t>
            </a:r>
            <a:r>
              <a:rPr lang="en-US">
                <a:solidFill>
                  <a:schemeClr val="accent4">
                    <a:lumMod val="50000"/>
                  </a:schemeClr>
                </a:solidFill>
              </a:rPr>
              <a:t> </a:t>
            </a:r>
          </a:p>
          <a:p>
            <a:r>
              <a:rPr lang="en-US"/>
              <a:t>Login: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student1</a:t>
            </a:r>
            <a:r>
              <a:rPr lang="en-US"/>
              <a:t> …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student15</a:t>
            </a:r>
            <a:r>
              <a:rPr lang="en-US"/>
              <a:t> | password: </a:t>
            </a:r>
            <a:r>
              <a:rPr lang="en-US" sz="2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••••••••</a:t>
            </a:r>
          </a:p>
          <a:p>
            <a:pPr lvl="1"/>
            <a:endParaRPr lang="en-US"/>
          </a:p>
          <a:p>
            <a:endParaRPr lang="en-US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339F8877-39E8-55B5-6E78-74A44F180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58" y="1240727"/>
            <a:ext cx="1755942" cy="175594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495FB6-3AC9-449D-69ED-7144C909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22 Sep 2026 | © RC21 Team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89577-58D0-3050-0755-CCBD23B1F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9C30B-979A-D47E-3984-D8AE3AA6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8</a:t>
            </a:fld>
            <a:endParaRPr lang="en-GB"/>
          </a:p>
        </p:txBody>
      </p:sp>
      <p:pic>
        <p:nvPicPr>
          <p:cNvPr id="9" name="Picture 8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DA2D9117-A83E-BCE5-C4F2-01E9C933630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9922" b="34917"/>
          <a:stretch>
            <a:fillRect/>
          </a:stretch>
        </p:blipFill>
        <p:spPr>
          <a:xfrm>
            <a:off x="1043092" y="3215148"/>
            <a:ext cx="10033000" cy="36428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7654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BE7C946-576F-5140-955A-56ACDA67D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Simple search</a:t>
            </a:r>
          </a:p>
        </p:txBody>
      </p:sp>
      <p:pic>
        <p:nvPicPr>
          <p:cNvPr id="8" name="Picture 7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4A99FD48-8E13-8340-AAC9-33F5E7BD11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917" b="4914"/>
          <a:stretch>
            <a:fillRect/>
          </a:stretch>
        </p:blipFill>
        <p:spPr>
          <a:xfrm>
            <a:off x="1049868" y="1233373"/>
            <a:ext cx="10033000" cy="56246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Left Arrow 8">
            <a:extLst>
              <a:ext uri="{FF2B5EF4-FFF2-40B4-BE49-F238E27FC236}">
                <a16:creationId xmlns:a16="http://schemas.microsoft.com/office/drawing/2014/main" id="{1C639066-7645-CA49-BD33-407D4E3525B8}"/>
              </a:ext>
            </a:extLst>
          </p:cNvPr>
          <p:cNvSpPr/>
          <p:nvPr/>
        </p:nvSpPr>
        <p:spPr>
          <a:xfrm rot="1100332">
            <a:off x="5424138" y="2423891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2369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232FC-6BFF-1B42-8872-666D2C588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Concordance (kwic = key word in context)</a:t>
            </a:r>
          </a:p>
        </p:txBody>
      </p:sp>
      <p:pic>
        <p:nvPicPr>
          <p:cNvPr id="6" name="Picture 5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E6D80208-4259-FB43-A4E7-7E9B53711E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89" b="4764"/>
          <a:stretch>
            <a:fillRect/>
          </a:stretch>
        </p:blipFill>
        <p:spPr>
          <a:xfrm>
            <a:off x="1079500" y="1234977"/>
            <a:ext cx="10033000" cy="56230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7B13B7A2-E5D2-9845-81B0-A75D8516E69A}"/>
              </a:ext>
            </a:extLst>
          </p:cNvPr>
          <p:cNvGrpSpPr/>
          <p:nvPr/>
        </p:nvGrpSpPr>
        <p:grpSpPr>
          <a:xfrm>
            <a:off x="9209459" y="1630873"/>
            <a:ext cx="2644815" cy="776891"/>
            <a:chOff x="9209459" y="1316239"/>
            <a:chExt cx="2644815" cy="77689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9C78D6A-BB28-CE48-A590-0E628FC1224D}"/>
                </a:ext>
              </a:extLst>
            </p:cNvPr>
            <p:cNvSpPr txBox="1"/>
            <p:nvPr/>
          </p:nvSpPr>
          <p:spPr>
            <a:xfrm>
              <a:off x="10020873" y="1441225"/>
              <a:ext cx="1833401" cy="651905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frequency information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0C686BE-D121-0840-9F76-48214CA9F32E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 flipV="1">
              <a:off x="9209459" y="1316239"/>
              <a:ext cx="811414" cy="450939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9EA8A-E969-7E4F-8365-694CEF3AF39D}"/>
              </a:ext>
            </a:extLst>
          </p:cNvPr>
          <p:cNvGrpSpPr/>
          <p:nvPr/>
        </p:nvGrpSpPr>
        <p:grpSpPr>
          <a:xfrm>
            <a:off x="6973420" y="2143367"/>
            <a:ext cx="2475952" cy="1013273"/>
            <a:chOff x="8340851" y="1248175"/>
            <a:chExt cx="2475952" cy="101327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6D71975-FEA4-5C41-A258-1EF3F20B2BF6}"/>
                </a:ext>
              </a:extLst>
            </p:cNvPr>
            <p:cNvSpPr txBox="1"/>
            <p:nvPr/>
          </p:nvSpPr>
          <p:spPr>
            <a:xfrm>
              <a:off x="8340851" y="1917320"/>
              <a:ext cx="2475952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random ordering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5E0D024-C712-874D-872A-F046071CC04D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9152188" y="1248175"/>
              <a:ext cx="426639" cy="669145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7EFB54F-B7E3-DD4F-B9D7-F16096FAF09B}"/>
              </a:ext>
            </a:extLst>
          </p:cNvPr>
          <p:cNvGrpSpPr/>
          <p:nvPr/>
        </p:nvGrpSpPr>
        <p:grpSpPr>
          <a:xfrm>
            <a:off x="7687678" y="3769098"/>
            <a:ext cx="3136841" cy="469114"/>
            <a:chOff x="9209459" y="1316239"/>
            <a:chExt cx="3136841" cy="46911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2A5E18A-8DBA-BF42-A8CA-10146FF39E9F}"/>
                </a:ext>
              </a:extLst>
            </p:cNvPr>
            <p:cNvSpPr txBox="1"/>
            <p:nvPr/>
          </p:nvSpPr>
          <p:spPr>
            <a:xfrm>
              <a:off x="10020873" y="1441225"/>
              <a:ext cx="2325427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click for context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2F72494-DB37-5F4D-A764-45DE03C87CD9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flipH="1" flipV="1">
              <a:off x="9209459" y="1316239"/>
              <a:ext cx="811414" cy="297050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A21AB48-AEA7-364A-88C2-03EC1333DCF6}"/>
              </a:ext>
            </a:extLst>
          </p:cNvPr>
          <p:cNvGrpSpPr/>
          <p:nvPr/>
        </p:nvGrpSpPr>
        <p:grpSpPr>
          <a:xfrm>
            <a:off x="650880" y="3769099"/>
            <a:ext cx="2475952" cy="2467351"/>
            <a:chOff x="8328494" y="447863"/>
            <a:chExt cx="2475952" cy="2467351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E38E98B-B851-9941-8B4E-6C8091E1CB29}"/>
                </a:ext>
              </a:extLst>
            </p:cNvPr>
            <p:cNvSpPr txBox="1"/>
            <p:nvPr/>
          </p:nvSpPr>
          <p:spPr>
            <a:xfrm>
              <a:off x="8328494" y="2263309"/>
              <a:ext cx="2475952" cy="651905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click / hover</a:t>
              </a:r>
              <a:b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for metadata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B5388BD-D379-D94A-9C19-35ED2E2A375A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V="1">
              <a:off x="9566470" y="447863"/>
              <a:ext cx="0" cy="1815446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9840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D16A7-7429-E24C-A45B-D3471362D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Extended context display with formatting</a:t>
            </a:r>
          </a:p>
        </p:txBody>
      </p:sp>
      <p:pic>
        <p:nvPicPr>
          <p:cNvPr id="6" name="Picture 5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8394C2F9-78B2-9F46-B3D1-BEC699752B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730" b="6433"/>
          <a:stretch>
            <a:fillRect/>
          </a:stretch>
        </p:blipFill>
        <p:spPr>
          <a:xfrm>
            <a:off x="1079500" y="1247643"/>
            <a:ext cx="10033000" cy="55366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EDA1549-EAC5-C244-B084-07670D73D1C6}"/>
              </a:ext>
            </a:extLst>
          </p:cNvPr>
          <p:cNvGrpSpPr/>
          <p:nvPr/>
        </p:nvGrpSpPr>
        <p:grpSpPr>
          <a:xfrm>
            <a:off x="6737646" y="3988518"/>
            <a:ext cx="3299254" cy="344128"/>
            <a:chOff x="9121186" y="1095236"/>
            <a:chExt cx="3299254" cy="34412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EF1B89B-8119-214D-A91B-6D1F8458869E}"/>
                </a:ext>
              </a:extLst>
            </p:cNvPr>
            <p:cNvSpPr txBox="1"/>
            <p:nvPr/>
          </p:nvSpPr>
          <p:spPr>
            <a:xfrm>
              <a:off x="10095013" y="1095236"/>
              <a:ext cx="2325427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this is the match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8FD5E32-392A-8444-829F-BBF4F9D8F59A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9121186" y="1267300"/>
              <a:ext cx="973827" cy="30778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33976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52C1D-03D2-624C-AA5C-EB88E92E9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Sorted concordance: </a:t>
            </a:r>
            <a:r>
              <a:rPr lang="en-US" i="1"/>
              <a:t>great</a:t>
            </a:r>
            <a:endParaRPr lang="en-US"/>
          </a:p>
        </p:txBody>
      </p:sp>
      <p:pic>
        <p:nvPicPr>
          <p:cNvPr id="6" name="Picture 5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80EAF154-AA58-8C43-8B59-D972C310B13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89" b="4764"/>
          <a:stretch>
            <a:fillRect/>
          </a:stretch>
        </p:blipFill>
        <p:spPr>
          <a:xfrm>
            <a:off x="1079500" y="1234977"/>
            <a:ext cx="10033000" cy="56230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63A55C9-F8FD-2E4B-9D30-FE532C21BAA5}"/>
              </a:ext>
            </a:extLst>
          </p:cNvPr>
          <p:cNvGrpSpPr/>
          <p:nvPr/>
        </p:nvGrpSpPr>
        <p:grpSpPr>
          <a:xfrm>
            <a:off x="7784758" y="945412"/>
            <a:ext cx="2017540" cy="1025026"/>
            <a:chOff x="10402539" y="-1504286"/>
            <a:chExt cx="2017540" cy="102502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0C5250A-C6A6-B242-95C5-FC74773576CD}"/>
                </a:ext>
              </a:extLst>
            </p:cNvPr>
            <p:cNvSpPr txBox="1"/>
            <p:nvPr/>
          </p:nvSpPr>
          <p:spPr>
            <a:xfrm>
              <a:off x="10402539" y="-1504286"/>
              <a:ext cx="2017540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action menu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0300515-2ECD-FA4C-B90E-01EC3FD72C51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411309" y="-1160158"/>
              <a:ext cx="362829" cy="680898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12" name="Left Arrow 11">
            <a:extLst>
              <a:ext uri="{FF2B5EF4-FFF2-40B4-BE49-F238E27FC236}">
                <a16:creationId xmlns:a16="http://schemas.microsoft.com/office/drawing/2014/main" id="{2E94D4EC-AA38-5546-B50A-D2D993E6780E}"/>
              </a:ext>
            </a:extLst>
          </p:cNvPr>
          <p:cNvSpPr/>
          <p:nvPr/>
        </p:nvSpPr>
        <p:spPr>
          <a:xfrm>
            <a:off x="9896109" y="2735373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134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0D684-2508-944F-A57B-20A681279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Frequency breakdown: </a:t>
            </a:r>
            <a:r>
              <a:rPr lang="en-US" i="1"/>
              <a:t>fake</a:t>
            </a:r>
            <a:endParaRPr lang="en-US"/>
          </a:p>
        </p:txBody>
      </p:sp>
      <p:pic>
        <p:nvPicPr>
          <p:cNvPr id="6" name="Picture 5" descr="Table&#10;&#10;Description automatically generated with medium confidence">
            <a:extLst>
              <a:ext uri="{FF2B5EF4-FFF2-40B4-BE49-F238E27FC236}">
                <a16:creationId xmlns:a16="http://schemas.microsoft.com/office/drawing/2014/main" id="{C9C029EC-50A9-F14D-8C43-222A42D657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270" b="4615"/>
          <a:stretch>
            <a:fillRect/>
          </a:stretch>
        </p:blipFill>
        <p:spPr>
          <a:xfrm>
            <a:off x="1079500" y="1237035"/>
            <a:ext cx="10033000" cy="5620966"/>
          </a:xfrm>
          <a:prstGeom prst="rect">
            <a:avLst/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</p:pic>
      <p:sp>
        <p:nvSpPr>
          <p:cNvPr id="7" name="Left Arrow 6">
            <a:extLst>
              <a:ext uri="{FF2B5EF4-FFF2-40B4-BE49-F238E27FC236}">
                <a16:creationId xmlns:a16="http://schemas.microsoft.com/office/drawing/2014/main" id="{31052C17-FC4B-D544-8FDD-7FD8DEF10A7D}"/>
              </a:ext>
            </a:extLst>
          </p:cNvPr>
          <p:cNvSpPr/>
          <p:nvPr/>
        </p:nvSpPr>
        <p:spPr>
          <a:xfrm>
            <a:off x="4790634" y="2169489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7862B5C-92ED-CF40-BB54-D3A8C7C49967}"/>
              </a:ext>
            </a:extLst>
          </p:cNvPr>
          <p:cNvGrpSpPr/>
          <p:nvPr/>
        </p:nvGrpSpPr>
        <p:grpSpPr>
          <a:xfrm>
            <a:off x="8544232" y="565590"/>
            <a:ext cx="3411793" cy="850258"/>
            <a:chOff x="14424198" y="-1366046"/>
            <a:chExt cx="3411793" cy="85025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BC454F2-8A47-1D41-87EC-EE713377D653}"/>
                </a:ext>
              </a:extLst>
            </p:cNvPr>
            <p:cNvSpPr txBox="1"/>
            <p:nvPr/>
          </p:nvSpPr>
          <p:spPr>
            <a:xfrm>
              <a:off x="15619686" y="-1366046"/>
              <a:ext cx="2216305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full process history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89EA7F7-4906-DC43-B9F8-97691569CDFA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14424198" y="-1193982"/>
              <a:ext cx="1195488" cy="678194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8276A8F-75EB-BB49-9BD9-1995BC31A0C3}"/>
              </a:ext>
            </a:extLst>
          </p:cNvPr>
          <p:cNvSpPr/>
          <p:nvPr/>
        </p:nvSpPr>
        <p:spPr>
          <a:xfrm>
            <a:off x="1124465" y="2800868"/>
            <a:ext cx="9860692" cy="333632"/>
          </a:xfrm>
          <a:prstGeom prst="roundRect">
            <a:avLst/>
          </a:prstGeom>
          <a:noFill/>
          <a:ln w="635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8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28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65D40-DCE3-B34D-87E4-4D5056C98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 for a closer look: </a:t>
            </a:r>
            <a:r>
              <a:rPr lang="en-US" i="1"/>
              <a:t>fake news</a:t>
            </a:r>
            <a:endParaRPr lang="en-US"/>
          </a:p>
        </p:txBody>
      </p:sp>
      <p:pic>
        <p:nvPicPr>
          <p:cNvPr id="6" name="Picture 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9476DD38-337F-6849-A666-9EE262582D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631" b="4317"/>
          <a:stretch>
            <a:fillRect/>
          </a:stretch>
        </p:blipFill>
        <p:spPr>
          <a:xfrm>
            <a:off x="1079500" y="1241209"/>
            <a:ext cx="10033000" cy="56167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Left Arrow 6">
            <a:extLst>
              <a:ext uri="{FF2B5EF4-FFF2-40B4-BE49-F238E27FC236}">
                <a16:creationId xmlns:a16="http://schemas.microsoft.com/office/drawing/2014/main" id="{464FE8CC-6307-BB45-8F89-E55C8C4F18AE}"/>
              </a:ext>
            </a:extLst>
          </p:cNvPr>
          <p:cNvSpPr/>
          <p:nvPr/>
        </p:nvSpPr>
        <p:spPr>
          <a:xfrm rot="2131877">
            <a:off x="5564358" y="4621173"/>
            <a:ext cx="720000" cy="288000"/>
          </a:xfrm>
          <a:prstGeom prst="leftArrow">
            <a:avLst>
              <a:gd name="adj1" fmla="val 50000"/>
              <a:gd name="adj2" fmla="val 63793"/>
            </a:avLst>
          </a:prstGeom>
          <a:gradFill>
            <a:gsLst>
              <a:gs pos="0">
                <a:schemeClr val="accent2"/>
              </a:gs>
              <a:gs pos="50000">
                <a:schemeClr val="accent2">
                  <a:lumMod val="90000"/>
                </a:schemeClr>
              </a:gs>
              <a:gs pos="100000">
                <a:schemeClr val="accent2">
                  <a:lumMod val="50000"/>
                </a:schemeClr>
              </a:gs>
            </a:gsLst>
          </a:gra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390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D3046-A362-D548-89B2-C038FBA91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Distribution across metadata categories</a:t>
            </a:r>
          </a:p>
        </p:txBody>
      </p:sp>
      <p:pic>
        <p:nvPicPr>
          <p:cNvPr id="6" name="Picture 5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37895521-49E7-A14D-96FC-6764133007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270"/>
          <a:stretch/>
        </p:blipFill>
        <p:spPr>
          <a:xfrm>
            <a:off x="1079500" y="932231"/>
            <a:ext cx="10033000" cy="59257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 descr="Table&#10;&#10;Description automatically generated">
            <a:extLst>
              <a:ext uri="{FF2B5EF4-FFF2-40B4-BE49-F238E27FC236}">
                <a16:creationId xmlns:a16="http://schemas.microsoft.com/office/drawing/2014/main" id="{03F99E13-1C20-B24A-AC38-8247364A4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386" y="4169960"/>
            <a:ext cx="10922000" cy="2152650"/>
          </a:xfrm>
          <a:prstGeom prst="rect">
            <a:avLst/>
          </a:prstGeom>
          <a:ln w="38100">
            <a:solidFill>
              <a:schemeClr val="tx2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 descr="Table&#10;&#10;Description automatically generated">
            <a:extLst>
              <a:ext uri="{FF2B5EF4-FFF2-40B4-BE49-F238E27FC236}">
                <a16:creationId xmlns:a16="http://schemas.microsoft.com/office/drawing/2014/main" id="{C24A737D-383B-264C-BAE4-4F39A6D6F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426" y="3131736"/>
            <a:ext cx="7124700" cy="2127250"/>
          </a:xfrm>
          <a:prstGeom prst="rect">
            <a:avLst/>
          </a:prstGeom>
          <a:ln w="38100">
            <a:solidFill>
              <a:schemeClr val="tx2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8640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F18C7-57E7-9347-A37A-DA4619075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Collocation analysis</a:t>
            </a:r>
          </a:p>
        </p:txBody>
      </p:sp>
      <p:pic>
        <p:nvPicPr>
          <p:cNvPr id="6" name="Picture 5" descr="Graphical user interface&#10;&#10;Description automatically generated with medium confidence">
            <a:extLst>
              <a:ext uri="{FF2B5EF4-FFF2-40B4-BE49-F238E27FC236}">
                <a16:creationId xmlns:a16="http://schemas.microsoft.com/office/drawing/2014/main" id="{F65A78F2-159A-4C49-84B4-1E8F5350E7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090" b="5508"/>
          <a:stretch>
            <a:fillRect/>
          </a:stretch>
        </p:blipFill>
        <p:spPr>
          <a:xfrm>
            <a:off x="1079500" y="1284139"/>
            <a:ext cx="10033000" cy="5573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EF656597-AF2A-2A46-A7C9-7E338A3B5E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9" r="528" b="18323"/>
          <a:stretch/>
        </p:blipFill>
        <p:spPr>
          <a:xfrm>
            <a:off x="3867400" y="5122020"/>
            <a:ext cx="8155460" cy="1381516"/>
          </a:xfrm>
          <a:prstGeom prst="rect">
            <a:avLst/>
          </a:prstGeom>
          <a:ln w="38100">
            <a:solidFill>
              <a:schemeClr val="tx2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01E1859-98BD-7548-87D6-A4F659F00BD1}"/>
              </a:ext>
            </a:extLst>
          </p:cNvPr>
          <p:cNvGrpSpPr/>
          <p:nvPr/>
        </p:nvGrpSpPr>
        <p:grpSpPr>
          <a:xfrm>
            <a:off x="3793524" y="495081"/>
            <a:ext cx="4349579" cy="1561591"/>
            <a:chOff x="9311025" y="-1504286"/>
            <a:chExt cx="4349579" cy="156159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0FA296-946D-2D4C-9A76-B3983E8845AE}"/>
                </a:ext>
              </a:extLst>
            </p:cNvPr>
            <p:cNvSpPr txBox="1"/>
            <p:nvPr/>
          </p:nvSpPr>
          <p:spPr>
            <a:xfrm>
              <a:off x="11072727" y="-1504286"/>
              <a:ext cx="2222090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key parameters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B99A554-5437-814C-8BF1-21DDB9B481F8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flipH="1">
              <a:off x="9311025" y="-1160158"/>
              <a:ext cx="2872747" cy="957971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DD63C0B-7E52-0E42-AB80-3577BCE3B772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12183772" y="-1160158"/>
              <a:ext cx="1476832" cy="883830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A05B1C2-1E81-1A44-B501-5EF88FF41799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12183772" y="-1160158"/>
              <a:ext cx="1464475" cy="1192749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4A819C6-7AAF-9F49-B2A9-26A224883986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flipH="1">
              <a:off x="9669371" y="-1160158"/>
              <a:ext cx="2514401" cy="1217463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266699B-0BFF-4140-854A-9BCF7CCF0C80}"/>
              </a:ext>
            </a:extLst>
          </p:cNvPr>
          <p:cNvGrpSpPr/>
          <p:nvPr/>
        </p:nvGrpSpPr>
        <p:grpSpPr>
          <a:xfrm>
            <a:off x="7698259" y="3923836"/>
            <a:ext cx="3719385" cy="479925"/>
            <a:chOff x="9220040" y="2296886"/>
            <a:chExt cx="3719385" cy="479925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0B81A53-29D3-BA4E-B64A-4361297C5B54}"/>
                </a:ext>
              </a:extLst>
            </p:cNvPr>
            <p:cNvSpPr txBox="1"/>
            <p:nvPr/>
          </p:nvSpPr>
          <p:spPr>
            <a:xfrm>
              <a:off x="10095014" y="2296886"/>
              <a:ext cx="2844411" cy="344128"/>
            </a:xfrm>
            <a:prstGeom prst="rect">
              <a:avLst/>
            </a:prstGeom>
            <a:noFill/>
            <a:effectLst/>
          </p:spPr>
          <p:txBody>
            <a:bodyPr wrap="square" lIns="72000" tIns="18000" rIns="72000" bIns="18000" rtlCol="0">
              <a:spAutoFit/>
            </a:bodyPr>
            <a:lstStyle/>
            <a:p>
              <a:r>
                <a:rPr lang="en-US" sz="2000" b="1" dirty="0" err="1">
                  <a:solidFill>
                    <a:schemeClr val="accent2">
                      <a:lumMod val="50000"/>
                    </a:schemeClr>
                  </a:solidFill>
                  <a:effectLst>
                    <a:glow rad="101600">
                      <a:schemeClr val="bg1">
                        <a:alpha val="70000"/>
                      </a:schemeClr>
                    </a:glow>
                  </a:effectLst>
                  <a:latin typeface="Calibri" panose="020F0502020204030204" pitchFamily="34" charset="0"/>
                  <a:cs typeface="Calibri" panose="020F0502020204030204" pitchFamily="34" charset="0"/>
                </a:rPr>
                <a:t>click for examples</a:t>
              </a:r>
              <a:endParaRPr lang="en-US" sz="2000" dirty="0" err="1">
                <a:solidFill>
                  <a:schemeClr val="accent2">
                    <a:lumMod val="50000"/>
                  </a:schemeClr>
                </a:solidFill>
                <a:effectLst>
                  <a:glow rad="101600">
                    <a:schemeClr val="bg1">
                      <a:alpha val="70000"/>
                    </a:schemeClr>
                  </a:glow>
                </a:effectLst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83556462-3B4F-C74E-AC43-612C81EB016E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flipH="1">
              <a:off x="9220040" y="2468950"/>
              <a:ext cx="874974" cy="307861"/>
            </a:xfrm>
            <a:prstGeom prst="straightConnector1">
              <a:avLst/>
            </a:prstGeom>
            <a:ln w="31750">
              <a:solidFill>
                <a:schemeClr val="accent2">
                  <a:lumMod val="50000"/>
                </a:schemeClr>
              </a:solidFill>
              <a:tailEnd type="arrow"/>
            </a:ln>
            <a:effectLst>
              <a:glow rad="76200">
                <a:schemeClr val="bg1">
                  <a:alpha val="70000"/>
                </a:schemeClr>
              </a:glow>
            </a:effectLst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9098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0CCC36-0F23-2D80-9095-86544C7DE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CQPweb exercise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A0AFF1-6065-8AFF-15DE-0025938E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Activate corpus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ParlSpeech UK</a:t>
            </a:r>
          </a:p>
          <a:p>
            <a:pPr lvl="1"/>
            <a:r>
              <a:rPr lang="en-US"/>
              <a:t>corpus of debates of the UK parliament 1988–2019</a:t>
            </a:r>
          </a:p>
          <a:p>
            <a:pPr lvl="1"/>
            <a:r>
              <a:rPr lang="en-GB"/>
              <a:t>Rauh, C. &amp; Schwalbach, J. (2020). The ParlSpeech V2 data set: Full-text corpora of 6.3 million parliamentary speeches in the key legislative chambers of nine representative democracies. </a:t>
            </a:r>
            <a:r>
              <a:rPr lang="en-US">
                <a:hlinkClick r:id="rId2"/>
              </a:rPr>
              <a:t>https://doi.org/10.7910/DVN/L4OAKN </a:t>
            </a:r>
            <a:endParaRPr lang="en-US"/>
          </a:p>
          <a:p>
            <a:pPr lvl="1"/>
            <a:r>
              <a:rPr lang="en-US"/>
              <a:t>~ 2 M turns with a total of ~ 400 M tokens </a:t>
            </a:r>
          </a:p>
          <a:p>
            <a:pPr lvl="1"/>
            <a:endParaRPr lang="en-US"/>
          </a:p>
          <a:p>
            <a:r>
              <a:rPr lang="en-US"/>
              <a:t>Concordance analysis for query:  </a:t>
            </a:r>
            <a:r>
              <a:rPr lang="en-US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water and sanitation</a:t>
            </a:r>
          </a:p>
          <a:p>
            <a:pPr lvl="1"/>
            <a:r>
              <a:rPr lang="en-US"/>
              <a:t>what recurrent patterns can you identify?</a:t>
            </a:r>
          </a:p>
          <a:p>
            <a:pPr lvl="1"/>
            <a:r>
              <a:rPr lang="en-US"/>
              <a:t>can you find evidence for larger units of meaning?</a:t>
            </a:r>
            <a:endParaRPr lang="en-GB"/>
          </a:p>
          <a:p>
            <a:pPr lvl="1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ED836-EA0B-9D0F-5F55-C7473479F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E373F5-D672-40E9-78D2-4F1D0070E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F41D9-467A-BD03-7D6A-C1D51D6E2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49741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963A-7EDF-7735-4277-86E77D969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DE6C5-61B4-2092-EB27-32FA8BADD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 for a break 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1D918-47C6-1D26-1A62-3C838F1E9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32" y="2261419"/>
            <a:ext cx="4291536" cy="386238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741D843-534E-C7F2-9AF9-4F286FA2F64A}"/>
              </a:ext>
            </a:extLst>
          </p:cNvPr>
          <p:cNvSpPr/>
          <p:nvPr/>
        </p:nvSpPr>
        <p:spPr>
          <a:xfrm>
            <a:off x="4251648" y="1335625"/>
            <a:ext cx="3688703" cy="14465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8800" b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5"/>
                    </a:gs>
                    <a:gs pos="50000">
                      <a:schemeClr val="accent5">
                        <a:lumMod val="75000"/>
                      </a:schemeClr>
                    </a:gs>
                    <a:gs pos="100000">
                      <a:schemeClr val="accent5">
                        <a:lumMod val="50000"/>
                      </a:schemeClr>
                    </a:gs>
                  </a:gsLst>
                  <a:lin ang="4500000" scaled="0"/>
                </a:gra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latin typeface="FAUSans Office" panose="020B0504010101010104" pitchFamily="34" charset="77"/>
                <a:cs typeface="FAUSans Office" panose="020B0504010101010104" pitchFamily="34" charset="77"/>
              </a:rPr>
              <a:t>Coffee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AAB741C-CC12-1EA7-8B3F-FF026049A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0ED8C60-8FDE-6C5E-11BA-F45DE4002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081470-5C1F-559D-9F6D-CDB73270B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0956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31E9-13A0-89A4-50DC-F68546DD9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000DD-4EC9-E44F-B3F1-1FAF158E1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we have learned so far from using</a:t>
            </a:r>
            <a:br>
              <a:rPr lang="en-US" dirty="0"/>
            </a:br>
            <a:r>
              <a:rPr lang="en-US" dirty="0" err="1"/>
              <a:t>CLiC</a:t>
            </a:r>
            <a:r>
              <a:rPr lang="en-US" dirty="0"/>
              <a:t> &amp; </a:t>
            </a:r>
            <a:r>
              <a:rPr lang="en-US" dirty="0" err="1"/>
              <a:t>CQPweb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32496-977A-10F5-1786-F711F8DF2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q"/>
            </a:pPr>
            <a:r>
              <a:rPr lang="en-GB" dirty="0"/>
              <a:t> What strategies have you applied? </a:t>
            </a:r>
          </a:p>
          <a:p>
            <a:pPr>
              <a:buFont typeface="Wingdings" pitchFamily="2" charset="2"/>
              <a:buChar char="q"/>
            </a:pPr>
            <a:r>
              <a:rPr lang="en-GB" dirty="0"/>
              <a:t> How do you describe what you do?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34DD64-2FA9-37FE-F7CE-EEF1CA11D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935BEA-7602-BA98-2BE3-2DF0286AE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998947-E911-C5B4-2B61-3CCD606D9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7295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656C7-EE63-63E8-4E41-688E66E96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1" cy="1208315"/>
          </a:xfrm>
        </p:spPr>
        <p:txBody>
          <a:bodyPr>
            <a:normAutofit fontScale="90000"/>
          </a:bodyPr>
          <a:lstStyle/>
          <a:p>
            <a:r>
              <a:rPr lang="en-DE" dirty="0"/>
              <a:t>Practices in different disciplines:</a:t>
            </a:r>
            <a:br>
              <a:rPr lang="en-US" dirty="0"/>
            </a:br>
            <a:r>
              <a:rPr lang="en-DE" dirty="0"/>
              <a:t>survey of strategies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4B050C-E922-126D-0EE4-F0E91ABD91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152171"/>
          </a:xfrm>
        </p:spPr>
        <p:txBody>
          <a:bodyPr/>
          <a:lstStyle/>
          <a:p>
            <a:r>
              <a:rPr lang="en-US" dirty="0"/>
              <a:t>10  articles / case studies per discipline (40 total)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Lexicography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Data-driven learning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Corpus-assisted discourse studies</a:t>
            </a:r>
          </a:p>
          <a:p>
            <a:pPr lvl="1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Literary stylistics </a:t>
            </a:r>
          </a:p>
          <a:p>
            <a:pPr lvl="1"/>
            <a:r>
              <a:rPr lang="en-US" dirty="0"/>
              <a:t>post-2000 publication; concrete examples</a:t>
            </a:r>
          </a:p>
          <a:p>
            <a:pPr lvl="1"/>
            <a:r>
              <a:rPr lang="en-US" dirty="0"/>
              <a:t>not included: studies using parallel or learner corpora</a:t>
            </a:r>
          </a:p>
          <a:p>
            <a:r>
              <a:rPr lang="en-US" dirty="0"/>
              <a:t>Content analysis of methods sections (not literature review) </a:t>
            </a:r>
          </a:p>
          <a:p>
            <a:r>
              <a:rPr lang="en-US" dirty="0"/>
              <a:t>Challenge: no systematic standards for describing methodology, mix of tool and method</a:t>
            </a:r>
          </a:p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839D6-F1F4-019E-FCEE-A928ED4C0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00ED9-E65C-1E2F-D3D7-6BC212772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70A39-154A-1EF4-2C63-0CFE43594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6130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D7ACA-2633-DC86-731E-0BD82419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CAA73-01EE-0C0B-54E3-D2D350D83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Selecting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7FDD4-ECC0-4CE0-8E57-5144F6C21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Sampling</a:t>
            </a:r>
          </a:p>
          <a:p>
            <a:pPr marL="0" indent="0">
              <a:buNone/>
            </a:pPr>
            <a:r>
              <a:rPr lang="en-GB" dirty="0"/>
              <a:t>A random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sample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of 100 concordances of each pair was, subsequently,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closely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examined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for semantic prosody. </a:t>
            </a:r>
            <a:r>
              <a:rPr lang="en-GB" b="1" dirty="0"/>
              <a:t>(Lexicography)</a:t>
            </a:r>
          </a:p>
          <a:p>
            <a:pPr lvl="2"/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Filtering</a:t>
            </a:r>
            <a:r>
              <a:rPr lang="en-GB" dirty="0">
                <a:solidFill>
                  <a:srgbClr val="CC0066"/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/>
              <a:t>A concordance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query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for </a:t>
            </a:r>
            <a:r>
              <a:rPr lang="en-GB" i="1" dirty="0"/>
              <a:t>carry out </a:t>
            </a:r>
            <a:r>
              <a:rPr lang="en-GB" dirty="0"/>
              <a:t>with </a:t>
            </a:r>
            <a:r>
              <a:rPr lang="en-GB" i="1" dirty="0"/>
              <a:t>research</a:t>
            </a:r>
            <a:r>
              <a:rPr lang="en-GB" dirty="0"/>
              <a:t> in the context of three tokens to the left and to the right returned 160 hits, and most lines indeed exhibited the collocation </a:t>
            </a:r>
            <a:r>
              <a:rPr lang="en-GB" i="1" dirty="0"/>
              <a:t>carry out research</a:t>
            </a:r>
            <a:r>
              <a:rPr lang="en-GB" dirty="0"/>
              <a:t>, as exemplified in Figure 8, …. </a:t>
            </a:r>
            <a:r>
              <a:rPr lang="en-GB" b="1" dirty="0"/>
              <a:t>(Lexicography)</a:t>
            </a:r>
          </a:p>
          <a:p>
            <a:pPr marL="914400" lvl="2" indent="0">
              <a:buNone/>
            </a:pPr>
            <a:endParaRPr lang="en-GB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029FA-6750-FA98-B7A3-A3A3320A9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2CD92-90C2-551E-40F5-F70E5FC5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F47C3-106F-26E3-50FF-694F8C51E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534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A4A6F-C2DB-4E5C-78E0-C1F3BC0F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4233B-AFA1-A933-582E-06197A580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Selecting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BC5F0-79E8-D7D1-0D2C-72D0D36270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Cleaning</a:t>
            </a:r>
          </a:p>
          <a:p>
            <a:pPr marL="0" indent="0">
              <a:buNone/>
            </a:pPr>
            <a:r>
              <a:rPr lang="en-GB" dirty="0"/>
              <a:t>As we were interested in lexical compounds linked to carbon dioxide rather than carbon as an element, such lexical combinations as, for example, </a:t>
            </a:r>
            <a:r>
              <a:rPr lang="en-GB" i="1" dirty="0"/>
              <a:t>carbon molecule</a:t>
            </a:r>
            <a:r>
              <a:rPr lang="en-GB" dirty="0"/>
              <a:t> or </a:t>
            </a:r>
            <a:r>
              <a:rPr lang="en-GB" i="1" dirty="0"/>
              <a:t>carbon fibre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were removed</a:t>
            </a:r>
            <a:r>
              <a:rPr lang="en-GB" dirty="0"/>
              <a:t>. Nonsensical combinations as well as duplicates arising from differences in spelling such as </a:t>
            </a:r>
            <a:r>
              <a:rPr lang="en-GB" i="1" dirty="0"/>
              <a:t>carbon offset </a:t>
            </a:r>
            <a:r>
              <a:rPr lang="en-GB" dirty="0"/>
              <a:t>and </a:t>
            </a:r>
            <a:r>
              <a:rPr lang="en-GB" i="1" dirty="0"/>
              <a:t>carbon-offset</a:t>
            </a:r>
            <a:r>
              <a:rPr lang="en-GB" dirty="0"/>
              <a:t>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were also eliminated</a:t>
            </a:r>
            <a:r>
              <a:rPr lang="en-GB" dirty="0"/>
              <a:t>. </a:t>
            </a:r>
            <a:r>
              <a:rPr lang="en-GB" b="1" dirty="0"/>
              <a:t>(CADS)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Threshold</a:t>
            </a:r>
            <a:r>
              <a:rPr lang="en-GB" dirty="0">
                <a:solidFill>
                  <a:srgbClr val="CC0066"/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/>
              <a:t>We analysed the first 500 concordances of </a:t>
            </a:r>
            <a:r>
              <a:rPr lang="en-GB" i="1" dirty="0" err="1"/>
              <a:t>seguire</a:t>
            </a:r>
            <a:r>
              <a:rPr lang="en-GB" dirty="0"/>
              <a:t> chosen as “good examples” by the Sketch Engine (cf. </a:t>
            </a:r>
            <a:r>
              <a:rPr lang="en-GB" dirty="0" err="1"/>
              <a:t>Kilgarriff</a:t>
            </a:r>
            <a:r>
              <a:rPr lang="en-GB" dirty="0"/>
              <a:t> et al., 2008) </a:t>
            </a:r>
            <a:r>
              <a:rPr lang="en-GB" b="1" dirty="0"/>
              <a:t>(Lexicography)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27736D-AE3D-F5E4-D44C-5944F9648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B4947-E9A6-FE4F-091A-17109F373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B3365-15F8-8999-891C-C5F477EB3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226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4EF59-E7AA-A66A-BCCD-79C815853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C075-5F5E-A8ED-24C8-29A0E9E46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83FD2-7220-C7F4-27E0-CB59B981F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Sorting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dirty="0" err="1"/>
              <a:t>WordSmith</a:t>
            </a:r>
            <a:r>
              <a:rPr lang="en-GB" dirty="0"/>
              <a:t> Tools was mainly used for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sorting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and categorising concordances because it allows the analyst to assign values to lines and to move easily from concordance to text. [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Figure 3</a:t>
            </a:r>
            <a:r>
              <a:rPr lang="en-GB" dirty="0">
                <a:solidFill>
                  <a:srgbClr val="CC0066"/>
                </a:solidFill>
              </a:rPr>
              <a:t> </a:t>
            </a:r>
            <a:r>
              <a:rPr lang="en-GB" dirty="0"/>
              <a:t>shows sorting by 1R] </a:t>
            </a:r>
            <a:r>
              <a:rPr lang="en-GB" b="1" dirty="0"/>
              <a:t>(CADS)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GB" dirty="0"/>
              <a:t>The students were then instructed to search for the preceding underlined word </a:t>
            </a:r>
            <a:r>
              <a:rPr lang="en-GB" i="1" dirty="0"/>
              <a:t>friendship</a:t>
            </a:r>
            <a:r>
              <a:rPr lang="en-GB" dirty="0"/>
              <a:t> using </a:t>
            </a:r>
            <a:r>
              <a:rPr lang="en-GB" dirty="0" err="1"/>
              <a:t>IntelliText</a:t>
            </a:r>
            <a:r>
              <a:rPr lang="en-GB" dirty="0"/>
              <a:t>, and to examine the concordance lines to identify which preposition should follow </a:t>
            </a:r>
            <a:r>
              <a:rPr lang="en-GB" i="1" dirty="0"/>
              <a:t>friendship</a:t>
            </a:r>
            <a:r>
              <a:rPr lang="en-GB" dirty="0"/>
              <a:t> in this context, by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sorting</a:t>
            </a:r>
            <a:r>
              <a:rPr lang="en-GB" dirty="0"/>
              <a:t> right or left contexts in keyword-in-context (KWIC) lines. </a:t>
            </a:r>
            <a:r>
              <a:rPr lang="en-GB" b="1" dirty="0"/>
              <a:t>(DDL) </a:t>
            </a:r>
            <a:endParaRPr lang="en-GB" sz="2800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CE1E7-4A51-226C-B755-AF59C175C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76E34-C188-F5A6-3923-F8CCABEB7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B61A6-26C7-9B15-E6A3-C271498C9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57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6EB0E-2C34-FAAC-362D-137A74867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F6013-D71D-12EF-20B8-4C44EAFB1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A221B-7B93-8BDF-CE97-49F11C81A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Ranking</a:t>
            </a:r>
            <a:r>
              <a:rPr lang="en-GB" dirty="0">
                <a:solidFill>
                  <a:srgbClr val="CC0066"/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/>
              <a:t>We analysed the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first 500 </a:t>
            </a:r>
            <a:r>
              <a:rPr lang="en-GB" dirty="0"/>
              <a:t>concordances of </a:t>
            </a:r>
            <a:r>
              <a:rPr lang="en-GB" i="1" dirty="0" err="1"/>
              <a:t>seguire</a:t>
            </a:r>
            <a:r>
              <a:rPr lang="en-GB" dirty="0"/>
              <a:t> </a:t>
            </a:r>
            <a:r>
              <a:rPr lang="en-GB" dirty="0">
                <a:solidFill>
                  <a:schemeClr val="accent2">
                    <a:lumMod val="50000"/>
                  </a:schemeClr>
                </a:solidFill>
              </a:rPr>
              <a:t>chosen as “good examples”</a:t>
            </a:r>
            <a:r>
              <a:rPr lang="en-GB" dirty="0"/>
              <a:t> by the Sketch Engine (cf. </a:t>
            </a:r>
            <a:r>
              <a:rPr lang="en-GB" dirty="0" err="1"/>
              <a:t>Kilgarriff</a:t>
            </a:r>
            <a:r>
              <a:rPr lang="en-GB" dirty="0"/>
              <a:t> et al., 2008) </a:t>
            </a:r>
            <a:r>
              <a:rPr lang="en-GB" b="1" dirty="0"/>
              <a:t>(Lexicography)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4427E-3B06-03E8-6C46-B8309390D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AB93F6-F215-D3B4-C7F8-6BBB40FDD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9DA11-733A-8DC4-79C6-F2460C01D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6679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964127-63D1-46F9-4D1F-0859FA0A2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</a:t>
            </a:r>
            <a:r>
              <a:rPr lang="en-GB" dirty="0"/>
              <a:t>e</a:t>
            </a:r>
            <a:r>
              <a:rPr lang="en-DE" dirty="0"/>
              <a:t>ading Concordances R21 Project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70517D-CAE0-5124-F10F-00C27A26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GB" sz="2400" b="0" i="0" dirty="0">
                <a:solidFill>
                  <a:srgbClr val="222222"/>
                </a:solidFill>
                <a:effectLst/>
              </a:rPr>
              <a:t>What do users do to organise concordance lines for interpretation? </a:t>
            </a:r>
            <a:r>
              <a:rPr lang="en-GB" sz="2400" dirty="0">
                <a:solidFill>
                  <a:srgbClr val="222222"/>
                </a:solidFill>
              </a:rPr>
              <a:t>W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hat drives the choices they make, beyond their intuition and the features of </a:t>
            </a:r>
            <a:r>
              <a:rPr lang="en-GB" sz="2400" b="0" i="0" dirty="0" err="1">
                <a:solidFill>
                  <a:srgbClr val="222222"/>
                </a:solidFill>
                <a:effectLst/>
              </a:rPr>
              <a:t>concordancing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 tools they are familiar with? </a:t>
            </a:r>
          </a:p>
          <a:p>
            <a:pPr marL="0" indent="0" algn="l">
              <a:buNone/>
            </a:pPr>
            <a:r>
              <a:rPr lang="en-GB" sz="2400" b="1" dirty="0">
                <a:solidFill>
                  <a:srgbClr val="B71738"/>
                </a:solidFill>
              </a:rPr>
              <a:t>Our goals: </a:t>
            </a:r>
            <a:endParaRPr lang="en-GB" sz="2400" b="1" i="0" dirty="0">
              <a:solidFill>
                <a:srgbClr val="B71738"/>
              </a:solidFill>
              <a:effectLst/>
            </a:endParaRPr>
          </a:p>
          <a:p>
            <a:pPr marL="407988" indent="-407988" algn="l">
              <a:buFont typeface="+mj-lt"/>
              <a:buAutoNum type="arabicPeriod"/>
            </a:pPr>
            <a:r>
              <a:rPr lang="en-GB" sz="2400" b="1" i="0" dirty="0">
                <a:solidFill>
                  <a:srgbClr val="222222"/>
                </a:solidFill>
                <a:effectLst/>
              </a:rPr>
              <a:t>Develop a consistent methodology 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of concordance reading strategies and suggesting a transparent terminology that describes tool-independent principles of reading concordances. </a:t>
            </a:r>
          </a:p>
          <a:p>
            <a:pPr marL="407988" indent="-407988" algn="l">
              <a:buFont typeface="+mj-lt"/>
              <a:buAutoNum type="arabicPeriod"/>
            </a:pPr>
            <a:r>
              <a:rPr lang="en-GB" sz="2400" b="1" i="0" dirty="0">
                <a:solidFill>
                  <a:srgbClr val="222222"/>
                </a:solidFill>
                <a:effectLst/>
              </a:rPr>
              <a:t>Develop a concordance software framework and new algorithms 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that support a consistent concordance reading methodology: the </a:t>
            </a:r>
            <a:r>
              <a:rPr lang="en-GB" sz="2400" b="1" i="0" dirty="0" err="1">
                <a:solidFill>
                  <a:srgbClr val="222222"/>
                </a:solidFill>
                <a:effectLst/>
              </a:rPr>
              <a:t>FlexiConc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 library </a:t>
            </a:r>
          </a:p>
          <a:p>
            <a:pPr marL="407988" indent="-407988" algn="l">
              <a:buFont typeface="+mj-lt"/>
              <a:buAutoNum type="arabicPeriod"/>
            </a:pPr>
            <a:r>
              <a:rPr lang="en-GB" sz="2400" b="1" i="0" dirty="0">
                <a:solidFill>
                  <a:srgbClr val="222222"/>
                </a:solidFill>
                <a:effectLst/>
              </a:rPr>
              <a:t>Conduct case studies</a:t>
            </a:r>
            <a:r>
              <a:rPr lang="en-GB" sz="2400" b="0" i="0" dirty="0">
                <a:solidFill>
                  <a:srgbClr val="222222"/>
                </a:solidFill>
                <a:effectLst/>
              </a:rPr>
              <a:t> </a:t>
            </a:r>
            <a:r>
              <a:rPr lang="en-GB" sz="2400" dirty="0">
                <a:solidFill>
                  <a:srgbClr val="222222"/>
                </a:solidFill>
              </a:rPr>
              <a:t>to illustrate the usefulness of the approach</a:t>
            </a:r>
            <a:endParaRPr lang="en-DE" sz="24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71BBDC-AA6E-E5FF-6E55-6BB8BABFA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713A4F-78C4-05EF-EEE0-E3A3D82EB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2633BB-BABF-02D7-CE93-0DBB9FC20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381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A8F952-D0F9-E020-0EF1-CDBF6860955E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540500"/>
            <a:ext cx="5070475" cy="317500"/>
          </a:xfrm>
        </p:spPr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7F014-5461-AD5C-F848-81A00EF4AE72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540500"/>
            <a:ext cx="2743200" cy="317500"/>
          </a:xfrm>
        </p:spPr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AFC00B-485E-294E-0C4D-493D565B0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34" y="217284"/>
            <a:ext cx="11745532" cy="611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050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4856E-E7BA-162D-C7A4-9DB8D35FB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FlexiConc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E38EC-2933-2DD2-29D9-E846B4C05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92" y="1388794"/>
            <a:ext cx="11426616" cy="517659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Selecting</a:t>
            </a:r>
          </a:p>
          <a:p>
            <a:pPr lvl="1"/>
            <a:r>
              <a:rPr lang="en-US"/>
              <a:t>“zoom in” on a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subset</a:t>
            </a:r>
            <a:r>
              <a:rPr lang="en-US"/>
              <a:t> of the concordance lines</a:t>
            </a:r>
          </a:p>
          <a:p>
            <a:pPr lvl="1"/>
            <a:r>
              <a:rPr lang="en-US"/>
              <a:t>either focus on specific pattern or discard unwanted lines</a:t>
            </a:r>
          </a:p>
          <a:p>
            <a:pPr lvl="1"/>
            <a:endParaRPr lang="en-US"/>
          </a:p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Ordering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Sorting</a:t>
            </a:r>
            <a:r>
              <a:rPr lang="en-US"/>
              <a:t>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reorder</a:t>
            </a:r>
            <a:r>
              <a:rPr lang="en-US"/>
              <a:t> lines based on pairwise comparison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Ranking</a:t>
            </a:r>
            <a:r>
              <a:rPr lang="en-US"/>
              <a:t>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reorder</a:t>
            </a:r>
            <a:r>
              <a:rPr lang="en-US"/>
              <a:t> lines based on preference score</a:t>
            </a:r>
          </a:p>
          <a:p>
            <a:pPr marL="800100" lvl="1" indent="-342900">
              <a:buFont typeface="+mj-lt"/>
              <a:buAutoNum type="alphaLcParenR"/>
            </a:pPr>
            <a:endParaRPr lang="en-US"/>
          </a:p>
          <a:p>
            <a:pPr marL="514350" indent="-514350">
              <a:buFont typeface="+mj-lt"/>
              <a:buAutoNum type="arabicPeriod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Grouping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Partitioning</a:t>
            </a:r>
            <a:r>
              <a:rPr lang="en-US"/>
              <a:t>: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groups</a:t>
            </a:r>
            <a:r>
              <a:rPr lang="en-US"/>
              <a:t> based on common property</a:t>
            </a:r>
          </a:p>
          <a:p>
            <a:pPr marL="800100" lvl="1" indent="-342900">
              <a:buFont typeface="+mj-lt"/>
              <a:buAutoNum type="alphaLcParenR"/>
            </a:pP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Clustering</a:t>
            </a:r>
            <a:r>
              <a:rPr lang="en-US">
                <a:sym typeface="Wingdings" pitchFamily="2" charset="2"/>
              </a:rPr>
              <a:t>: (nested</a:t>
            </a:r>
            <a:r>
              <a:rPr lang="en-US"/>
              <a:t>) </a:t>
            </a:r>
            <a:r>
              <a:rPr lang="en-US">
                <a:solidFill>
                  <a:schemeClr val="accent2">
                    <a:lumMod val="50000"/>
                  </a:schemeClr>
                </a:solidFill>
              </a:rPr>
              <a:t>groups</a:t>
            </a:r>
            <a:r>
              <a:rPr lang="en-US"/>
              <a:t> based on pairwise similarity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402A460-CE7A-A3D7-320E-F9C54CB767C8}"/>
              </a:ext>
            </a:extLst>
          </p:cNvPr>
          <p:cNvGrpSpPr/>
          <p:nvPr/>
        </p:nvGrpSpPr>
        <p:grpSpPr>
          <a:xfrm>
            <a:off x="10218099" y="1288029"/>
            <a:ext cx="1179206" cy="1749056"/>
            <a:chOff x="10259568" y="1242309"/>
            <a:chExt cx="1179206" cy="1749056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E670474E-A761-AF6C-F70E-F77433C0F09E}"/>
                </a:ext>
              </a:extLst>
            </p:cNvPr>
            <p:cNvSpPr/>
            <p:nvPr/>
          </p:nvSpPr>
          <p:spPr>
            <a:xfrm>
              <a:off x="10259568" y="1463040"/>
              <a:ext cx="338328" cy="1307592"/>
            </a:xfrm>
            <a:prstGeom prst="rightBrace">
              <a:avLst>
                <a:gd name="adj1" fmla="val 32657"/>
                <a:gd name="adj2" fmla="val 50000"/>
              </a:avLst>
            </a:prstGeom>
            <a:ln w="50800">
              <a:solidFill>
                <a:schemeClr val="accent1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AE2667-A13A-9BCD-77FF-7D752B6D02A0}"/>
                </a:ext>
              </a:extLst>
            </p:cNvPr>
            <p:cNvSpPr txBox="1"/>
            <p:nvPr/>
          </p:nvSpPr>
          <p:spPr>
            <a:xfrm rot="5400000">
              <a:off x="10241081" y="1793671"/>
              <a:ext cx="17490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accent1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subset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7B580F6-47BA-F1D4-4215-1CC98B726D08}"/>
              </a:ext>
            </a:extLst>
          </p:cNvPr>
          <p:cNvGrpSpPr/>
          <p:nvPr/>
        </p:nvGrpSpPr>
        <p:grpSpPr>
          <a:xfrm>
            <a:off x="10218099" y="3429000"/>
            <a:ext cx="1179205" cy="3108960"/>
            <a:chOff x="10259568" y="3005974"/>
            <a:chExt cx="1179205" cy="3559418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C01B5587-A182-93F7-2771-0CC70F5DB545}"/>
                </a:ext>
              </a:extLst>
            </p:cNvPr>
            <p:cNvSpPr/>
            <p:nvPr/>
          </p:nvSpPr>
          <p:spPr>
            <a:xfrm>
              <a:off x="10259568" y="3005974"/>
              <a:ext cx="338328" cy="3559417"/>
            </a:xfrm>
            <a:prstGeom prst="rightBrace">
              <a:avLst>
                <a:gd name="adj1" fmla="val 32657"/>
                <a:gd name="adj2" fmla="val 50000"/>
              </a:avLst>
            </a:prstGeom>
            <a:ln w="50800">
              <a:solidFill>
                <a:schemeClr val="accent2">
                  <a:lumMod val="50000"/>
                </a:schemeClr>
              </a:solidFill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B01BA9-75D9-CD61-4BA9-A5B5A2B5A4AF}"/>
                </a:ext>
              </a:extLst>
            </p:cNvPr>
            <p:cNvSpPr txBox="1"/>
            <p:nvPr/>
          </p:nvSpPr>
          <p:spPr>
            <a:xfrm rot="5400000">
              <a:off x="9335900" y="4462518"/>
              <a:ext cx="3559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>
                  <a:solidFill>
                    <a:schemeClr val="accent2">
                      <a:lumMod val="50000"/>
                    </a:schemeClr>
                  </a:solidFill>
                  <a:latin typeface="FAUSans Office" panose="020B0504010101010104" pitchFamily="34" charset="77"/>
                  <a:cs typeface="FAUSans Office" panose="020B0504010101010104" pitchFamily="34" charset="77"/>
                </a:rPr>
                <a:t>arrangement</a:t>
              </a:r>
            </a:p>
          </p:txBody>
        </p:sp>
      </p:grp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5F670C1-E7AF-8132-DA92-82A97C17D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27</a:t>
            </a:fld>
            <a:endParaRPr lang="en-GB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85AC40A-AEC3-7242-C18D-DC4843ABA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22 Sep 2026 | © RC21 Team</a:t>
            </a:r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87D4E861-647B-CCE5-A107-A38ED30E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FlexiConc: Reading concordances with algorithms</a:t>
            </a:r>
          </a:p>
        </p:txBody>
      </p:sp>
    </p:spTree>
    <p:extLst>
      <p:ext uri="{BB962C8B-B14F-4D97-AF65-F5344CB8AC3E}">
        <p14:creationId xmlns:p14="http://schemas.microsoft.com/office/powerpoint/2010/main" val="464567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6DB0C-3EE4-D3D0-98B6-90E8BEFD5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192001" cy="1208315"/>
          </a:xfrm>
        </p:spPr>
        <p:txBody>
          <a:bodyPr>
            <a:normAutofit/>
          </a:bodyPr>
          <a:lstStyle/>
          <a:p>
            <a:r>
              <a:rPr lang="en-DE" dirty="0"/>
              <a:t>Hands-on: FlexiConc in CLiC basics </a:t>
            </a:r>
            <a:endParaRPr lang="en-DE" sz="1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C2AA9F-B87E-8AF2-21C0-C87903708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r>
              <a:rPr lang="en-DE" dirty="0"/>
              <a:t>We go back to the </a:t>
            </a:r>
            <a:r>
              <a:rPr lang="en-DE" i="1" dirty="0"/>
              <a:t>eyes</a:t>
            </a:r>
            <a:r>
              <a:rPr lang="en-DE" dirty="0"/>
              <a:t> in CLiC examples to think about extending the ways of looking at the data</a:t>
            </a:r>
            <a:r>
              <a:rPr lang="en-US" dirty="0"/>
              <a:t>.</a:t>
            </a:r>
          </a:p>
          <a:p>
            <a:r>
              <a:rPr lang="en-US" dirty="0"/>
              <a:t>With the help of various algorithms provided by FlexiConc.</a:t>
            </a:r>
          </a:p>
          <a:p>
            <a:r>
              <a:rPr lang="en-DE" sz="2400" dirty="0">
                <a:hlinkClick r:id="rId2"/>
              </a:rPr>
              <a:t>https://github.com/reading-concordances/teaching/blob/main/course/</a:t>
            </a:r>
            <a:br>
              <a:rPr lang="en-US" sz="2400" dirty="0">
                <a:hlinkClick r:id="rId2"/>
              </a:rPr>
            </a:br>
            <a:r>
              <a:rPr lang="en-DE" sz="2400" dirty="0">
                <a:hlinkClick r:id="rId2"/>
              </a:rPr>
              <a:t>handouts/flexiconc_clic_handout_</a:t>
            </a:r>
            <a:r>
              <a:rPr lang="en-US" sz="2400" dirty="0">
                <a:hlinkClick r:id="rId2"/>
              </a:rPr>
              <a:t>2026</a:t>
            </a:r>
            <a:r>
              <a:rPr lang="en-DE" sz="2400" dirty="0">
                <a:hlinkClick r:id="rId2"/>
              </a:rPr>
              <a:t>.pdf</a:t>
            </a:r>
            <a:r>
              <a:rPr lang="en-US" sz="2400" dirty="0"/>
              <a:t> </a:t>
            </a:r>
            <a:endParaRPr lang="en-DE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BE2969-EDF4-B072-89F6-C9C3CC5FF2F6}"/>
              </a:ext>
            </a:extLst>
          </p:cNvPr>
          <p:cNvSpPr txBox="1"/>
          <p:nvPr/>
        </p:nvSpPr>
        <p:spPr>
          <a:xfrm>
            <a:off x="3670514" y="1750496"/>
            <a:ext cx="4850970" cy="13522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GB" sz="3200" dirty="0">
                <a:solidFill>
                  <a:srgbClr val="002060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https://</a:t>
            </a:r>
            <a:r>
              <a:rPr lang="en-GB" sz="3200" dirty="0" err="1">
                <a:solidFill>
                  <a:srgbClr val="002060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clic-fiction.com</a:t>
            </a:r>
            <a:r>
              <a:rPr lang="en-GB" sz="3200" dirty="0">
                <a:solidFill>
                  <a:srgbClr val="002060"/>
                </a:solidFill>
                <a:latin typeface="FAUSans Office" panose="020B0504010101010104" pitchFamily="34" charset="77"/>
                <a:cs typeface="FAUSans Office" panose="020B0504010101010104" pitchFamily="34" charset="77"/>
              </a:rPr>
              <a:t>/</a:t>
            </a:r>
            <a:endParaRPr lang="en-DE" sz="3200" dirty="0">
              <a:solidFill>
                <a:srgbClr val="002060"/>
              </a:solidFill>
              <a:latin typeface="FAUSans Office" panose="020B0504010101010104" pitchFamily="34" charset="77"/>
              <a:cs typeface="FAUSans Office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FA6277-6D96-95AC-19E1-2F9BD8FE6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dirty="0"/>
              <a:t>22 Sep 2026 | © RC21 Team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FF8C2E-C33C-1CD2-D77C-907779549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FlexiConc: Reading concordances with algorithms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1C3DE9-6684-F186-BAF3-07104D42B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B7B1D-155F-DE45-A4D9-3453DB08EE0D}" type="slidenum">
              <a:rPr lang="en-GB"/>
              <a:pPr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9304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25C2468-3BAE-B36B-6E5B-6131B469003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219469" name="Title 1">
            <a:extLst>
              <a:ext uri="{FF2B5EF4-FFF2-40B4-BE49-F238E27FC236}">
                <a16:creationId xmlns:a16="http://schemas.microsoft.com/office/drawing/2014/main" id="{8B6F3D9B-E1BC-3551-D390-3198FE4676A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-1" y="0"/>
            <a:ext cx="12192001" cy="1208315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GB" dirty="0"/>
              <a:t>Extending the search for body language patterns </a:t>
            </a:r>
            <a:endParaRPr sz="1000" dirty="0"/>
          </a:p>
        </p:txBody>
      </p:sp>
      <p:sp>
        <p:nvSpPr>
          <p:cNvPr id="397520666" name="Content Placeholder 3">
            <a:extLst>
              <a:ext uri="{FF2B5EF4-FFF2-40B4-BE49-F238E27FC236}">
                <a16:creationId xmlns:a16="http://schemas.microsoft.com/office/drawing/2014/main" id="{52D4C621-C8FA-A6B8-44C2-4B23C8EE2DCC}"/>
              </a:ext>
            </a:extLst>
          </p:cNvPr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Search words: </a:t>
            </a:r>
            <a:r>
              <a:rPr lang="en-GB" i="1" dirty="0"/>
              <a:t>cheeks, cheek, neck, fingers, ear </a:t>
            </a:r>
          </a:p>
          <a:p>
            <a:pPr marL="0" indent="0">
              <a:buNone/>
              <a:defRPr/>
            </a:pPr>
            <a:endParaRPr lang="en-GB" i="1" dirty="0"/>
          </a:p>
          <a:p>
            <a:pPr marL="0" indent="0">
              <a:buNone/>
              <a:defRPr/>
            </a:pPr>
            <a:r>
              <a:rPr lang="en-GB" dirty="0"/>
              <a:t>Focus on non-quotes </a:t>
            </a:r>
            <a:endParaRPr dirty="0"/>
          </a:p>
        </p:txBody>
      </p:sp>
      <p:sp>
        <p:nvSpPr>
          <p:cNvPr id="1978743003" name="Date Placeholder 2">
            <a:extLst>
              <a:ext uri="{FF2B5EF4-FFF2-40B4-BE49-F238E27FC236}">
                <a16:creationId xmlns:a16="http://schemas.microsoft.com/office/drawing/2014/main" id="{58D956B9-E1F6-C04D-215B-8CC8F7E5A879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22 Sep 2026 | © RC21 Team</a:t>
            </a:r>
            <a:endParaRPr lang="en-US"/>
          </a:p>
        </p:txBody>
      </p:sp>
      <p:sp>
        <p:nvSpPr>
          <p:cNvPr id="1742433482" name="Footer Placeholder 4">
            <a:extLst>
              <a:ext uri="{FF2B5EF4-FFF2-40B4-BE49-F238E27FC236}">
                <a16:creationId xmlns:a16="http://schemas.microsoft.com/office/drawing/2014/main" id="{387CD031-03EB-0963-65E9-2B222F3D7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FlexiConc: Reading concordances with algorithms</a:t>
            </a:r>
            <a:endParaRPr/>
          </a:p>
        </p:txBody>
      </p:sp>
      <p:sp>
        <p:nvSpPr>
          <p:cNvPr id="353933597" name="Slide Number Placeholder 6">
            <a:extLst>
              <a:ext uri="{FF2B5EF4-FFF2-40B4-BE49-F238E27FC236}">
                <a16:creationId xmlns:a16="http://schemas.microsoft.com/office/drawing/2014/main" id="{6592C407-9896-BFCF-6823-147EEB2C1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2EB7B1D-155F-DE45-A4D9-3453DB08EE0D}" type="slidenum">
              <a:rPr lang="en-GB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5683509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555CD63-5AB5-C3A9-100E-2CD734FEAE5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933597" name="Slide Number Placeholder 6">
            <a:extLst>
              <a:ext uri="{FF2B5EF4-FFF2-40B4-BE49-F238E27FC236}">
                <a16:creationId xmlns:a16="http://schemas.microsoft.com/office/drawing/2014/main" id="{73936F5A-D0F6-B417-87B8-2FC4A6B9B8E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xfrm>
            <a:off x="9448800" y="6540500"/>
            <a:ext cx="2743200" cy="317500"/>
          </a:xfrm>
        </p:spPr>
        <p:txBody>
          <a:bodyPr/>
          <a:lstStyle/>
          <a:p>
            <a:pPr>
              <a:defRPr/>
            </a:pPr>
            <a:fld id="{B2EB7B1D-155F-DE45-A4D9-3453DB08EE0D}" type="slidenum">
              <a:rPr lang="en-GB"/>
              <a:t>30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0D62DB-AB26-2409-3685-5EE62759B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6378"/>
            <a:ext cx="12192000" cy="62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567304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Office Theme">
  <a:themeElements>
    <a:clrScheme name="Custom 3">
      <a:dk1>
        <a:srgbClr val="000000"/>
      </a:dk1>
      <a:lt1>
        <a:srgbClr val="FFFFFF"/>
      </a:lt1>
      <a:dk2>
        <a:srgbClr val="242424"/>
      </a:dk2>
      <a:lt2>
        <a:srgbClr val="CCCCCC"/>
      </a:lt2>
      <a:accent1>
        <a:srgbClr val="54C5F3"/>
      </a:accent1>
      <a:accent2>
        <a:srgbClr val="F4AAB9"/>
      </a:accent2>
      <a:accent3>
        <a:srgbClr val="C0D7A1"/>
      </a:accent3>
      <a:accent4>
        <a:srgbClr val="C8A8F3"/>
      </a:accent4>
      <a:accent5>
        <a:srgbClr val="F3D4AE"/>
      </a:accent5>
      <a:accent6>
        <a:srgbClr val="65CBB9"/>
      </a:accent6>
      <a:hlink>
        <a:srgbClr val="5B19B5"/>
      </a:hlink>
      <a:folHlink>
        <a:srgbClr val="5B19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  <a:ln>
          <a:noFill/>
        </a:ln>
      </a:spPr>
      <a:bodyPr wrap="square" lIns="0" tIns="0" rIns="0" bIns="0" rtlCol="0" anchor="ctr">
        <a:noAutofit/>
      </a:bodyPr>
      <a:lstStyle>
        <a:defPPr algn="ctr">
          <a:defRPr sz="2400">
            <a:solidFill>
              <a:schemeClr val="tx1"/>
            </a:solidFill>
            <a:latin typeface="FAUSans Office" panose="020B0504010101010104" pitchFamily="34" charset="77"/>
            <a:cs typeface="FAUSans Office" panose="020B0504010101010104" pitchFamily="34" charset="77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863935D01D9249BB91A8139635CB70" ma:contentTypeVersion="12" ma:contentTypeDescription="Create a new document." ma:contentTypeScope="" ma:versionID="b9eece1c1738843602f3db043fa1e12e">
  <xsd:schema xmlns:xsd="http://www.w3.org/2001/XMLSchema" xmlns:xs="http://www.w3.org/2001/XMLSchema" xmlns:p="http://schemas.microsoft.com/office/2006/metadata/properties" xmlns:ns2="ff3c66ed-9060-4b44-be2d-3d344d05f2dc" xmlns:ns3="5a9f7cd3-bec7-49ea-ba26-5e85d7756a91" targetNamespace="http://schemas.microsoft.com/office/2006/metadata/properties" ma:root="true" ma:fieldsID="ba95441621ac2c61f545cf7bf7315756" ns2:_="" ns3:_="">
    <xsd:import namespace="ff3c66ed-9060-4b44-be2d-3d344d05f2dc"/>
    <xsd:import namespace="5a9f7cd3-bec7-49ea-ba26-5e85d7756a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3c66ed-9060-4b44-be2d-3d344d05f2d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e979915-1b84-43d5-84e4-ad1a289bda8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a9f7cd3-bec7-49ea-ba26-5e85d7756a9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d5b605a-5bf4-4ec9-8ac6-8280965f468e}" ma:internalName="TaxCatchAll" ma:showField="CatchAllData" ma:web="5a9f7cd3-bec7-49ea-ba26-5e85d7756a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a9f7cd3-bec7-49ea-ba26-5e85d7756a91" xsi:nil="true"/>
    <lcf76f155ced4ddcb4097134ff3c332f xmlns="ff3c66ed-9060-4b44-be2d-3d344d05f2d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31E5E88D-A801-4F03-815F-5EB72868160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5219A-7969-4815-A266-87274C33252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f3c66ed-9060-4b44-be2d-3d344d05f2dc"/>
    <ds:schemaRef ds:uri="5a9f7cd3-bec7-49ea-ba26-5e85d7756a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D028DA-32C0-4908-B62D-9AF597270AB1}">
  <ds:schemaRefs>
    <ds:schemaRef ds:uri="ff3c66ed-9060-4b44-be2d-3d344d05f2dc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5a9f7cd3-bec7-49ea-ba26-5e85d7756a91"/>
  </ds:schemaRefs>
</ds:datastoreItem>
</file>

<file path=docMetadata/LabelInfo.xml><?xml version="1.0" encoding="utf-8"?>
<clbl:labelList xmlns:clbl="http://schemas.microsoft.com/office/2020/mipLabelMetadata">
  <clbl:label id="{b2efcef3-8496-40b8-9de8-f135982f3461}" enabled="0" method="" siteId="{b2efcef3-8496-40b8-9de8-f135982f34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12774</TotalTime>
  <Words>1414</Words>
  <Application>Microsoft Macintosh PowerPoint</Application>
  <PresentationFormat>Widescreen</PresentationFormat>
  <Paragraphs>217</Paragraphs>
  <Slides>30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Calibri</vt:lpstr>
      <vt:lpstr>Consolas</vt:lpstr>
      <vt:lpstr>Wingdings</vt:lpstr>
      <vt:lpstr>Aptos</vt:lpstr>
      <vt:lpstr>Georgia</vt:lpstr>
      <vt:lpstr>FAUSans Office</vt:lpstr>
      <vt:lpstr>Arial</vt:lpstr>
      <vt:lpstr>Office Theme</vt:lpstr>
      <vt:lpstr>PowerPoint Presentation</vt:lpstr>
      <vt:lpstr>What we have learned so far </vt:lpstr>
      <vt:lpstr>Recap: Theoretical foundations  </vt:lpstr>
      <vt:lpstr>Methodology: a reading procedure (Sinclair 2003)</vt:lpstr>
      <vt:lpstr>Concordancing tools </vt:lpstr>
      <vt:lpstr>Concordancing tools: CQPweb</vt:lpstr>
      <vt:lpstr>CQPweb: A hands-on example</vt:lpstr>
      <vt:lpstr>CQPweb: A hands-on example</vt:lpstr>
      <vt:lpstr>Simple search</vt:lpstr>
      <vt:lpstr>Concordance (kwic = key word in context)</vt:lpstr>
      <vt:lpstr>Extended context display with formatting</vt:lpstr>
      <vt:lpstr>Sorted concordance: great</vt:lpstr>
      <vt:lpstr>Frequency breakdown: fake</vt:lpstr>
      <vt:lpstr>Time for a closer look: fake news</vt:lpstr>
      <vt:lpstr>Distribution across metadata categories</vt:lpstr>
      <vt:lpstr>Collocation analysis</vt:lpstr>
      <vt:lpstr>CQPweb exercise</vt:lpstr>
      <vt:lpstr>Time for a break …</vt:lpstr>
      <vt:lpstr>What we have learned so far from using CLiC &amp; CQPweb?</vt:lpstr>
      <vt:lpstr>Practices in different disciplines: survey of strategies </vt:lpstr>
      <vt:lpstr>Selecting </vt:lpstr>
      <vt:lpstr>Selecting </vt:lpstr>
      <vt:lpstr>Ordering</vt:lpstr>
      <vt:lpstr>Ordering</vt:lpstr>
      <vt:lpstr>Reading Concordances R21 Project </vt:lpstr>
      <vt:lpstr>PowerPoint Presentation</vt:lpstr>
      <vt:lpstr>The FlexiConc approach</vt:lpstr>
      <vt:lpstr>Hands-on: FlexiConc in CLiC basics </vt:lpstr>
      <vt:lpstr>Extending the search for body language patterns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Natalie Finlayson (English Language and Linguistics)</dc:creator>
  <cp:lastModifiedBy> </cp:lastModifiedBy>
  <cp:revision>228</cp:revision>
  <dcterms:created xsi:type="dcterms:W3CDTF">2024-03-12T00:45:26Z</dcterms:created>
  <dcterms:modified xsi:type="dcterms:W3CDTF">2026-09-24T09:13:11Z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0x01010034863935D01D9249BB91A8139635CB70</vt:lpwstr>
  </property>
  <property fmtid="{D5CDD505-2E9C-101B-9397-08002B2CF9AE}" pid="3" name="MediaServiceImageTags">
    <vt:lpwstr/>
  </property>
  <property fmtid="{D5CDD505-2E9C-101B-9397-08002B2CF9AE}" pid="4" name="ICV">
    <vt:lpwstr/>
  </property>
  <property fmtid="{D5CDD505-2E9C-101B-9397-08002B2CF9AE}" pid="5" name="KSOProductBuildVer">
    <vt:lpwstr>1033-11.1.0.11711</vt:lpwstr>
  </property>
</Properties>
</file>