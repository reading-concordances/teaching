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 bookmarkIdSeed="2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2685" r:id="rId5"/>
    <p:sldId id="2686" r:id="rId6"/>
    <p:sldId id="2671" r:id="rId7"/>
    <p:sldId id="2650" r:id="rId8"/>
    <p:sldId id="2672" r:id="rId9"/>
    <p:sldId id="2663" r:id="rId10"/>
    <p:sldId id="336" r:id="rId11"/>
    <p:sldId id="2665" r:id="rId12"/>
    <p:sldId id="341" r:id="rId13"/>
    <p:sldId id="342" r:id="rId14"/>
    <p:sldId id="343" r:id="rId15"/>
    <p:sldId id="347" r:id="rId16"/>
    <p:sldId id="348" r:id="rId17"/>
    <p:sldId id="349" r:id="rId18"/>
    <p:sldId id="350" r:id="rId19"/>
    <p:sldId id="351" r:id="rId20"/>
    <p:sldId id="2666" r:id="rId21"/>
    <p:sldId id="2648" r:id="rId22"/>
    <p:sldId id="2687" r:id="rId23"/>
    <p:sldId id="2576" r:id="rId24"/>
    <p:sldId id="2592" r:id="rId25"/>
    <p:sldId id="2593" r:id="rId26"/>
    <p:sldId id="2595" r:id="rId27"/>
    <p:sldId id="2597" r:id="rId28"/>
    <p:sldId id="2682" r:id="rId29"/>
    <p:sldId id="2683" r:id="rId30"/>
    <p:sldId id="428" r:id="rId31"/>
    <p:sldId id="257" r:id="rId32"/>
    <p:sldId id="453" r:id="rId33"/>
    <p:sldId id="454" r:id="rId34"/>
    <p:sldId id="455" r:id="rId35"/>
    <p:sldId id="456" r:id="rId36"/>
    <p:sldId id="457" r:id="rId37"/>
    <p:sldId id="458" r:id="rId38"/>
    <p:sldId id="263" r:id="rId39"/>
    <p:sldId id="460" r:id="rId40"/>
    <p:sldId id="461" r:id="rId41"/>
    <p:sldId id="462" r:id="rId42"/>
    <p:sldId id="2684" r:id="rId43"/>
    <p:sldId id="295" r:id="rId44"/>
    <p:sldId id="296" r:id="rId45"/>
  </p:sldIdLst>
  <p:sldSz cx="12192000" cy="6858000"/>
  <p:notesSz cx="6858000" cy="9144000"/>
  <p:embeddedFontLst>
    <p:embeddedFont>
      <p:font typeface="Candara" panose="020E0502030303020204" pitchFamily="34" charset="0"/>
      <p:regular r:id="rId48"/>
      <p:bold r:id="rId49"/>
      <p:italic r:id="rId50"/>
      <p:boldItalic r:id="rId51"/>
    </p:embeddedFon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FAUSans Office" panose="020B0504010101010104" pitchFamily="34" charset="77"/>
      <p:regular r:id="rId56"/>
      <p:bold r:id="rId57"/>
      <p:italic r:id="rId58"/>
      <p:boldItalic r:id="rId59"/>
    </p:embeddedFont>
    <p:embeddedFont>
      <p:font typeface="Georgia" panose="02040502050405020303" pitchFamily="18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05CF46-3410-AA0A-1245-8A9FE69B923A}" name="Piperski, Aleksandr" initials="PA" userId="S::to51xyhu@fauad.fau.de::f69a4bad-1b71-4b84-bcb6-3723fb1bc78f" providerId="AD"/>
  <p188:author id="{FEEC5457-15E6-6E38-F443-7A192C593AD5}" name="Dykes, Nathan" initials="DN" userId="S::la06moso@fauad.fau.de::bb86161d-c33f-41e7-93df-f57ac910d3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B71738"/>
    <a:srgbClr val="FBD4DC"/>
    <a:srgbClr val="CC0066"/>
    <a:srgbClr val="C0DAD2"/>
    <a:srgbClr val="BAC0D9"/>
    <a:srgbClr val="C0DABB"/>
    <a:srgbClr val="990033"/>
    <a:srgbClr val="FF99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/>
    <p:restoredTop sz="82408"/>
  </p:normalViewPr>
  <p:slideViewPr>
    <p:cSldViewPr snapToGrid="0">
      <p:cViewPr varScale="1">
        <p:scale>
          <a:sx n="133" d="100"/>
          <a:sy n="133" d="100"/>
        </p:scale>
        <p:origin x="1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7" d="100"/>
          <a:sy n="127" d="100"/>
        </p:scale>
        <p:origin x="2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font" Target="fonts/font16.fntdata"/><Relationship Id="rId68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14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2.fntdata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796673-B35C-B37D-3219-C53285AA13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8D901-A21A-BE4D-089A-7CA65E41BE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FC277-78D7-FD40-B599-ED34D02CBE47}" type="datetimeFigureOut"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E049B-85E9-A6EA-A8B1-7CC12B8D6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A40A3-2E20-0293-C9D9-7C5F7E2CA8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7A19F-1495-B848-AD29-53732E1E2D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39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9876-35BB-4790-A6E6-84E358FFE4C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78C15-C8E2-434D-9C71-D59CB069DB57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5529-89DA-EEFE-B6C6-DFC93F14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CCB23-63F4-FAF9-6839-D04E05D0B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42A09-AAE7-1F7D-6767-D6E09B5ED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2D1EC-0EDA-5DC0-59DD-1F395602E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388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916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619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555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03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479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189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202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5529-89DA-EEFE-B6C6-DFC93F14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CCB23-63F4-FAF9-6839-D04E05D0B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42A09-AAE7-1F7D-6767-D6E09B5ED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2D1EC-0EDA-5DC0-59DD-1F395602E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388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3D3D-1C5B-9812-0FF7-E9D1B0C5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8D814-1AA9-3EC9-B056-5A54A25BA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BCC26-5BB0-4C02-3033-D1B1B6C9F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15D0C-5F4F-F270-8D5F-932C65E97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076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How are these disciplines different, what do you expect?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318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751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769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D78C15-C8E2-434D-9C71-D59CB069DB5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E425B-BB73-0FDD-AE72-948955EB4E7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E34CC-55E9-3EAA-FAD2-F9E92FB8B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5D6B7-A8AB-CA8C-79E0-7CAACB4D8F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41DCA-5075-D6A6-27D9-1F6EFA924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DDDC70-CDC1-383C-086E-4DAC17386644}" type="slidenum">
              <a:rPr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0717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329BA-D53B-3ECF-00B0-B00288A495D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285F7-A266-4B2D-889B-0FA51D5B6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16242-7F4E-D4E5-38EB-5DE5D529C1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CA042-CAF4-DB30-735F-590ED5322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DDDC70-CDC1-383C-086E-4DAC17386644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667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22 Sep 2026 | © RC21 Team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26E29E-1E2A-44E5-3FC5-786EBA6F840B}"/>
              </a:ext>
            </a:extLst>
          </p:cNvPr>
          <p:cNvSpPr/>
          <p:nvPr userDrawn="1"/>
        </p:nvSpPr>
        <p:spPr>
          <a:xfrm rot="5400000">
            <a:off x="5491842" y="-5491842"/>
            <a:ext cx="1208314" cy="12192002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749424-4954-1C18-42E0-2013AE4CDBE1}"/>
              </a:ext>
            </a:extLst>
          </p:cNvPr>
          <p:cNvSpPr/>
          <p:nvPr userDrawn="1"/>
        </p:nvSpPr>
        <p:spPr>
          <a:xfrm rot="5400000">
            <a:off x="5937484" y="603483"/>
            <a:ext cx="317030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1353801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7870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540967"/>
            <a:ext cx="2743200" cy="317031"/>
          </a:xfrm>
        </p:spPr>
        <p:txBody>
          <a:bodyPr/>
          <a:lstStyle>
            <a:lvl1pPr>
              <a:defRPr sz="14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EEB0E35-5D1A-91D7-4276-70D070F0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187236D0-EBE9-D380-6DE3-C01CA28A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380333-980E-8B55-2771-139A8D5F02D0}"/>
              </a:ext>
            </a:extLst>
          </p:cNvPr>
          <p:cNvSpPr/>
          <p:nvPr userDrawn="1"/>
        </p:nvSpPr>
        <p:spPr>
          <a:xfrm rot="5400000">
            <a:off x="5491843" y="-5491842"/>
            <a:ext cx="1208314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7651C4-8807-4F0E-0675-D3C14F0D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86369-1C5D-6097-3686-4653D1016C85}"/>
              </a:ext>
            </a:extLst>
          </p:cNvPr>
          <p:cNvSpPr/>
          <p:nvPr userDrawn="1"/>
        </p:nvSpPr>
        <p:spPr>
          <a:xfrm rot="5400000">
            <a:off x="5937484" y="603483"/>
            <a:ext cx="317030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C04A0E-C353-DABE-D7E4-FDF6F688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40967"/>
            <a:ext cx="2743200" cy="317031"/>
          </a:xfrm>
        </p:spPr>
        <p:txBody>
          <a:bodyPr/>
          <a:lstStyle>
            <a:lvl1pPr>
              <a:defRPr sz="14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86CC9A8-9C30-A973-C0B3-A0C6131F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318A9E0B-9889-F3AE-2AC1-0AAB27D0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380333-980E-8B55-2771-139A8D5F02D0}"/>
              </a:ext>
            </a:extLst>
          </p:cNvPr>
          <p:cNvSpPr/>
          <p:nvPr userDrawn="1"/>
        </p:nvSpPr>
        <p:spPr>
          <a:xfrm rot="5400000">
            <a:off x="5491843" y="-5491842"/>
            <a:ext cx="1208314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7651C4-8807-4F0E-0675-D3C14F0D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8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AF9C64-C7CC-5D02-1146-F48C09F3AF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7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476672"/>
            <a:ext cx="10363200" cy="1143000"/>
          </a:xfrm>
        </p:spPr>
        <p:txBody>
          <a:bodyPr/>
          <a:lstStyle>
            <a:lvl1pPr>
              <a:defRPr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167" y="1844824"/>
            <a:ext cx="10363200" cy="410445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046C8BF-7BC8-6945-8EEE-43B53A9A2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4" y="6597650"/>
            <a:ext cx="922867" cy="260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3452C1B-248A-F54D-898B-15D5FC6C1C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372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6" r:id="rId4"/>
    <p:sldLayoutId id="2147483655" r:id="rId5"/>
    <p:sldLayoutId id="2147483657" r:id="rId6"/>
    <p:sldLayoutId id="2147483666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FAUSans Office" panose="020B0504010101010104" pitchFamily="34" charset="77"/>
          <a:ea typeface="+mj-ea"/>
          <a:cs typeface="FAUSans Office" panose="020B0504010101010104" pitchFamily="34" charset="77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hetrumparchive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rpora.linguistik.uni-erlangen.de/cqpweb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7910/DVN/L4OAK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ading-concordances/teaching/blob/main/course/handouts/flexiconc_clic_handout_2026.pdf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 rot="5400000">
            <a:off x="5466402" y="201470"/>
            <a:ext cx="1208315" cy="12141122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1937" y="1315330"/>
            <a:ext cx="11381778" cy="1881695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b"/>
          <a:lstStyle/>
          <a:p>
            <a:pPr marL="716280" algn="ctr"/>
            <a:r>
              <a:rPr lang="en-GB" sz="32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Reading Concordances with Algorithms: </a:t>
            </a:r>
          </a:p>
          <a:p>
            <a:pPr marL="9525" algn="ctr"/>
            <a:r>
              <a:rPr lang="en-GB" sz="32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a training course in key corpus linguistics methodology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9525"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</a:p>
          <a:p>
            <a:pPr marL="9525"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Working with concordance tools</a:t>
            </a:r>
          </a:p>
        </p:txBody>
      </p:sp>
      <p:sp>
        <p:nvSpPr>
          <p:cNvPr id="3" name="Rounded Rectangle 8"/>
          <p:cNvSpPr/>
          <p:nvPr/>
        </p:nvSpPr>
        <p:spPr>
          <a:xfrm>
            <a:off x="336551" y="5872740"/>
            <a:ext cx="11512550" cy="798581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9525" algn="ctr"/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Stephanie Evert &amp; Michaela Mahlberg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3F9565-715D-91DC-A0E3-3DEF4044BC1D}"/>
              </a:ext>
            </a:extLst>
          </p:cNvPr>
          <p:cNvGrpSpPr/>
          <p:nvPr/>
        </p:nvGrpSpPr>
        <p:grpSpPr>
          <a:xfrm>
            <a:off x="10337369" y="5728675"/>
            <a:ext cx="1803752" cy="1208316"/>
            <a:chOff x="3511630" y="417286"/>
            <a:chExt cx="5701633" cy="3207169"/>
          </a:xfrm>
        </p:grpSpPr>
        <p:pic>
          <p:nvPicPr>
            <p:cNvPr id="21" name="Picture 20" descr="A black screen with a white bord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1630" y="417286"/>
              <a:ext cx="5701633" cy="3207169"/>
            </a:xfrm>
            <a:prstGeom prst="rect">
              <a:avLst/>
            </a:prstGeom>
          </p:spPr>
        </p:pic>
        <p:pic>
          <p:nvPicPr>
            <p:cNvPr id="1036" name="Picture 12" descr="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05" r="6032"/>
            <a:stretch>
              <a:fillRect/>
            </a:stretch>
          </p:blipFill>
          <p:spPr bwMode="auto">
            <a:xfrm>
              <a:off x="3916325" y="585969"/>
              <a:ext cx="4944139" cy="2601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240" y="5021154"/>
            <a:ext cx="2106591" cy="49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A21E52-34BC-F9E0-9C6B-6668245D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49" y="5163497"/>
            <a:ext cx="2511354" cy="32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8E96232E-D99C-4442-E83E-DC75693E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69" y="4948407"/>
            <a:ext cx="2511354" cy="63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772A65-CCB4-DB4C-8DC4-6895D43EE3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783" y="172716"/>
            <a:ext cx="2193359" cy="1191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9597A6-EAFF-C8A8-767C-CCA4715AFA7F}"/>
              </a:ext>
            </a:extLst>
          </p:cNvPr>
          <p:cNvSpPr txBox="1"/>
          <p:nvPr/>
        </p:nvSpPr>
        <p:spPr>
          <a:xfrm>
            <a:off x="1536324" y="3535294"/>
            <a:ext cx="9113004" cy="988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base"/>
            <a:r>
              <a:rPr lang="en-GB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UTN Computational Linguistics Fall School</a:t>
            </a:r>
          </a:p>
          <a:p>
            <a:pPr algn="ctr" fontAlgn="base"/>
            <a:r>
              <a:rPr lang="en-GB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21–25 September 2026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26B14F-312E-F64D-0DB5-DA6331901BA8}"/>
              </a:ext>
            </a:extLst>
          </p:cNvPr>
          <p:cNvSpPr/>
          <p:nvPr/>
        </p:nvSpPr>
        <p:spPr>
          <a:xfrm>
            <a:off x="10843245" y="420897"/>
            <a:ext cx="792000" cy="7920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2</a:t>
            </a:r>
            <a:endParaRPr lang="en-US" sz="4400" b="1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963A-7EDF-7735-4277-86E77D96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FC33-BFC3-3E3B-E79D-197D89BB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learned so far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7E1D-C1A3-885E-0EB5-5DC4548D2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Concordances collect occurrences of a node for “vertical reading” </a:t>
            </a:r>
          </a:p>
          <a:p>
            <a:r>
              <a:rPr lang="en-US" dirty="0"/>
              <a:t>Help (corpus) linguists to identify recurrent patterns</a:t>
            </a:r>
          </a:p>
          <a:p>
            <a:r>
              <a:rPr lang="en-US" dirty="0"/>
              <a:t>It is not always easy to spot patterns in concordances</a:t>
            </a:r>
            <a:br>
              <a:rPr lang="en-US" dirty="0"/>
            </a:br>
            <a:r>
              <a:rPr lang="en-US" dirty="0"/>
              <a:t>(except for educational and famous examples)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52537-943A-E12E-5162-78704FD9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A85FF-1A5F-2288-1A6C-36552337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0EAF333-0ADF-3F59-5B95-2C49625C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9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412-76F6-9465-2D32-1CD7FB09E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1353801" cy="1208315"/>
          </a:xfrm>
        </p:spPr>
        <p:txBody>
          <a:bodyPr>
            <a:normAutofit/>
          </a:bodyPr>
          <a:lstStyle/>
          <a:p>
            <a:r>
              <a:rPr lang="en-DE" dirty="0"/>
              <a:t>Recap: Theoretical foundations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46DCA-F8A5-22F3-F68D-60AE9AEDC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039438"/>
          </a:xfrm>
        </p:spPr>
        <p:txBody>
          <a:bodyPr/>
          <a:lstStyle/>
          <a:p>
            <a:r>
              <a:rPr lang="en-DE" dirty="0"/>
              <a:t> Lexicogrammatical level: </a:t>
            </a:r>
          </a:p>
          <a:p>
            <a:pPr lvl="1"/>
            <a:r>
              <a:rPr lang="en-GB" dirty="0"/>
              <a:t>L</a:t>
            </a:r>
            <a:r>
              <a:rPr lang="en-DE" dirty="0"/>
              <a:t>exical item</a:t>
            </a:r>
          </a:p>
          <a:p>
            <a:pPr lvl="1"/>
            <a:r>
              <a:rPr lang="en-DE" dirty="0"/>
              <a:t>Patterns (as in Pattern Grammar)</a:t>
            </a:r>
          </a:p>
          <a:p>
            <a:pPr lvl="1"/>
            <a:endParaRPr lang="en-DE" dirty="0"/>
          </a:p>
          <a:p>
            <a:r>
              <a:rPr lang="en-DE" dirty="0"/>
              <a:t>Textual level</a:t>
            </a:r>
          </a:p>
          <a:p>
            <a:pPr lvl="1"/>
            <a:r>
              <a:rPr lang="en-DE" dirty="0"/>
              <a:t>Local textual functions </a:t>
            </a:r>
          </a:p>
          <a:p>
            <a:pPr lvl="1"/>
            <a:r>
              <a:rPr lang="en-DE" dirty="0"/>
              <a:t>Lexical Priming (Hoey 2005) </a:t>
            </a:r>
          </a:p>
          <a:p>
            <a:pPr lvl="1"/>
            <a:endParaRPr lang="en-DE" dirty="0"/>
          </a:p>
          <a:p>
            <a:r>
              <a:rPr lang="en-DE" dirty="0"/>
              <a:t>Purpose of the analysis:</a:t>
            </a:r>
          </a:p>
          <a:p>
            <a:pPr lvl="1"/>
            <a:r>
              <a:rPr lang="en-DE" dirty="0"/>
              <a:t>The study of fiction requires a </a:t>
            </a:r>
            <a:r>
              <a:rPr lang="en-GB" dirty="0"/>
              <a:t>“</a:t>
            </a:r>
            <a:r>
              <a:rPr lang="en-DE" dirty="0"/>
              <a:t>fiction-specific</a:t>
            </a:r>
            <a:r>
              <a:rPr lang="en-US" dirty="0"/>
              <a:t>”</a:t>
            </a:r>
            <a:r>
              <a:rPr lang="en-DE" dirty="0"/>
              <a:t> approach</a:t>
            </a:r>
            <a:r>
              <a:rPr lang="en-US" dirty="0"/>
              <a:t>, different from analysing socio-political debate around environmental issues</a:t>
            </a:r>
            <a:endParaRPr lang="en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6EC24-9FE4-CB54-C552-B95D0AB2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40967"/>
            <a:ext cx="2743200" cy="317031"/>
          </a:xfrm>
        </p:spPr>
        <p:txBody>
          <a:bodyPr/>
          <a:lstStyle/>
          <a:p>
            <a:fld id="{B2EB7B1D-155F-DE45-A4D9-3453DB08EE0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750-34EB-0AF8-2B16-85499191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</p:spPr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5846D-049B-D87A-85C1-537DCD54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</p:spPr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87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4D82-2528-0664-6E74-9AD89E5F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504" cy="1208315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Methodology: a reading procedure (Sinclair 2003)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CC8A1-423B-5231-3900-CCBD4A8E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</p:spPr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F3293-7C47-DC6C-D172-69A0BEFA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D912C-1FAE-66C1-40C8-2BF0A27B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749" y="1420691"/>
            <a:ext cx="10254502" cy="49588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05669F-E0F5-056D-3F56-55F54127C087}"/>
              </a:ext>
            </a:extLst>
          </p:cNvPr>
          <p:cNvSpPr/>
          <p:nvPr/>
        </p:nvSpPr>
        <p:spPr>
          <a:xfrm>
            <a:off x="1073889" y="1868895"/>
            <a:ext cx="1850064" cy="2532984"/>
          </a:xfrm>
          <a:prstGeom prst="rect">
            <a:avLst/>
          </a:prstGeom>
          <a:noFill/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F340540-D40D-25E1-CA6D-33535523B3CB}"/>
              </a:ext>
            </a:extLst>
          </p:cNvPr>
          <p:cNvCxnSpPr>
            <a:cxnSpLocks/>
          </p:cNvCxnSpPr>
          <p:nvPr/>
        </p:nvCxnSpPr>
        <p:spPr>
          <a:xfrm rot="10800000">
            <a:off x="1020726" y="2021785"/>
            <a:ext cx="106325" cy="2592000"/>
          </a:xfrm>
          <a:prstGeom prst="bentConnector3">
            <a:avLst>
              <a:gd name="adj1" fmla="val 555002"/>
            </a:avLst>
          </a:prstGeom>
          <a:ln w="4445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E5F04863-2A6A-DEEB-96B0-B70F69C4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</p:spPr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4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E960-B334-54ED-A0A0-3AC41895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Concordancing tools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D262B-9919-E85F-DF3D-0CBFACF8C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021150"/>
          </a:xfrm>
        </p:spPr>
        <p:txBody>
          <a:bodyPr/>
          <a:lstStyle/>
          <a:p>
            <a:r>
              <a:rPr lang="en-GB" dirty="0"/>
              <a:t>A</a:t>
            </a:r>
            <a:r>
              <a:rPr lang="en-DE" dirty="0"/>
              <a:t>re created for different purposes</a:t>
            </a:r>
            <a:endParaRPr lang="en-US" dirty="0"/>
          </a:p>
          <a:p>
            <a:r>
              <a:rPr lang="en-DE" dirty="0"/>
              <a:t>Follow different traditions (cf. yesterday’s origin stories)</a:t>
            </a:r>
          </a:p>
          <a:p>
            <a:r>
              <a:rPr lang="en-DE" dirty="0"/>
              <a:t>Use different terminology (cf. concordance vs contexts) </a:t>
            </a:r>
          </a:p>
          <a:p>
            <a:r>
              <a:rPr lang="en-GB" dirty="0"/>
              <a:t>Combine functionalities (key words, n-grams, etc.) </a:t>
            </a:r>
          </a:p>
          <a:p>
            <a:r>
              <a:rPr lang="en-US" dirty="0"/>
              <a:t>Can be specialised or general-purpose</a:t>
            </a:r>
            <a:endParaRPr lang="en-DE" dirty="0"/>
          </a:p>
          <a:p>
            <a:r>
              <a:rPr lang="en-GB" dirty="0"/>
              <a:t>Can be web-based or standalone</a:t>
            </a:r>
          </a:p>
          <a:p>
            <a:r>
              <a:rPr lang="en-GB" dirty="0"/>
              <a:t>Often come with corpora</a:t>
            </a:r>
          </a:p>
          <a:p>
            <a:r>
              <a:rPr lang="en-GB" dirty="0"/>
              <a:t>Are continuously developed (until they aren’t)</a:t>
            </a:r>
          </a:p>
          <a:p>
            <a:r>
              <a:rPr lang="en-GB" dirty="0"/>
              <a:t>Provide user support (hopefully)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6341F-7593-EAB3-021A-138B29A9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7F86-83BF-2790-C243-196A629F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3A296-CA94-7BEA-6D8D-8B148CF0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74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C244-5049-15CE-586D-CCF1A0DC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Concordancing tools: CQPweb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1021D8-DC13-A7BA-1B4D-B7BE503556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85" b="18058"/>
          <a:stretch>
            <a:fillRect/>
          </a:stretch>
        </p:blipFill>
        <p:spPr>
          <a:xfrm>
            <a:off x="0" y="1208315"/>
            <a:ext cx="12192000" cy="533205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A74E0-9627-83B3-8800-8CE5C0FA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6987-1CD7-2067-68EB-D500CFC3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7DBA8-E2E8-B1F2-5B01-466CB5C0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679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D0779F-042E-047B-2628-52AD16A94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39" y="1237190"/>
            <a:ext cx="4049378" cy="529979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57C6ED5-BC1D-7B48-70EE-B12F96FA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1353801" cy="1208315"/>
          </a:xfrm>
        </p:spPr>
        <p:txBody>
          <a:bodyPr/>
          <a:lstStyle/>
          <a:p>
            <a:r>
              <a:rPr lang="en-US"/>
              <a:t>CQPweb: A hands-on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5BF91-EEB8-68D7-FAA8-1F2357573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787075"/>
          </a:xfrm>
        </p:spPr>
        <p:txBody>
          <a:bodyPr/>
          <a:lstStyle/>
          <a:p>
            <a:r>
              <a:rPr lang="en-US"/>
              <a:t>Goal: Understand this [</a:t>
            </a:r>
            <a:r>
              <a:rPr lang="en-US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➞</a:t>
            </a:r>
            <a:r>
              <a:rPr lang="en-US"/>
              <a:t>] guy's rhetoric,</a:t>
            </a:r>
            <a:br>
              <a:rPr lang="en-US"/>
            </a:br>
            <a:r>
              <a:rPr lang="en-US"/>
              <a:t>terminology, phraseology and topics</a:t>
            </a:r>
          </a:p>
          <a:p>
            <a:pPr lvl="2"/>
            <a:endParaRPr lang="en-US"/>
          </a:p>
          <a:p>
            <a:r>
              <a:rPr lang="en-US"/>
              <a:t>We need a large collection of texts written</a:t>
            </a:r>
            <a:br>
              <a:rPr lang="en-US"/>
            </a:br>
            <a:r>
              <a:rPr lang="en-US"/>
              <a:t>by Trump, e.g. the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Trump Twitter Archive </a:t>
            </a:r>
            <a:r>
              <a:rPr lang="en-US"/>
              <a:t>[</a:t>
            </a:r>
            <a:r>
              <a:rPr lang="en-US">
                <a:hlinkClick r:id="rId4"/>
              </a:rPr>
              <a:t>www.thetrumparchive.com</a:t>
            </a:r>
            <a:r>
              <a:rPr lang="en-US"/>
              <a:t>]</a:t>
            </a:r>
          </a:p>
          <a:p>
            <a:pPr lvl="2"/>
            <a:endParaRPr lang="en-US"/>
          </a:p>
          <a:p>
            <a:r>
              <a:rPr lang="en-US"/>
              <a:t>Step 1: Compile a linguistic corpus 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</a:rPr>
              <a:t>🗸</a:t>
            </a:r>
          </a:p>
          <a:p>
            <a:r>
              <a:rPr lang="en-US"/>
              <a:t>Step 2: Upload to indexing &amp; search engine 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</a:rPr>
              <a:t>🗸</a:t>
            </a:r>
            <a:endParaRPr lang="en-US"/>
          </a:p>
          <a:p>
            <a:r>
              <a:rPr lang="en-US"/>
              <a:t>Step 3: Analyse through concordance reading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6C07EF-337F-BA27-7623-807D0733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40500"/>
            <a:ext cx="2743200" cy="317500"/>
          </a:xfrm>
        </p:spPr>
        <p:txBody>
          <a:bodyPr/>
          <a:lstStyle/>
          <a:p>
            <a:fld id="{B0613C82-7869-6749-8B64-6E6BEACED82A}" type="slidenum">
              <a:rPr lang="de-DE"/>
              <a:pPr/>
              <a:t>7</a:t>
            </a:fld>
            <a:endParaRPr lang="de-D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CBC7C-45BB-8275-E232-A1D6F3FC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8E11D2-5CED-2B3F-E56C-72D3EE64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409491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0141-C606-F38E-6CCF-8E4AE0E8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2E1E7D-BDAC-B6B4-B66B-2B302D19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CQPweb: A hands-on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8AEE4-0149-F2BF-D286-F73F7AB1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353800" cy="2169021"/>
          </a:xfrm>
        </p:spPr>
        <p:txBody>
          <a:bodyPr/>
          <a:lstStyle/>
          <a:p>
            <a:r>
              <a:rPr lang="en-US"/>
              <a:t>CQPweb server @ FAU:</a:t>
            </a:r>
            <a:br>
              <a:rPr lang="en-US"/>
            </a:br>
            <a:r>
              <a:rPr lang="en-US">
                <a:solidFill>
                  <a:schemeClr val="accent4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https://corpora.linguistik.uni-erlangen.de/cqpweb/</a:t>
            </a:r>
            <a:r>
              <a:rPr lang="en-US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r>
              <a:rPr lang="en-US"/>
              <a:t>Login: 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student1</a:t>
            </a:r>
            <a:r>
              <a:rPr lang="en-US"/>
              <a:t> … 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student15</a:t>
            </a:r>
            <a:r>
              <a:rPr lang="en-US"/>
              <a:t> | password: 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••••••••</a:t>
            </a:r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39F8877-39E8-55B5-6E78-74A44F180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58" y="1240727"/>
            <a:ext cx="1755942" cy="175594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95FB6-3AC9-449D-69ED-7144C90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Sep 2026 | © RC21 Team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89577-58D0-3050-0755-CCBD23B1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C30B-979A-D47E-3984-D8AE3AA6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8</a:t>
            </a:fld>
            <a:endParaRPr lang="en-GB"/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A2D9117-A83E-BCE5-C4F2-01E9C93363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922" b="34917"/>
          <a:stretch>
            <a:fillRect/>
          </a:stretch>
        </p:blipFill>
        <p:spPr>
          <a:xfrm>
            <a:off x="1043092" y="3215148"/>
            <a:ext cx="10033000" cy="36428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7654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BE7C946-576F-5140-955A-56ACDA67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search</a:t>
            </a:r>
          </a:p>
        </p:txBody>
      </p:sp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A99FD48-8E13-8340-AAC9-33F5E7BD11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17" b="4914"/>
          <a:stretch>
            <a:fillRect/>
          </a:stretch>
        </p:blipFill>
        <p:spPr>
          <a:xfrm>
            <a:off x="1049868" y="1233373"/>
            <a:ext cx="10033000" cy="5624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Left Arrow 8">
            <a:extLst>
              <a:ext uri="{FF2B5EF4-FFF2-40B4-BE49-F238E27FC236}">
                <a16:creationId xmlns:a16="http://schemas.microsoft.com/office/drawing/2014/main" id="{1C639066-7645-CA49-BD33-407D4E3525B8}"/>
              </a:ext>
            </a:extLst>
          </p:cNvPr>
          <p:cNvSpPr/>
          <p:nvPr/>
        </p:nvSpPr>
        <p:spPr>
          <a:xfrm rot="1100332">
            <a:off x="5424138" y="2423891"/>
            <a:ext cx="720000" cy="288000"/>
          </a:xfrm>
          <a:prstGeom prst="leftArrow">
            <a:avLst>
              <a:gd name="adj1" fmla="val 50000"/>
              <a:gd name="adj2" fmla="val 63793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69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32FC-6BFF-1B42-8872-666D2C58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Concordance (kwic = key word in context)</a:t>
            </a:r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6D80208-4259-FB43-A4E7-7E9B53711E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89" b="4764"/>
          <a:stretch>
            <a:fillRect/>
          </a:stretch>
        </p:blipFill>
        <p:spPr>
          <a:xfrm>
            <a:off x="1079500" y="1234977"/>
            <a:ext cx="10033000" cy="56230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B13B7A2-E5D2-9845-81B0-A75D8516E69A}"/>
              </a:ext>
            </a:extLst>
          </p:cNvPr>
          <p:cNvGrpSpPr/>
          <p:nvPr/>
        </p:nvGrpSpPr>
        <p:grpSpPr>
          <a:xfrm>
            <a:off x="9209459" y="1630873"/>
            <a:ext cx="2644815" cy="776891"/>
            <a:chOff x="9209459" y="1316239"/>
            <a:chExt cx="2644815" cy="77689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C78D6A-BB28-CE48-A590-0E628FC1224D}"/>
                </a:ext>
              </a:extLst>
            </p:cNvPr>
            <p:cNvSpPr txBox="1"/>
            <p:nvPr/>
          </p:nvSpPr>
          <p:spPr>
            <a:xfrm>
              <a:off x="10020873" y="1441225"/>
              <a:ext cx="1833401" cy="651905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frequency information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0C686BE-D121-0840-9F76-48214CA9F32E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 flipV="1">
              <a:off x="9209459" y="1316239"/>
              <a:ext cx="811414" cy="450939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39EA8A-E969-7E4F-8365-694CEF3AF39D}"/>
              </a:ext>
            </a:extLst>
          </p:cNvPr>
          <p:cNvGrpSpPr/>
          <p:nvPr/>
        </p:nvGrpSpPr>
        <p:grpSpPr>
          <a:xfrm>
            <a:off x="6973420" y="2143367"/>
            <a:ext cx="2475952" cy="1013273"/>
            <a:chOff x="8340851" y="1248175"/>
            <a:chExt cx="2475952" cy="101327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D71975-FEA4-5C41-A258-1EF3F20B2BF6}"/>
                </a:ext>
              </a:extLst>
            </p:cNvPr>
            <p:cNvSpPr txBox="1"/>
            <p:nvPr/>
          </p:nvSpPr>
          <p:spPr>
            <a:xfrm>
              <a:off x="8340851" y="1917320"/>
              <a:ext cx="2475952" cy="344128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random ordering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5E0D024-C712-874D-872A-F046071CC04D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9152188" y="1248175"/>
              <a:ext cx="426639" cy="66914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EFB54F-B7E3-DD4F-B9D7-F16096FAF09B}"/>
              </a:ext>
            </a:extLst>
          </p:cNvPr>
          <p:cNvGrpSpPr/>
          <p:nvPr/>
        </p:nvGrpSpPr>
        <p:grpSpPr>
          <a:xfrm>
            <a:off x="7687678" y="3769098"/>
            <a:ext cx="3136841" cy="469114"/>
            <a:chOff x="9209459" y="1316239"/>
            <a:chExt cx="3136841" cy="4691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A5E18A-8DBA-BF42-A8CA-10146FF39E9F}"/>
                </a:ext>
              </a:extLst>
            </p:cNvPr>
            <p:cNvSpPr txBox="1"/>
            <p:nvPr/>
          </p:nvSpPr>
          <p:spPr>
            <a:xfrm>
              <a:off x="10020873" y="1441225"/>
              <a:ext cx="2325427" cy="344128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click for context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2F72494-DB37-5F4D-A764-45DE03C87CD9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 flipV="1">
              <a:off x="9209459" y="1316239"/>
              <a:ext cx="811414" cy="297050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21AB48-AEA7-364A-88C2-03EC1333DCF6}"/>
              </a:ext>
            </a:extLst>
          </p:cNvPr>
          <p:cNvGrpSpPr/>
          <p:nvPr/>
        </p:nvGrpSpPr>
        <p:grpSpPr>
          <a:xfrm>
            <a:off x="650880" y="3769099"/>
            <a:ext cx="2475952" cy="2467351"/>
            <a:chOff x="8328494" y="447863"/>
            <a:chExt cx="2475952" cy="246735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38E98B-B851-9941-8B4E-6C8091E1CB29}"/>
                </a:ext>
              </a:extLst>
            </p:cNvPr>
            <p:cNvSpPr txBox="1"/>
            <p:nvPr/>
          </p:nvSpPr>
          <p:spPr>
            <a:xfrm>
              <a:off x="8328494" y="2263309"/>
              <a:ext cx="2475952" cy="651905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click / hover</a:t>
              </a:r>
              <a:b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for metadata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B5388BD-D379-D94A-9C19-35ED2E2A375A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V="1">
              <a:off x="9566470" y="447863"/>
              <a:ext cx="0" cy="1815446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9840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16A7-7429-E24C-A45B-D3471362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Extended context display with formatting</a:t>
            </a: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394C2F9-78B2-9F46-B3D1-BEC699752B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30" b="6433"/>
          <a:stretch>
            <a:fillRect/>
          </a:stretch>
        </p:blipFill>
        <p:spPr>
          <a:xfrm>
            <a:off x="1079500" y="1247643"/>
            <a:ext cx="10033000" cy="55366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EDA1549-EAC5-C244-B084-07670D73D1C6}"/>
              </a:ext>
            </a:extLst>
          </p:cNvPr>
          <p:cNvGrpSpPr/>
          <p:nvPr/>
        </p:nvGrpSpPr>
        <p:grpSpPr>
          <a:xfrm>
            <a:off x="6737646" y="3988518"/>
            <a:ext cx="3299254" cy="344128"/>
            <a:chOff x="9121186" y="1095236"/>
            <a:chExt cx="3299254" cy="34412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F1B89B-8119-214D-A91B-6D1F8458869E}"/>
                </a:ext>
              </a:extLst>
            </p:cNvPr>
            <p:cNvSpPr txBox="1"/>
            <p:nvPr/>
          </p:nvSpPr>
          <p:spPr>
            <a:xfrm>
              <a:off x="10095013" y="1095236"/>
              <a:ext cx="2325427" cy="344128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this is the match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8FD5E32-392A-8444-829F-BBF4F9D8F59A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9121186" y="1267300"/>
              <a:ext cx="973827" cy="30778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3976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2C1D-03D2-624C-AA5C-EB88E92E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Sorted concordance: </a:t>
            </a:r>
            <a:r>
              <a:rPr lang="en-US" i="1"/>
              <a:t>great</a:t>
            </a:r>
            <a:endParaRPr lang="en-US"/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0EAF154-AA58-8C43-8B59-D972C310B1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89" b="4764"/>
          <a:stretch>
            <a:fillRect/>
          </a:stretch>
        </p:blipFill>
        <p:spPr>
          <a:xfrm>
            <a:off x="1079500" y="1234977"/>
            <a:ext cx="10033000" cy="5623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63A55C9-F8FD-2E4B-9D30-FE532C21BAA5}"/>
              </a:ext>
            </a:extLst>
          </p:cNvPr>
          <p:cNvGrpSpPr/>
          <p:nvPr/>
        </p:nvGrpSpPr>
        <p:grpSpPr>
          <a:xfrm>
            <a:off x="7784758" y="945412"/>
            <a:ext cx="2017540" cy="1025026"/>
            <a:chOff x="10402539" y="-1504286"/>
            <a:chExt cx="2017540" cy="102502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C5250A-C6A6-B242-95C5-FC74773576CD}"/>
                </a:ext>
              </a:extLst>
            </p:cNvPr>
            <p:cNvSpPr txBox="1"/>
            <p:nvPr/>
          </p:nvSpPr>
          <p:spPr>
            <a:xfrm>
              <a:off x="10402539" y="-1504286"/>
              <a:ext cx="2017540" cy="344128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action menu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0300515-2ECD-FA4C-B90E-01EC3FD72C51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11411309" y="-1160158"/>
              <a:ext cx="362829" cy="680898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2" name="Left Arrow 11">
            <a:extLst>
              <a:ext uri="{FF2B5EF4-FFF2-40B4-BE49-F238E27FC236}">
                <a16:creationId xmlns:a16="http://schemas.microsoft.com/office/drawing/2014/main" id="{2E94D4EC-AA38-5546-B50A-D2D993E6780E}"/>
              </a:ext>
            </a:extLst>
          </p:cNvPr>
          <p:cNvSpPr/>
          <p:nvPr/>
        </p:nvSpPr>
        <p:spPr>
          <a:xfrm>
            <a:off x="9896109" y="2735373"/>
            <a:ext cx="720000" cy="288000"/>
          </a:xfrm>
          <a:prstGeom prst="leftArrow">
            <a:avLst>
              <a:gd name="adj1" fmla="val 50000"/>
              <a:gd name="adj2" fmla="val 63793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134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D684-2508-944F-A57B-20A68127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breakdown: </a:t>
            </a:r>
            <a:r>
              <a:rPr lang="en-US" i="1"/>
              <a:t>fake</a:t>
            </a:r>
            <a:endParaRPr lang="en-US"/>
          </a:p>
        </p:txBody>
      </p: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9C029EC-50A9-F14D-8C43-222A42D657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70" b="4615"/>
          <a:stretch>
            <a:fillRect/>
          </a:stretch>
        </p:blipFill>
        <p:spPr>
          <a:xfrm>
            <a:off x="1079500" y="1237035"/>
            <a:ext cx="10033000" cy="5620966"/>
          </a:xfrm>
          <a:prstGeom prst="rect">
            <a:avLst/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31052C17-FC4B-D544-8FDD-7FD8DEF10A7D}"/>
              </a:ext>
            </a:extLst>
          </p:cNvPr>
          <p:cNvSpPr/>
          <p:nvPr/>
        </p:nvSpPr>
        <p:spPr>
          <a:xfrm>
            <a:off x="4790634" y="2169489"/>
            <a:ext cx="720000" cy="288000"/>
          </a:xfrm>
          <a:prstGeom prst="leftArrow">
            <a:avLst>
              <a:gd name="adj1" fmla="val 50000"/>
              <a:gd name="adj2" fmla="val 63793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862B5C-92ED-CF40-BB54-D3A8C7C49967}"/>
              </a:ext>
            </a:extLst>
          </p:cNvPr>
          <p:cNvGrpSpPr/>
          <p:nvPr/>
        </p:nvGrpSpPr>
        <p:grpSpPr>
          <a:xfrm>
            <a:off x="8544232" y="565590"/>
            <a:ext cx="3411793" cy="850258"/>
            <a:chOff x="14424198" y="-1366046"/>
            <a:chExt cx="3411793" cy="85025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C454F2-8A47-1D41-87EC-EE713377D653}"/>
                </a:ext>
              </a:extLst>
            </p:cNvPr>
            <p:cNvSpPr txBox="1"/>
            <p:nvPr/>
          </p:nvSpPr>
          <p:spPr>
            <a:xfrm>
              <a:off x="15619686" y="-1366046"/>
              <a:ext cx="2216305" cy="344128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full process history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89EA7F7-4906-DC43-B9F8-97691569CDFA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>
              <a:off x="14424198" y="-1193982"/>
              <a:ext cx="1195488" cy="678194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8276A8F-75EB-BB49-9BD9-1995BC31A0C3}"/>
              </a:ext>
            </a:extLst>
          </p:cNvPr>
          <p:cNvSpPr/>
          <p:nvPr/>
        </p:nvSpPr>
        <p:spPr>
          <a:xfrm>
            <a:off x="1124465" y="2800868"/>
            <a:ext cx="9860692" cy="333632"/>
          </a:xfrm>
          <a:prstGeom prst="roundRect">
            <a:avLst/>
          </a:prstGeom>
          <a:noFill/>
          <a:ln w="635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9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5D40-DCE3-B34D-87E4-4D5056C9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for a closer look: </a:t>
            </a:r>
            <a:r>
              <a:rPr lang="en-US" i="1"/>
              <a:t>fake news</a:t>
            </a:r>
            <a:endParaRPr lang="en-US"/>
          </a:p>
        </p:txBody>
      </p:sp>
      <p:pic>
        <p:nvPicPr>
          <p:cNvPr id="6" name="Picture 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9476DD38-337F-6849-A666-9EE262582D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31" b="4317"/>
          <a:stretch>
            <a:fillRect/>
          </a:stretch>
        </p:blipFill>
        <p:spPr>
          <a:xfrm>
            <a:off x="1079500" y="1241209"/>
            <a:ext cx="10033000" cy="5616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464FE8CC-6307-BB45-8F89-E55C8C4F18AE}"/>
              </a:ext>
            </a:extLst>
          </p:cNvPr>
          <p:cNvSpPr/>
          <p:nvPr/>
        </p:nvSpPr>
        <p:spPr>
          <a:xfrm rot="2131877">
            <a:off x="5564358" y="4621173"/>
            <a:ext cx="720000" cy="288000"/>
          </a:xfrm>
          <a:prstGeom prst="leftArrow">
            <a:avLst>
              <a:gd name="adj1" fmla="val 50000"/>
              <a:gd name="adj2" fmla="val 63793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90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3046-A362-D548-89B2-C038FBA9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 across metadata categories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7895521-49E7-A14D-96FC-6764133007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70"/>
          <a:stretch/>
        </p:blipFill>
        <p:spPr>
          <a:xfrm>
            <a:off x="1079500" y="932231"/>
            <a:ext cx="10033000" cy="5925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03F99E13-1C20-B24A-AC38-8247364A4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86" y="4169960"/>
            <a:ext cx="10922000" cy="2152650"/>
          </a:xfrm>
          <a:prstGeom prst="rect">
            <a:avLst/>
          </a:prstGeom>
          <a:ln w="38100">
            <a:solidFill>
              <a:schemeClr val="tx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C24A737D-383B-264C-BAE4-4F39A6D6F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26" y="3131736"/>
            <a:ext cx="7124700" cy="2127250"/>
          </a:xfrm>
          <a:prstGeom prst="rect">
            <a:avLst/>
          </a:prstGeom>
          <a:ln w="38100">
            <a:solidFill>
              <a:schemeClr val="tx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40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F18C7-57E7-9347-A37A-DA461907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Collocation analysis</a:t>
            </a:r>
          </a:p>
        </p:txBody>
      </p:sp>
      <p:pic>
        <p:nvPicPr>
          <p:cNvPr id="6" name="Picture 5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F65A78F2-159A-4C49-84B4-1E8F5350E7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90" b="5508"/>
          <a:stretch>
            <a:fillRect/>
          </a:stretch>
        </p:blipFill>
        <p:spPr>
          <a:xfrm>
            <a:off x="1079500" y="1284139"/>
            <a:ext cx="10033000" cy="5573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F656597-AF2A-2A46-A7C9-7E338A3B5E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9" r="528" b="18323"/>
          <a:stretch/>
        </p:blipFill>
        <p:spPr>
          <a:xfrm>
            <a:off x="3867400" y="5122020"/>
            <a:ext cx="8155460" cy="1381516"/>
          </a:xfrm>
          <a:prstGeom prst="rect">
            <a:avLst/>
          </a:prstGeom>
          <a:ln w="38100">
            <a:solidFill>
              <a:schemeClr val="tx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01E1859-98BD-7548-87D6-A4F659F00BD1}"/>
              </a:ext>
            </a:extLst>
          </p:cNvPr>
          <p:cNvGrpSpPr/>
          <p:nvPr/>
        </p:nvGrpSpPr>
        <p:grpSpPr>
          <a:xfrm>
            <a:off x="3793524" y="495081"/>
            <a:ext cx="4349579" cy="1561591"/>
            <a:chOff x="9311025" y="-1504286"/>
            <a:chExt cx="4349579" cy="156159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0FA296-946D-2D4C-9A76-B3983E8845AE}"/>
                </a:ext>
              </a:extLst>
            </p:cNvPr>
            <p:cNvSpPr txBox="1"/>
            <p:nvPr/>
          </p:nvSpPr>
          <p:spPr>
            <a:xfrm>
              <a:off x="11072727" y="-1504286"/>
              <a:ext cx="2222090" cy="344128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key parameters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B99A554-5437-814C-8BF1-21DDB9B481F8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9311025" y="-1160158"/>
              <a:ext cx="2872747" cy="957971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DD63C0B-7E52-0E42-AB80-3577BCE3B772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12183772" y="-1160158"/>
              <a:ext cx="1476832" cy="883830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A05B1C2-1E81-1A44-B501-5EF88FF41799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12183772" y="-1160158"/>
              <a:ext cx="1464475" cy="1192749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4A819C6-7AAF-9F49-B2A9-26A224883986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9669371" y="-1160158"/>
              <a:ext cx="2514401" cy="1217463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66699B-0BFF-4140-854A-9BCF7CCF0C80}"/>
              </a:ext>
            </a:extLst>
          </p:cNvPr>
          <p:cNvGrpSpPr/>
          <p:nvPr/>
        </p:nvGrpSpPr>
        <p:grpSpPr>
          <a:xfrm>
            <a:off x="7698259" y="3923836"/>
            <a:ext cx="3719385" cy="479925"/>
            <a:chOff x="9220040" y="2296886"/>
            <a:chExt cx="3719385" cy="47992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B81A53-29D3-BA4E-B64A-4361297C5B54}"/>
                </a:ext>
              </a:extLst>
            </p:cNvPr>
            <p:cNvSpPr txBox="1"/>
            <p:nvPr/>
          </p:nvSpPr>
          <p:spPr>
            <a:xfrm>
              <a:off x="10095014" y="2296886"/>
              <a:ext cx="2844411" cy="344128"/>
            </a:xfrm>
            <a:prstGeom prst="rect">
              <a:avLst/>
            </a:prstGeom>
            <a:noFill/>
            <a:effectLst/>
          </p:spPr>
          <p:txBody>
            <a:bodyPr wrap="square" lIns="72000" tIns="18000" rIns="72000" bIns="18000" rtlCol="0">
              <a:spAutoFit/>
            </a:bodyPr>
            <a:lstStyle/>
            <a:p>
              <a:r>
                <a:rPr lang="en-US" sz="2000" b="1" dirty="0" err="1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bg1">
                        <a:alpha val="7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click for examples</a:t>
              </a:r>
              <a:endParaRPr lang="en-US" sz="2000" dirty="0" err="1"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bg1">
                      <a:alpha val="7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3556462-3B4F-C74E-AC43-612C81EB016E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>
              <a:off x="9220040" y="2468950"/>
              <a:ext cx="874974" cy="307861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arrow"/>
            </a:ln>
            <a:effectLst>
              <a:glow rad="76200">
                <a:schemeClr val="bg1">
                  <a:alpha val="70000"/>
                </a:schemeClr>
              </a:glo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9098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0CCC36-0F23-2D80-9095-86544C7D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CQPweb exercise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A0AFF1-6065-8AFF-15DE-0025938E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Activate corpus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ParlSpeech UK</a:t>
            </a:r>
          </a:p>
          <a:p>
            <a:pPr lvl="1"/>
            <a:r>
              <a:rPr lang="en-US"/>
              <a:t>corpus of debates of the UK parliament 1988–2019</a:t>
            </a:r>
          </a:p>
          <a:p>
            <a:pPr lvl="1"/>
            <a:r>
              <a:rPr lang="en-GB"/>
              <a:t>Rauh, C. &amp; Schwalbach, J. (2020). The ParlSpeech V2 data set: Full-text corpora of 6.3 million parliamentary speeches in the key legislative chambers of nine representative democracies. </a:t>
            </a:r>
            <a:r>
              <a:rPr lang="en-US">
                <a:hlinkClick r:id="rId2"/>
              </a:rPr>
              <a:t>https://doi.org/10.7910/DVN/L4OAKN </a:t>
            </a:r>
            <a:endParaRPr lang="en-US"/>
          </a:p>
          <a:p>
            <a:pPr lvl="1"/>
            <a:r>
              <a:rPr lang="en-US"/>
              <a:t>~ 2 M turns with a total of ~ 400 M tokens </a:t>
            </a:r>
          </a:p>
          <a:p>
            <a:pPr lvl="1"/>
            <a:endParaRPr lang="en-US"/>
          </a:p>
          <a:p>
            <a:r>
              <a:rPr lang="en-US"/>
              <a:t>Concordance analysis for query: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water and sanitation</a:t>
            </a:r>
          </a:p>
          <a:p>
            <a:pPr lvl="1"/>
            <a:r>
              <a:rPr lang="en-US"/>
              <a:t>what recurrent patterns can you identify?</a:t>
            </a:r>
          </a:p>
          <a:p>
            <a:pPr lvl="1"/>
            <a:r>
              <a:rPr lang="en-US"/>
              <a:t>can you find evidence for larger units of meaning?</a:t>
            </a:r>
            <a:endParaRPr lang="en-GB"/>
          </a:p>
          <a:p>
            <a:pPr lvl="1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ED836-EA0B-9D0F-5F55-C7473479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E373F5-D672-40E9-78D2-4F1D0070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F41D9-467A-BD03-7D6A-C1D51D6E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974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963A-7EDF-7735-4277-86E77D96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E6C5-61B4-2092-EB27-32FA8BAD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for a break 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1D918-47C6-1D26-1A62-3C838F1E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32" y="2261419"/>
            <a:ext cx="4291536" cy="38623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41D843-534E-C7F2-9AF9-4F286FA2F64A}"/>
              </a:ext>
            </a:extLst>
          </p:cNvPr>
          <p:cNvSpPr/>
          <p:nvPr/>
        </p:nvSpPr>
        <p:spPr>
          <a:xfrm>
            <a:off x="4251648" y="1335625"/>
            <a:ext cx="368870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8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5"/>
                    </a:gs>
                    <a:gs pos="50000">
                      <a:schemeClr val="accent5">
                        <a:lumMod val="75000"/>
                      </a:schemeClr>
                    </a:gs>
                    <a:gs pos="100000">
                      <a:schemeClr val="accent5">
                        <a:lumMod val="50000"/>
                      </a:schemeClr>
                    </a:gs>
                  </a:gsLst>
                  <a:lin ang="4500000" scaled="0"/>
                </a:gra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FAUSans Office" panose="020B0504010101010104" pitchFamily="34" charset="77"/>
                <a:cs typeface="FAUSans Office" panose="020B0504010101010104" pitchFamily="34" charset="77"/>
              </a:rPr>
              <a:t>Coffee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AB741C-CC12-1EA7-8B3F-FF026049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ED8C60-8FDE-6C5E-11BA-F45DE400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081470-5C1F-559D-9F6D-CDB73270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95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31E9-13A0-89A4-50DC-F68546DD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000DD-4EC9-E44F-B3F1-1FAF158E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we have learned so far from using</a:t>
            </a:r>
            <a:br>
              <a:rPr lang="en-US" dirty="0"/>
            </a:br>
            <a:r>
              <a:rPr lang="en-US" dirty="0" err="1"/>
              <a:t>CLiC</a:t>
            </a:r>
            <a:r>
              <a:rPr lang="en-US" dirty="0"/>
              <a:t> &amp; </a:t>
            </a:r>
            <a:r>
              <a:rPr lang="en-US" dirty="0" err="1"/>
              <a:t>CQPweb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32496-977A-10F5-1786-F711F8DF2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GB" dirty="0"/>
              <a:t> What strategies have you applied? </a:t>
            </a:r>
          </a:p>
          <a:p>
            <a:pPr>
              <a:buFont typeface="Wingdings" pitchFamily="2" charset="2"/>
              <a:buChar char="q"/>
            </a:pPr>
            <a:r>
              <a:rPr lang="en-GB" dirty="0"/>
              <a:t> How do you describe what you do?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4DD64-2FA9-37FE-F7CE-EEF1CA11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935BEA-7602-BA98-2BE3-2DF0286AE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98947-E911-C5B4-2B61-3CCD606D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29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56C7-EE63-63E8-4E41-688E66E9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1208315"/>
          </a:xfrm>
        </p:spPr>
        <p:txBody>
          <a:bodyPr>
            <a:normAutofit fontScale="90000"/>
          </a:bodyPr>
          <a:lstStyle/>
          <a:p>
            <a:r>
              <a:rPr lang="en-DE" dirty="0"/>
              <a:t>Practices in different disciplines:</a:t>
            </a:r>
            <a:br>
              <a:rPr lang="en-US" dirty="0"/>
            </a:br>
            <a:r>
              <a:rPr lang="en-DE" dirty="0"/>
              <a:t>survey of strategies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B050C-E922-126D-0EE4-F0E91ABD9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152171"/>
          </a:xfrm>
        </p:spPr>
        <p:txBody>
          <a:bodyPr/>
          <a:lstStyle/>
          <a:p>
            <a:r>
              <a:rPr lang="en-US" dirty="0"/>
              <a:t>10  articles / case studies per discipline (40 total)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Lexicography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Data-driven learning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Corpus-assisted discourse studies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Literary stylistics </a:t>
            </a:r>
          </a:p>
          <a:p>
            <a:pPr lvl="1"/>
            <a:r>
              <a:rPr lang="en-US" dirty="0"/>
              <a:t>post-2000 publication; concrete examples</a:t>
            </a:r>
          </a:p>
          <a:p>
            <a:pPr lvl="1"/>
            <a:r>
              <a:rPr lang="en-US" dirty="0"/>
              <a:t>not included: studies using parallel or learner corpora</a:t>
            </a:r>
          </a:p>
          <a:p>
            <a:r>
              <a:rPr lang="en-US" dirty="0"/>
              <a:t>Content analysis of methods sections (not literature review) </a:t>
            </a:r>
          </a:p>
          <a:p>
            <a:r>
              <a:rPr lang="en-US" dirty="0"/>
              <a:t>Challenge: no systematic standards for describing methodology, mix of tool and method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839D6-F1F4-019E-FCEE-A928ED4C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00ED9-E65C-1E2F-D3D7-6BC21277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70A39-154A-1EF4-2C63-0CFE4359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613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7ACA-2633-DC86-731E-0BD82419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AA73-01EE-0C0B-54E3-D2D350D8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Selecting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FDD4-ECC0-4CE0-8E57-5144F6C2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Sampling</a:t>
            </a:r>
          </a:p>
          <a:p>
            <a:pPr marL="0" indent="0">
              <a:buNone/>
            </a:pPr>
            <a:r>
              <a:rPr lang="en-GB" dirty="0"/>
              <a:t>A random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sample</a:t>
            </a:r>
            <a:r>
              <a:rPr lang="en-GB" dirty="0">
                <a:solidFill>
                  <a:srgbClr val="CC0066"/>
                </a:solidFill>
              </a:rPr>
              <a:t> </a:t>
            </a:r>
            <a:r>
              <a:rPr lang="en-GB" dirty="0"/>
              <a:t>of 100 concordances of each pair was, subsequently,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closely</a:t>
            </a:r>
            <a:r>
              <a:rPr lang="en-GB" dirty="0">
                <a:solidFill>
                  <a:srgbClr val="CC0066"/>
                </a:solidFill>
              </a:rPr>
              <a:t>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examined</a:t>
            </a:r>
            <a:r>
              <a:rPr lang="en-GB" dirty="0">
                <a:solidFill>
                  <a:srgbClr val="CC0066"/>
                </a:solidFill>
              </a:rPr>
              <a:t> </a:t>
            </a:r>
            <a:r>
              <a:rPr lang="en-GB" dirty="0"/>
              <a:t>for semantic prosody. </a:t>
            </a:r>
            <a:r>
              <a:rPr lang="en-GB" b="1" dirty="0"/>
              <a:t>(Lexicography)</a:t>
            </a:r>
          </a:p>
          <a:p>
            <a:pPr lvl="2"/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Filtering</a:t>
            </a:r>
            <a:r>
              <a:rPr lang="en-GB" dirty="0">
                <a:solidFill>
                  <a:srgbClr val="CC0066"/>
                </a:solidFill>
              </a:rPr>
              <a:t> </a:t>
            </a:r>
          </a:p>
          <a:p>
            <a:pPr marL="0" indent="0">
              <a:buNone/>
            </a:pPr>
            <a:r>
              <a:rPr lang="en-GB" dirty="0"/>
              <a:t>A concordance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query</a:t>
            </a:r>
            <a:r>
              <a:rPr lang="en-GB" dirty="0">
                <a:solidFill>
                  <a:srgbClr val="CC0066"/>
                </a:solidFill>
              </a:rPr>
              <a:t> </a:t>
            </a:r>
            <a:r>
              <a:rPr lang="en-GB" dirty="0"/>
              <a:t>for </a:t>
            </a:r>
            <a:r>
              <a:rPr lang="en-GB" i="1" dirty="0"/>
              <a:t>carry out </a:t>
            </a:r>
            <a:r>
              <a:rPr lang="en-GB" dirty="0"/>
              <a:t>with </a:t>
            </a:r>
            <a:r>
              <a:rPr lang="en-GB" i="1" dirty="0"/>
              <a:t>research</a:t>
            </a:r>
            <a:r>
              <a:rPr lang="en-GB" dirty="0"/>
              <a:t> in the context of three tokens to the left and to the right returned 160 hits, and most lines indeed exhibited the collocation </a:t>
            </a:r>
            <a:r>
              <a:rPr lang="en-GB" i="1" dirty="0"/>
              <a:t>carry out research</a:t>
            </a:r>
            <a:r>
              <a:rPr lang="en-GB" dirty="0"/>
              <a:t>, as exemplified in Figure 8, …. </a:t>
            </a:r>
            <a:r>
              <a:rPr lang="en-GB" b="1" dirty="0"/>
              <a:t>(Lexicography)</a:t>
            </a:r>
          </a:p>
          <a:p>
            <a:pPr marL="914400" lvl="2" indent="0">
              <a:buNone/>
            </a:pP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029FA-6750-FA98-B7A3-A3A3320A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2CD92-90C2-551E-40F5-F70E5FC5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F47C3-106F-26E3-50FF-694F8C51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53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A4A6F-C2DB-4E5C-78E0-C1F3BC0F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233B-AFA1-A933-582E-06197A58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Selecting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C5F0-79E8-D7D1-0D2C-72D0D3627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Cleaning</a:t>
            </a:r>
          </a:p>
          <a:p>
            <a:pPr marL="0" indent="0">
              <a:buNone/>
            </a:pPr>
            <a:r>
              <a:rPr lang="en-GB" dirty="0"/>
              <a:t>As we were interested in lexical compounds linked to carbon dioxide rather than carbon as an element, such lexical combinations as, for example, </a:t>
            </a:r>
            <a:r>
              <a:rPr lang="en-GB" i="1" dirty="0"/>
              <a:t>carbon molecule</a:t>
            </a:r>
            <a:r>
              <a:rPr lang="en-GB" dirty="0"/>
              <a:t> or </a:t>
            </a:r>
            <a:r>
              <a:rPr lang="en-GB" i="1" dirty="0"/>
              <a:t>carbon fibre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were removed</a:t>
            </a:r>
            <a:r>
              <a:rPr lang="en-GB" dirty="0"/>
              <a:t>. Nonsensical combinations as well as duplicates arising from differences in spelling such as </a:t>
            </a:r>
            <a:r>
              <a:rPr lang="en-GB" i="1" dirty="0"/>
              <a:t>carbon offset </a:t>
            </a:r>
            <a:r>
              <a:rPr lang="en-GB" dirty="0"/>
              <a:t>and </a:t>
            </a:r>
            <a:r>
              <a:rPr lang="en-GB" i="1" dirty="0"/>
              <a:t>carbon-offset</a:t>
            </a:r>
            <a:r>
              <a:rPr lang="en-GB" dirty="0"/>
              <a:t>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were also eliminated</a:t>
            </a:r>
            <a:r>
              <a:rPr lang="en-GB" dirty="0"/>
              <a:t>. </a:t>
            </a:r>
            <a:r>
              <a:rPr lang="en-GB" b="1" dirty="0"/>
              <a:t>(CADS)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Threshold</a:t>
            </a:r>
            <a:r>
              <a:rPr lang="en-GB" dirty="0">
                <a:solidFill>
                  <a:srgbClr val="CC0066"/>
                </a:solidFill>
              </a:rPr>
              <a:t> </a:t>
            </a:r>
          </a:p>
          <a:p>
            <a:pPr marL="0" indent="0">
              <a:buNone/>
            </a:pPr>
            <a:r>
              <a:rPr lang="en-GB" dirty="0"/>
              <a:t>We analysed the first 500 concordances of </a:t>
            </a:r>
            <a:r>
              <a:rPr lang="en-GB" i="1" dirty="0" err="1"/>
              <a:t>seguire</a:t>
            </a:r>
            <a:r>
              <a:rPr lang="en-GB" dirty="0"/>
              <a:t> chosen as “good examples” by the Sketch Engine (cf. </a:t>
            </a:r>
            <a:r>
              <a:rPr lang="en-GB" dirty="0" err="1"/>
              <a:t>Kilgarriff</a:t>
            </a:r>
            <a:r>
              <a:rPr lang="en-GB" dirty="0"/>
              <a:t> et al., 2008) </a:t>
            </a:r>
            <a:r>
              <a:rPr lang="en-GB" b="1" dirty="0"/>
              <a:t>(Lexicography)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7736D-AE3D-F5E4-D44C-5944F964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B4947-E9A6-FE4F-091A-17109F37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B3365-15F8-8999-891C-C5F477EB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4EF59-E7AA-A66A-BCCD-79C81585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C075-5F5E-A8ED-24C8-29A0E9E4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3FD2-7220-C7F4-27E0-CB59B981F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Sorting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 err="1"/>
              <a:t>WordSmith</a:t>
            </a:r>
            <a:r>
              <a:rPr lang="en-GB" dirty="0"/>
              <a:t> Tools was mainly used for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sorting</a:t>
            </a:r>
            <a:r>
              <a:rPr lang="en-GB" dirty="0">
                <a:solidFill>
                  <a:srgbClr val="CC0066"/>
                </a:solidFill>
              </a:rPr>
              <a:t> </a:t>
            </a:r>
            <a:r>
              <a:rPr lang="en-GB" dirty="0"/>
              <a:t>and categorising concordances because it allows the analyst to assign values to lines and to move easily from concordance to text. [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Figure 3</a:t>
            </a:r>
            <a:r>
              <a:rPr lang="en-GB" dirty="0">
                <a:solidFill>
                  <a:srgbClr val="CC0066"/>
                </a:solidFill>
              </a:rPr>
              <a:t> </a:t>
            </a:r>
            <a:r>
              <a:rPr lang="en-GB" dirty="0"/>
              <a:t>shows sorting by 1R] </a:t>
            </a:r>
            <a:r>
              <a:rPr lang="en-GB" b="1" dirty="0"/>
              <a:t>(CADS)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/>
              <a:t>The students were then instructed to search for the preceding underlined word </a:t>
            </a:r>
            <a:r>
              <a:rPr lang="en-GB" i="1" dirty="0"/>
              <a:t>friendship</a:t>
            </a:r>
            <a:r>
              <a:rPr lang="en-GB" dirty="0"/>
              <a:t> using </a:t>
            </a:r>
            <a:r>
              <a:rPr lang="en-GB" dirty="0" err="1"/>
              <a:t>IntelliText</a:t>
            </a:r>
            <a:r>
              <a:rPr lang="en-GB" dirty="0"/>
              <a:t>, and to examine the concordance lines to identify which preposition should follow </a:t>
            </a:r>
            <a:r>
              <a:rPr lang="en-GB" i="1" dirty="0"/>
              <a:t>friendship</a:t>
            </a:r>
            <a:r>
              <a:rPr lang="en-GB" dirty="0"/>
              <a:t> in this context, by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sorting</a:t>
            </a:r>
            <a:r>
              <a:rPr lang="en-GB" dirty="0"/>
              <a:t> right or left contexts in keyword-in-context (KWIC) lines. </a:t>
            </a:r>
            <a:r>
              <a:rPr lang="en-GB" b="1" dirty="0"/>
              <a:t>(DDL) </a:t>
            </a:r>
            <a:endParaRPr lang="en-GB" sz="28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CE1E7-4A51-226C-B755-AF59C175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76E34-C188-F5A6-3923-F8CCABEB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B61A6-26C7-9B15-E6A3-C271498C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57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EB0E-2C34-FAAC-362D-137A7486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6013-D71D-12EF-20B8-4C44EAFB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A221B-7B93-8BDF-CE97-49F11C81A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Ranking</a:t>
            </a:r>
            <a:r>
              <a:rPr lang="en-GB" dirty="0">
                <a:solidFill>
                  <a:srgbClr val="CC0066"/>
                </a:solidFill>
              </a:rPr>
              <a:t> </a:t>
            </a:r>
          </a:p>
          <a:p>
            <a:pPr marL="0" indent="0">
              <a:buNone/>
            </a:pPr>
            <a:r>
              <a:rPr lang="en-GB" dirty="0"/>
              <a:t>We analysed the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first 500 </a:t>
            </a:r>
            <a:r>
              <a:rPr lang="en-GB" dirty="0"/>
              <a:t>concordances of </a:t>
            </a:r>
            <a:r>
              <a:rPr lang="en-GB" i="1" dirty="0" err="1"/>
              <a:t>seguire</a:t>
            </a:r>
            <a:r>
              <a:rPr lang="en-GB" dirty="0"/>
              <a:t>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chosen as “good examples”</a:t>
            </a:r>
            <a:r>
              <a:rPr lang="en-GB" dirty="0"/>
              <a:t> by the Sketch Engine (cf. </a:t>
            </a:r>
            <a:r>
              <a:rPr lang="en-GB" dirty="0" err="1"/>
              <a:t>Kilgarriff</a:t>
            </a:r>
            <a:r>
              <a:rPr lang="en-GB" dirty="0"/>
              <a:t> et al., 2008) </a:t>
            </a:r>
            <a:r>
              <a:rPr lang="en-GB" b="1" dirty="0"/>
              <a:t>(Lexicography)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4427E-3B06-03E8-6C46-B8309390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93F6-F215-D3B4-C7F8-6BBB40FD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9DA11-733A-8DC4-79C6-F2460C01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679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964127-63D1-46F9-4D1F-0859FA0A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</a:t>
            </a:r>
            <a:r>
              <a:rPr lang="en-GB" dirty="0"/>
              <a:t>e</a:t>
            </a:r>
            <a:r>
              <a:rPr lang="en-DE" dirty="0"/>
              <a:t>ading Concordances R21 Project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0517D-CAE0-5124-F10F-00C27A26A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2400" b="0" i="0" dirty="0">
                <a:solidFill>
                  <a:srgbClr val="222222"/>
                </a:solidFill>
                <a:effectLst/>
              </a:rPr>
              <a:t>What do users do to organise concordance lines for interpretation? </a:t>
            </a:r>
            <a:r>
              <a:rPr lang="en-GB" sz="2400" dirty="0">
                <a:solidFill>
                  <a:srgbClr val="222222"/>
                </a:solidFill>
              </a:rPr>
              <a:t>W</a:t>
            </a:r>
            <a:r>
              <a:rPr lang="en-GB" sz="2400" b="0" i="0" dirty="0">
                <a:solidFill>
                  <a:srgbClr val="222222"/>
                </a:solidFill>
                <a:effectLst/>
              </a:rPr>
              <a:t>hat drives the choices they make, beyond their intuition and the features of </a:t>
            </a:r>
            <a:r>
              <a:rPr lang="en-GB" sz="2400" b="0" i="0" dirty="0" err="1">
                <a:solidFill>
                  <a:srgbClr val="222222"/>
                </a:solidFill>
                <a:effectLst/>
              </a:rPr>
              <a:t>concordancing</a:t>
            </a:r>
            <a:r>
              <a:rPr lang="en-GB" sz="2400" b="0" i="0" dirty="0">
                <a:solidFill>
                  <a:srgbClr val="222222"/>
                </a:solidFill>
                <a:effectLst/>
              </a:rPr>
              <a:t> tools they are familiar with? </a:t>
            </a:r>
          </a:p>
          <a:p>
            <a:pPr marL="0" indent="0" algn="l">
              <a:buNone/>
            </a:pPr>
            <a:r>
              <a:rPr lang="en-GB" sz="2400" b="1" dirty="0">
                <a:solidFill>
                  <a:srgbClr val="B71738"/>
                </a:solidFill>
              </a:rPr>
              <a:t>Our goals: </a:t>
            </a:r>
            <a:endParaRPr lang="en-GB" sz="2400" b="1" i="0" dirty="0">
              <a:solidFill>
                <a:srgbClr val="B71738"/>
              </a:solidFill>
              <a:effectLst/>
            </a:endParaRPr>
          </a:p>
          <a:p>
            <a:pPr marL="407988" indent="-407988" algn="l">
              <a:buFont typeface="+mj-lt"/>
              <a:buAutoNum type="arabicPeriod"/>
            </a:pPr>
            <a:r>
              <a:rPr lang="en-GB" sz="2400" b="1" i="0" dirty="0">
                <a:solidFill>
                  <a:srgbClr val="222222"/>
                </a:solidFill>
                <a:effectLst/>
              </a:rPr>
              <a:t>Develop a consistent methodology </a:t>
            </a:r>
            <a:r>
              <a:rPr lang="en-GB" sz="2400" b="0" i="0" dirty="0">
                <a:solidFill>
                  <a:srgbClr val="222222"/>
                </a:solidFill>
                <a:effectLst/>
              </a:rPr>
              <a:t>of concordance reading strategies and suggesting a transparent terminology that describes tool-independent principles of reading concordances. </a:t>
            </a:r>
          </a:p>
          <a:p>
            <a:pPr marL="407988" indent="-407988" algn="l">
              <a:buFont typeface="+mj-lt"/>
              <a:buAutoNum type="arabicPeriod"/>
            </a:pPr>
            <a:r>
              <a:rPr lang="en-GB" sz="2400" b="1" i="0" dirty="0">
                <a:solidFill>
                  <a:srgbClr val="222222"/>
                </a:solidFill>
                <a:effectLst/>
              </a:rPr>
              <a:t>Develop a concordance software framework and new algorithms </a:t>
            </a:r>
            <a:r>
              <a:rPr lang="en-GB" sz="2400" b="0" i="0" dirty="0">
                <a:solidFill>
                  <a:srgbClr val="222222"/>
                </a:solidFill>
                <a:effectLst/>
              </a:rPr>
              <a:t>that support a consistent concordance reading methodology: the </a:t>
            </a:r>
            <a:r>
              <a:rPr lang="en-GB" sz="2400" b="1" i="0" dirty="0" err="1">
                <a:solidFill>
                  <a:srgbClr val="222222"/>
                </a:solidFill>
                <a:effectLst/>
              </a:rPr>
              <a:t>FlexiConc</a:t>
            </a:r>
            <a:r>
              <a:rPr lang="en-GB" sz="2400" b="0" i="0" dirty="0">
                <a:solidFill>
                  <a:srgbClr val="222222"/>
                </a:solidFill>
                <a:effectLst/>
              </a:rPr>
              <a:t> library </a:t>
            </a:r>
          </a:p>
          <a:p>
            <a:pPr marL="407988" indent="-407988" algn="l">
              <a:buFont typeface="+mj-lt"/>
              <a:buAutoNum type="arabicPeriod"/>
            </a:pPr>
            <a:r>
              <a:rPr lang="en-GB" sz="2400" b="1" i="0" dirty="0">
                <a:solidFill>
                  <a:srgbClr val="222222"/>
                </a:solidFill>
                <a:effectLst/>
              </a:rPr>
              <a:t>Conduct case studies</a:t>
            </a:r>
            <a:r>
              <a:rPr lang="en-GB" sz="2400" b="0" i="0" dirty="0">
                <a:solidFill>
                  <a:srgbClr val="222222"/>
                </a:solidFill>
                <a:effectLst/>
              </a:rPr>
              <a:t> </a:t>
            </a:r>
            <a:r>
              <a:rPr lang="en-GB" sz="2400" dirty="0">
                <a:solidFill>
                  <a:srgbClr val="222222"/>
                </a:solidFill>
              </a:rPr>
              <a:t>to illustrate the usefulness of the approach</a:t>
            </a:r>
            <a:endParaRPr lang="en-DE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1BBDC-AA6E-E5FF-6E55-6BB8BABF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13A4F-78C4-05EF-EEE0-E3A3D82E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633BB-BABF-02D7-CE93-0DBB9FC2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38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8F952-D0F9-E020-0EF1-CDBF6860955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40500"/>
            <a:ext cx="5070475" cy="317500"/>
          </a:xfrm>
        </p:spPr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7F014-5461-AD5C-F848-81A00EF4AE7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40500"/>
            <a:ext cx="2743200" cy="317500"/>
          </a:xfrm>
        </p:spPr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AFC00B-485E-294E-0C4D-493D565B0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34" y="217284"/>
            <a:ext cx="11745532" cy="611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50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856E-E7BA-162D-C7A4-9DB8D35F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FlexiConc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38EC-2933-2DD2-29D9-E846B4C05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17659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</a:p>
          <a:p>
            <a:pPr lvl="1"/>
            <a:r>
              <a:rPr lang="en-US"/>
              <a:t>“zoom in” on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</a:t>
            </a:r>
            <a:r>
              <a:rPr lang="en-US"/>
              <a:t> of the concordance lines</a:t>
            </a:r>
          </a:p>
          <a:p>
            <a:pPr lvl="1"/>
            <a:r>
              <a:rPr lang="en-US"/>
              <a:t>either focus on specific pattern or discard unwanted lines</a:t>
            </a:r>
          </a:p>
          <a:p>
            <a:pPr lvl="1"/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Ordering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Sorting</a:t>
            </a:r>
            <a:r>
              <a:rPr lang="en-US"/>
              <a:t>: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reorder</a:t>
            </a:r>
            <a:r>
              <a:rPr lang="en-US"/>
              <a:t> lines based on pairwise comparison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Ranking</a:t>
            </a:r>
            <a:r>
              <a:rPr lang="en-US"/>
              <a:t>: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reorder</a:t>
            </a:r>
            <a:r>
              <a:rPr lang="en-US"/>
              <a:t> lines based on preference score</a:t>
            </a:r>
          </a:p>
          <a:p>
            <a:pPr marL="800100" lvl="1" indent="-342900">
              <a:buFont typeface="+mj-lt"/>
              <a:buAutoNum type="alphaLcParenR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Grouping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Partitioning</a:t>
            </a:r>
            <a:r>
              <a:rPr lang="en-US"/>
              <a:t>: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groups</a:t>
            </a:r>
            <a:r>
              <a:rPr lang="en-US"/>
              <a:t> based on common property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Clustering</a:t>
            </a:r>
            <a:r>
              <a:rPr lang="en-US">
                <a:sym typeface="Wingdings" pitchFamily="2" charset="2"/>
              </a:rPr>
              <a:t>: (nested</a:t>
            </a:r>
            <a:r>
              <a:rPr lang="en-US"/>
              <a:t>)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groups</a:t>
            </a:r>
            <a:r>
              <a:rPr lang="en-US"/>
              <a:t> based on pairwise similarity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02A460-CE7A-A3D7-320E-F9C54CB767C8}"/>
              </a:ext>
            </a:extLst>
          </p:cNvPr>
          <p:cNvGrpSpPr/>
          <p:nvPr/>
        </p:nvGrpSpPr>
        <p:grpSpPr>
          <a:xfrm>
            <a:off x="10218099" y="1288029"/>
            <a:ext cx="1179206" cy="1749056"/>
            <a:chOff x="10259568" y="1242309"/>
            <a:chExt cx="1179206" cy="1749056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E670474E-A761-AF6C-F70E-F77433C0F09E}"/>
                </a:ext>
              </a:extLst>
            </p:cNvPr>
            <p:cNvSpPr/>
            <p:nvPr/>
          </p:nvSpPr>
          <p:spPr>
            <a:xfrm>
              <a:off x="10259568" y="1463040"/>
              <a:ext cx="338328" cy="1307592"/>
            </a:xfrm>
            <a:prstGeom prst="rightBrace">
              <a:avLst>
                <a:gd name="adj1" fmla="val 32657"/>
                <a:gd name="adj2" fmla="val 50000"/>
              </a:avLst>
            </a:prstGeom>
            <a:ln w="5080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AE2667-A13A-9BCD-77FF-7D752B6D02A0}"/>
                </a:ext>
              </a:extLst>
            </p:cNvPr>
            <p:cNvSpPr txBox="1"/>
            <p:nvPr/>
          </p:nvSpPr>
          <p:spPr>
            <a:xfrm rot="5400000">
              <a:off x="10241081" y="1793671"/>
              <a:ext cx="17490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subset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7B580F6-47BA-F1D4-4215-1CC98B726D08}"/>
              </a:ext>
            </a:extLst>
          </p:cNvPr>
          <p:cNvGrpSpPr/>
          <p:nvPr/>
        </p:nvGrpSpPr>
        <p:grpSpPr>
          <a:xfrm>
            <a:off x="10218099" y="3429000"/>
            <a:ext cx="1179205" cy="3108960"/>
            <a:chOff x="10259568" y="3005974"/>
            <a:chExt cx="1179205" cy="3559418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C01B5587-A182-93F7-2771-0CC70F5DB545}"/>
                </a:ext>
              </a:extLst>
            </p:cNvPr>
            <p:cNvSpPr/>
            <p:nvPr/>
          </p:nvSpPr>
          <p:spPr>
            <a:xfrm>
              <a:off x="10259568" y="3005974"/>
              <a:ext cx="338328" cy="3559417"/>
            </a:xfrm>
            <a:prstGeom prst="rightBrace">
              <a:avLst>
                <a:gd name="adj1" fmla="val 32657"/>
                <a:gd name="adj2" fmla="val 50000"/>
              </a:avLst>
            </a:prstGeom>
            <a:ln w="508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B01BA9-75D9-CD61-4BA9-A5B5A2B5A4AF}"/>
                </a:ext>
              </a:extLst>
            </p:cNvPr>
            <p:cNvSpPr txBox="1"/>
            <p:nvPr/>
          </p:nvSpPr>
          <p:spPr>
            <a:xfrm rot="5400000">
              <a:off x="9335900" y="4462518"/>
              <a:ext cx="3559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arrangement</a:t>
              </a: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5F670C1-E7AF-8132-DA92-82A97C17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27</a:t>
            </a:fld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85AC40A-AEC3-7242-C18D-DC4843ABA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Sep 2026 | © RC21 Team</a:t>
            </a: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7D4E861-647B-CCE5-A107-A38ED30E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46456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4FF9-FD61-894E-CF1C-0E4D1CC7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123F20D-A80F-DA3C-3092-C16C7B2EAC8B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3A90BAE-DD15-BF76-B07D-2FAF638C5743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76E1CE5-A59F-14A4-2930-A54E0BF966E2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2CD18E-1982-E0D8-B0E2-B55CF9FAC231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B4ED05A-A19C-AF51-615D-A2344E80EB8E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C86C9FF-8C00-2D46-ACC1-A98A3C4EC7A2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C38DC-74C6-723A-CB92-ED687B3F4727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28AF7C-CBE2-6139-17F7-5F0F787583A2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D6F72B-C308-2E48-6BC2-42BD47F04310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9BBE9D-1191-2845-FEA5-E6032415AC96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949E8D-F371-BE66-E1E7-0D5B5541B17F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4278D11-1C56-FAAB-1242-0A592771CB2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27C5DBC-D98A-12E5-83E9-62D41C90918A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CFB7943-7481-573A-58C5-EF2A47783B63}"/>
              </a:ext>
            </a:extLst>
          </p:cNvPr>
          <p:cNvSpPr/>
          <p:nvPr/>
        </p:nvSpPr>
        <p:spPr>
          <a:xfrm>
            <a:off x="404619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1AED9A-6B79-734E-9276-D0F5C5C80EBD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08823A-FC2B-FAB2-DE5B-1CA5AC0068F6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9D8BA6-EDA9-8E8A-CCD9-3B0F47F53D78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4C022-F522-B905-4690-91D0B9CD0D17}"/>
              </a:ext>
            </a:extLst>
          </p:cNvPr>
          <p:cNvSpPr txBox="1"/>
          <p:nvPr/>
        </p:nvSpPr>
        <p:spPr>
          <a:xfrm>
            <a:off x="4525579" y="3187107"/>
            <a:ext cx="69612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Welcome to</a:t>
            </a:r>
            <a:b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90000"/>
                  </a:srgb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Candy</a:t>
            </a: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rgbClr val="54C5F3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Conc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54C5F3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52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E7E2-7FDD-F1F1-4692-E08A5573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2365092-D01B-3197-5CB4-CA74C1FC2AD8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28A5183-11FA-5619-556D-84FB3873D9D4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CDC53EA-7B58-29F7-F251-9BC74E2A4B7E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35064E-35A4-44EE-0A67-F41F5F6C9862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7C99EA8-58C5-A7AE-EA3A-308DAD9F4FA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1726FDE-8525-9131-EC4B-44E089573CB6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86281FF-D736-1543-A39E-6B1165FCE930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E9FE00C-B354-31F7-2DD3-D6D6E5D785D6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A2EC8-65C1-D7EA-E6BF-CB60FBDFED84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C09832-6122-1DF4-439D-2AE81DAB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1" b="751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769165-525D-5B42-EF21-DD0FD891013B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A1DDB0-5441-EE2A-4743-31A3C138191B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BD2DD4E8-3ADC-E468-7F59-712F4E1E34D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34E7135-581D-99B6-536A-06E70814E2B1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D78B154-E777-CCA7-3157-FDCE551DCB12}"/>
              </a:ext>
            </a:extLst>
          </p:cNvPr>
          <p:cNvSpPr/>
          <p:nvPr/>
        </p:nvSpPr>
        <p:spPr>
          <a:xfrm>
            <a:off x="404619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515616-8067-A3C9-CCA8-8515E726EBF3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EF589F-595D-A0DD-32C3-C699DF4C1BFF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3F28AB-4B62-8A60-3BA7-200E2B7955AE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D598FBE-C5A9-6181-D7D5-8B1EF624EAB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86DAAA-260E-387B-CD81-465A603C4E1C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25537F-DB4B-DE6F-6347-187D3C472AA7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</p:spTree>
    <p:extLst>
      <p:ext uri="{BB962C8B-B14F-4D97-AF65-F5344CB8AC3E}">
        <p14:creationId xmlns:p14="http://schemas.microsoft.com/office/powerpoint/2010/main" val="273726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4E33-184C-0841-E4EE-18161117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CA6009-DB23-DB38-7F3D-D090B9FC580C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3E1EB99-2FFB-1340-1E4A-DBF5EA6BC516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6BFF207-6641-DC2B-13DF-9C2910544F86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C37BE6-7876-8D8B-D1F8-9DE6C6E0F70D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724D0D8-6D3E-FAA0-31E3-C49E38F66C07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A83DE94-521F-DB61-4EEA-9BBF138A9109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B1726F8-1AD9-617A-7272-61A6C5DA6D3F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48CAB5D-69EF-82BE-17A3-D7868021A773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E52103-3FE8-79AC-BF7B-94DF9A6B50C0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random</a:t>
            </a:r>
          </a:p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F5B8884F-FB7F-A2F5-BE3B-CF47953A5F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5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860C9F-A1FE-C67B-7654-91EFB899D24C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373D5D-B080-92EB-6E76-8E368883465E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C6926F1-EAC9-69B3-7F93-DF28028DFFD1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087CC4D-4153-3759-89ED-01AC26A1766F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2C7FC6C-E73A-8703-BDA8-9C6DAD3CCE31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19104F-F80F-F471-0EA2-E1CC077D1E7A}"/>
              </a:ext>
            </a:extLst>
          </p:cNvPr>
          <p:cNvGrpSpPr/>
          <p:nvPr/>
        </p:nvGrpSpPr>
        <p:grpSpPr>
          <a:xfrm>
            <a:off x="4087185" y="1148893"/>
            <a:ext cx="1562844" cy="360000"/>
            <a:chOff x="82196" y="115421"/>
            <a:chExt cx="1562844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13A64FD-6F7F-9DD2-EFCB-EA51DAC14FE4}"/>
                </a:ext>
              </a:extLst>
            </p:cNvPr>
            <p:cNvSpPr/>
            <p:nvPr/>
          </p:nvSpPr>
          <p:spPr>
            <a:xfrm>
              <a:off x="82197" y="115421"/>
              <a:ext cx="1562843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random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2A8873A0-4C7A-3E13-7181-02F083857ACC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0053E58-A117-73EE-575D-EBB867E5668E}"/>
              </a:ext>
            </a:extLst>
          </p:cNvPr>
          <p:cNvSpPr/>
          <p:nvPr/>
        </p:nvSpPr>
        <p:spPr>
          <a:xfrm>
            <a:off x="565002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B8241B-E791-344E-D05D-B8FA5479A07E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EE7572D-CFB8-ED2C-8CD6-50A13828B6B5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069B09-18C5-E674-92D9-4EB75B3A24CF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FE9E56C-203D-A1E9-F430-63C09F5D8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CB97BA-EEB6-13AC-E16B-08ADDE61955D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55904E-56B4-6089-4387-34F2FFA17FC9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55FE083-7C8A-C9C2-AFCA-CB04B3AE94B6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0C0003-92E5-8254-2118-BF9F3301F967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32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817C-81D8-F46B-F8C5-07C8EF73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246FE00-BD6A-4069-D02D-C21393BF40EC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C333C2A-8CC1-A622-790F-9527F13979DB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F0327DC-70FF-11DC-E686-6B12A82C35D6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387AA6-F934-2A80-2FB8-BBBB9096E29F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2E2818C-A939-DDD9-CFAE-BABB693220C4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0D2EF5E-98DF-3463-A8E4-78A4C06B603B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C303278-21DC-B74F-62A8-9A3BAC57472F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33A8BE-A838-DEA4-6E97-0FFC9F63F495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3F60BA-17C4-03E5-8C0E-1D0F0652AC5F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70074E-EB2A-9456-339E-9E4F793E82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" b="532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AF8557-12E6-DA10-AE76-6D78CE59C4BB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7AD18D1-2FFE-A45A-73BF-C8F7D3B34992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3AE24F5-8FDB-AF6F-DFDA-834FC759AFC3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5FA809D-D6B2-B0D0-2C63-B737C87ABF43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AE63A8-14F3-60CC-2249-84B7B9B7B63A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C71E1F-3EE7-BEA9-83AE-4F7F990CD430}"/>
              </a:ext>
            </a:extLst>
          </p:cNvPr>
          <p:cNvGrpSpPr/>
          <p:nvPr/>
        </p:nvGrpSpPr>
        <p:grpSpPr>
          <a:xfrm>
            <a:off x="4087185" y="1148893"/>
            <a:ext cx="1562844" cy="360000"/>
            <a:chOff x="82196" y="115421"/>
            <a:chExt cx="1562844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4362A26-79B2-6F6B-8295-3412DD152C6E}"/>
                </a:ext>
              </a:extLst>
            </p:cNvPr>
            <p:cNvSpPr/>
            <p:nvPr/>
          </p:nvSpPr>
          <p:spPr>
            <a:xfrm>
              <a:off x="82197" y="115421"/>
              <a:ext cx="1562843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random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141FE410-D167-551B-028B-8DB9E901DCA0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365C39A-16B9-A769-B222-B5C7E1F4DC71}"/>
              </a:ext>
            </a:extLst>
          </p:cNvPr>
          <p:cNvSpPr/>
          <p:nvPr/>
        </p:nvSpPr>
        <p:spPr>
          <a:xfrm>
            <a:off x="565002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13186C1-97B2-EB40-A0B9-E6867FD28ED8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A81ACD5-166C-CE7D-80F6-B01FD6405B35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870E64-8478-2CFC-3F77-69DD9FB5F0DA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9F694AC-9979-0519-70B1-829B6A2C99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7ACB23-84E0-122C-5881-0DAF54DF8225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333D329-9EAE-305A-59F5-09603E166AD3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6801D05-F558-4B0A-A22B-991CB7AAF3C7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13EBFB-28D6-60E7-E941-B565D5B3FFB5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1F5DD13-9FD5-16DC-5001-B9C29C061E4D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B4A099A-6EB0-A850-D1E6-1EDDAF96D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7955A-9182-0B45-FC4A-1BCC0E3B198F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56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A53D-7745-8006-DAA0-6842A3D4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0326D72-A0E3-D786-1AA4-E6F9AD1BF657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2FEC18A-7756-EC54-E2A8-F32BE1BD3CD7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CD4C338-73F4-46AF-B9A2-9EAAA5EC1F0E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802D50-E6E5-CAC8-AC33-93A9E5AFDB65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1EC697F-0579-5BEA-2341-865B243E4174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8649812-B2EF-D8FD-6078-A3EC5C475F19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90804A5-EC31-4976-FFD0-419F6C37A511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0F51310-63E9-1DB4-88F9-FEAF75D2EFF2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43B7E-2EB0-1CDA-2029-EB6BD294F4E8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right context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65C70DF-7B6D-C345-6367-9D93A664D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7" b="55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06D455-6498-2185-2AC8-0265A26AE331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2E39A15-4DA3-FCA6-F63F-25CCA16AF73A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57E9E88-5323-4090-7E17-A17EDB0A40B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DA007DF-5AA0-A8C7-0CF4-09B4A62F0A21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C7B16E0-707F-FD42-8FB1-AA2DFD704292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C5C3BB-4EB7-B614-5C74-3FC784273AA8}"/>
              </a:ext>
            </a:extLst>
          </p:cNvPr>
          <p:cNvGrpSpPr/>
          <p:nvPr/>
        </p:nvGrpSpPr>
        <p:grpSpPr>
          <a:xfrm>
            <a:off x="4087185" y="1148893"/>
            <a:ext cx="2255864" cy="360000"/>
            <a:chOff x="82196" y="115421"/>
            <a:chExt cx="2255864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4C7DD04-FF11-4AE2-4756-B4C0C114B804}"/>
                </a:ext>
              </a:extLst>
            </p:cNvPr>
            <p:cNvSpPr/>
            <p:nvPr/>
          </p:nvSpPr>
          <p:spPr>
            <a:xfrm>
              <a:off x="82196" y="115421"/>
              <a:ext cx="2255864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right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3975EDB-981F-9A1C-6076-B46A0742B899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448572C-F745-46FA-CD5B-F14540674E40}"/>
              </a:ext>
            </a:extLst>
          </p:cNvPr>
          <p:cNvSpPr/>
          <p:nvPr/>
        </p:nvSpPr>
        <p:spPr>
          <a:xfrm>
            <a:off x="6364372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FAC714-D1C4-FBD6-AC76-F70FB55EBB40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C519A0-2C9E-E536-DA7A-3A1BCB58E88F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107F26-2A99-D692-11AC-5AEE3633F1E9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D9AFFE6-BF5A-895E-530D-666C431901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77E138-46B7-F2BD-CA39-ABC613911D8C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74A0FC-8BCD-34AC-2156-7408053502DA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98EF0D3-215E-B1BF-6BF3-69F9D2518B26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39371B-4740-2BED-471A-C35DC8AB70BB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D61F53-23DC-49DA-5E53-C71D31185F6C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16E9686-D57B-A305-C2D3-62195702E5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970ECE-83B1-AE3D-F264-BE95200DC5C7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939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A8AD-6A26-295C-3076-66B5C38D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FED8411-4E8A-E08F-EEE1-5A35217D2508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612019E-E615-3976-FBA6-35F2978F79A1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31F74D6-0339-B6AA-CD05-6F761634F898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931055-CC1A-898E-20D4-D530DF0C6E27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C02CDE2-2DFC-1D96-0503-1BDBE3B262E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7090D5C-4DDB-A2E0-888F-07EF7AD72046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16131BA-3336-29D6-D6B3-446535EF23F2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A18E42-BF68-B883-6985-698E5400FA95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DE795B-EB00-D3F4-58ED-2597F011166C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left context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CD3A57-38A2-4A49-7D9C-E65494509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6" b="616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7C62B7-70C6-C3C6-9607-121C85D45C8D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C62A5D-4243-8DA1-E31F-7838F12EB25B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09BE38AC-559C-6101-FFCB-ED7C17A767C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E0EB397-DE7C-9579-6C6B-784F227246B0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7C3865-5DF0-BBCB-0286-E4289E930E62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E37280-D745-24A8-042F-67CDF752A464}"/>
              </a:ext>
            </a:extLst>
          </p:cNvPr>
          <p:cNvGrpSpPr/>
          <p:nvPr/>
        </p:nvGrpSpPr>
        <p:grpSpPr>
          <a:xfrm>
            <a:off x="4087185" y="1148893"/>
            <a:ext cx="2140360" cy="360000"/>
            <a:chOff x="82196" y="115421"/>
            <a:chExt cx="2140360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055D578-A8E5-C547-BDB8-32AB868B06E7}"/>
                </a:ext>
              </a:extLst>
            </p:cNvPr>
            <p:cNvSpPr/>
            <p:nvPr/>
          </p:nvSpPr>
          <p:spPr>
            <a:xfrm>
              <a:off x="82196" y="115421"/>
              <a:ext cx="2140360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left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AA4C6A60-E079-B279-9225-AF2D4179F2FE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1B15526-0E41-92A8-47BB-FD314F7516CA}"/>
              </a:ext>
            </a:extLst>
          </p:cNvPr>
          <p:cNvSpPr/>
          <p:nvPr/>
        </p:nvSpPr>
        <p:spPr>
          <a:xfrm>
            <a:off x="6227545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B769A6-5857-D957-4605-D0FE8CC59C32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314503-6D91-98EA-48C2-F1FA64F6BB2B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468ED2-F2C8-63DF-70B2-B3CA5C050CB9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5217CB0-09A4-1B12-41F1-EF6081167E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5B55A5-3A78-7ECE-C562-525B34E74F0A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66A4FDD-37CA-4790-407A-F2D73B266E4F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C22DB7E-38BA-6EE8-8E96-1DA22979499C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41BAA-F318-5FE0-C68E-C4B0F5A394A9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9C88D5-931A-B8CC-4E94-1EB5D9406F03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B2E9BC9-185B-57EF-446E-07C3E13C9E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5544C9-423A-25C6-99A1-FC11BEF3B927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F4B303D-4D85-0EC5-2CB4-8E72ACA79F53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</p:spTree>
    <p:extLst>
      <p:ext uri="{BB962C8B-B14F-4D97-AF65-F5344CB8AC3E}">
        <p14:creationId xmlns:p14="http://schemas.microsoft.com/office/powerpoint/2010/main" val="105227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7839-6F61-1233-2220-05DFAC46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BC9FF47-140C-CB52-0673-DB67CE24C79A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10100C2-764E-2766-0EE3-7071A9A672B7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12B4BBE-4DB0-DDAD-8131-CF0B68504AB3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494219-EE5E-D28C-116F-A673462C93C3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3D3D9D8-6868-B206-50BA-3D66DE57B73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E5AD4AE-8EB7-ADA7-0E56-9B2AC3EF1CA4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68331BD-F2D7-417B-62E3-DB524CCA090C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D5A5C94-C8BF-278E-CEF9-9852C5774591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2904A-86CC-F789-5A99-D965D0365481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left context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563985-DDFD-E231-F497-7BE7782CA6AA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4CDC15-AA6E-AE30-C8FB-48DECC17C9D0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65EE5B7-916D-9D0E-7597-1DA04F8568B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partition by POS tag of token L1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75CA512C-64B0-EB21-95B7-322B8B2EADF9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BAF1F15-75C1-F5F6-91F6-E8AA7B9A18A7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CB002D-F45A-AD3A-20EA-C7E05B3B32CB}"/>
              </a:ext>
            </a:extLst>
          </p:cNvPr>
          <p:cNvGrpSpPr/>
          <p:nvPr/>
        </p:nvGrpSpPr>
        <p:grpSpPr>
          <a:xfrm>
            <a:off x="4087185" y="1148893"/>
            <a:ext cx="2140360" cy="360000"/>
            <a:chOff x="82196" y="115421"/>
            <a:chExt cx="2140360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3F13BE7-107F-9152-0DF7-D90DDEB1B724}"/>
                </a:ext>
              </a:extLst>
            </p:cNvPr>
            <p:cNvSpPr/>
            <p:nvPr/>
          </p:nvSpPr>
          <p:spPr>
            <a:xfrm>
              <a:off x="82196" y="115421"/>
              <a:ext cx="2140360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left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7C10F235-9B7C-11DE-0903-980EA147611D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BD45AAF-F02E-CF65-FE14-E3EFCA4DE658}"/>
              </a:ext>
            </a:extLst>
          </p:cNvPr>
          <p:cNvSpPr/>
          <p:nvPr/>
        </p:nvSpPr>
        <p:spPr>
          <a:xfrm>
            <a:off x="6227545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3" name="Picture 2" descr="A purple and white rectangular box with numbers&#10;&#10;Description automatically generated with medium confidence">
            <a:extLst>
              <a:ext uri="{FF2B5EF4-FFF2-40B4-BE49-F238E27FC236}">
                <a16:creationId xmlns:a16="http://schemas.microsoft.com/office/drawing/2014/main" id="{962BCDBC-D8A3-DC3C-A69D-9263E035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374" y="2109346"/>
            <a:ext cx="8329086" cy="2770661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90955C5-1EF0-2D77-7F07-627B44CE6192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B7A221-C77E-0D8F-2305-AC563D12C524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9804CE-F8FB-DA5C-AF91-E84847F35F69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1DB68D4-2F41-5164-1206-9CFE8FE9AC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6453B7-339C-5434-6839-88F3FFBFA40C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B7B1DE-83C6-4167-0A07-CC845DC9F716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E5C94B-161D-0599-8FB6-4491B85D542B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E7F6A9-DB12-08E3-DFC0-A519CC2257AC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4F25BB-01D1-28F1-FBEC-4A8043ACB24B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00B3310-B3BC-4880-59E9-D7AC5D08F6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2E249E-0E37-C3C9-AFFB-4CDB60B4466E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2EA9CCE-D806-E7E4-BC5B-9B661FEE3F32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</p:spTree>
    <p:extLst>
      <p:ext uri="{BB962C8B-B14F-4D97-AF65-F5344CB8AC3E}">
        <p14:creationId xmlns:p14="http://schemas.microsoft.com/office/powerpoint/2010/main" val="2065743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07CC6-2EC8-4787-037F-4C2BC25B6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FA140F-0FD7-390E-2DD3-A385F9DFC21E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F1E832B-6037-8A85-2D98-EF1B6EFB852A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5E87F31-4363-E55F-6D52-43DD4FF44B0C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C20690-D934-FE6D-C9C2-BA132933D334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484A9EB-BC31-289C-9320-F7602C43ED6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D773717-F5EA-5615-3235-C64B9892D0DC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4E595D8-0CC7-6D39-E767-A68FE7CFA464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65E157-5409-7166-871C-055BDE8EF986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AD5416-6A3C-C185-43FC-543C07C93CF1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713BF1-DCD8-1166-24D6-E6E25E4E0CBA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CED1A5-683E-FBAB-1CBB-8CC63717158A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49882BD-AC8A-2ECB-DDA9-C968086B7070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91017EA-DC33-46CD-1C30-D75D1784C9C2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F6429AD-BE80-9205-79E7-09A98E2E72E5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F84749-4376-CB6A-5778-E04C70F8B5D3}"/>
              </a:ext>
            </a:extLst>
          </p:cNvPr>
          <p:cNvGrpSpPr/>
          <p:nvPr/>
        </p:nvGrpSpPr>
        <p:grpSpPr>
          <a:xfrm>
            <a:off x="4087185" y="1148893"/>
            <a:ext cx="2140360" cy="360000"/>
            <a:chOff x="82196" y="115421"/>
            <a:chExt cx="2140360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23363D01-44C0-9F35-156C-45433973749E}"/>
                </a:ext>
              </a:extLst>
            </p:cNvPr>
            <p:cNvSpPr/>
            <p:nvPr/>
          </p:nvSpPr>
          <p:spPr>
            <a:xfrm>
              <a:off x="82196" y="115421"/>
              <a:ext cx="2140360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left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C8A3783-A5A0-E48B-A5B3-EABAB4B9CFB1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40CC17E-BEB8-821C-2E70-EC91D2448D9D}"/>
              </a:ext>
            </a:extLst>
          </p:cNvPr>
          <p:cNvSpPr/>
          <p:nvPr/>
        </p:nvSpPr>
        <p:spPr>
          <a:xfrm>
            <a:off x="6227545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859D6C-F487-0BD4-87A9-5DCC96FA69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2" b="1252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0D991E3-07B3-E719-ED21-A9BC74CFA4BA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3D3259-4DAB-0C32-92FF-685B4FFDD2E2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557F63-4347-75FC-6CED-D6A8B5F92984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853993B-DC70-B7BB-279A-88D7B78D5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1E3291-4D04-168B-8AB6-7FD6112071D2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5A8C2D-F6BF-FC31-E074-F80E23FED682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87B182E-780A-5947-162A-19F7483E0467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36DF83-79D0-1C7F-8515-9043C0F016C5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39D4B8-37A7-34D6-38FC-5F2682632A75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11EB45A-ACC1-4413-9C2C-C05D1BA7E7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9460FC-125D-D6EA-F5D8-9665D2FEA2B5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A45C18C-635D-2D17-847E-AD2F207C079F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5ADD1E4-9B35-7671-A014-83221FD6FE45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719287E-8298-A061-1AEF-6B3B4BBC32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43B341E-ABDA-C9AE-0471-961F8BA0D3A5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18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850C-8E18-95AD-40C1-818EA8CE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81B1A6-293C-BD2F-4384-74C1E77936FC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1CE535B-44BC-9D2C-E939-23A3801BFC32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20B77F3-FF1B-AA8B-85CF-56B64FA94CEB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F16BC6-E8D7-2B3B-FA55-A70662A9B7EC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39C173E-6A00-A5CD-8580-7198AA5FB57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CED0B0-4CC6-3209-3EE9-78CFC944E3BC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CF998-65C2-E984-0DE6-F219537C96EC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7216751-448A-A287-1C6C-1942206A5561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9B001E-04FD-5F44-6927-3B4111E5E82B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L1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1BBC50-2219-1A8F-6826-902D53429364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E05F2E-6ECB-4CE9-39D1-C440244EA3F1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8A9800E-7D13-ADAD-12BA-FE67003A800B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4B26ACF-0013-3349-D166-50C381836CB3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6802639-C8FC-9299-3398-3FA6918C114E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328FF82-C200-84C2-98CA-F9E9C366E9A4}"/>
              </a:ext>
            </a:extLst>
          </p:cNvPr>
          <p:cNvSpPr/>
          <p:nvPr/>
        </p:nvSpPr>
        <p:spPr>
          <a:xfrm>
            <a:off x="5479677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2CAF90-CC34-78D3-98EB-48F3CC5B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2" b="1252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44A57C4-C2A3-A38E-7BDB-6813E4411868}"/>
              </a:ext>
            </a:extLst>
          </p:cNvPr>
          <p:cNvGrpSpPr/>
          <p:nvPr/>
        </p:nvGrpSpPr>
        <p:grpSpPr>
          <a:xfrm>
            <a:off x="4087185" y="1148893"/>
            <a:ext cx="1351507" cy="360000"/>
            <a:chOff x="82196" y="115421"/>
            <a:chExt cx="1351507" cy="360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43207D0-C4B2-676C-E313-43E9310BDEA3}"/>
                </a:ext>
              </a:extLst>
            </p:cNvPr>
            <p:cNvSpPr/>
            <p:nvPr/>
          </p:nvSpPr>
          <p:spPr>
            <a:xfrm>
              <a:off x="82196" y="115421"/>
              <a:ext cx="1351507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L1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7293F90-0BDE-FB05-D1FB-53572F43F669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8B2891-B72C-5D9C-BB73-4514B9B4C63F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8C1E54-84A4-D128-9FB9-113086B6ED78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7665F8-52DF-73C6-5C5A-6D490E413386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B8491B-3F5F-05E2-6220-130F4F9CE6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1039B6-47CF-186C-F967-A304E7205E49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9D5EA3-E74C-9F98-BB9C-C30EA1C0D9ED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52919ED-72BE-C950-EFC7-676202C26A3D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9D7BE6A-025C-7247-74EF-88694D7DDBE3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A010AD-E39E-20E7-1F55-4D7619731412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84DB4BA-2233-814D-E6B6-C4075C594C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77ED64-0352-59AF-F64E-41C6C5D9DC8C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ED614F6-DF00-20FA-FA6F-105B5BD3FA80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7F292C-A89E-91B7-81AC-76BA2DDA8463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27A73EB-2697-2E81-D75F-AD9A42909B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90C83A7-D29C-7B02-757E-DA9D43D21D22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9046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689D-3A7F-ECAC-FBB5-08A53E4B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2EA857E-F458-371E-9063-56A9586B64E9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74C4DDD-C21B-C9E9-BBEA-43F7EC348443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AA8D359-A8CA-3D16-671E-7CB33B578067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D088D6-B791-C9C7-8CB1-D353C7A2C54B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ED4454C-3219-47C5-C7B9-AB2DAAA0483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8D8DB55-98F3-2F68-534B-8D4072A6E31F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1BF06-9771-922F-7FA3-3AA1BD5861C9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AF7386D-BB52-EC3E-A398-E3392ADE63CD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F6757-BF29-6A5B-23CB-9E753FB92D6A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by L1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L1,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right context</a:t>
            </a:r>
          </a:p>
          <a:p>
            <a:pPr marL="801688" marR="0" lvl="0" indent="-2587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1B5DB0-B2D3-E007-F8B6-56228047AE99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1DB3CB-CBE3-5414-4891-3BBF78743F5D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3340A1E-7A7C-0363-61EF-B2B5161CCA24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FD28261-6180-DFB4-B3EE-3B5458CCAA8A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2C91666-F839-F95A-0187-F5F67DB671F1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92789B-946F-49FA-6EF3-030A2D9B60EB}"/>
              </a:ext>
            </a:extLst>
          </p:cNvPr>
          <p:cNvGrpSpPr/>
          <p:nvPr/>
        </p:nvGrpSpPr>
        <p:grpSpPr>
          <a:xfrm>
            <a:off x="4087185" y="1148893"/>
            <a:ext cx="1351507" cy="360000"/>
            <a:chOff x="82196" y="115421"/>
            <a:chExt cx="1351507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462656F-15E5-3A55-CC75-A8665B1049A2}"/>
                </a:ext>
              </a:extLst>
            </p:cNvPr>
            <p:cNvSpPr/>
            <p:nvPr/>
          </p:nvSpPr>
          <p:spPr>
            <a:xfrm>
              <a:off x="82196" y="115421"/>
              <a:ext cx="1351507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L1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42A0F5B3-A6ED-942E-0271-80AD8904AC52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2B3E800-7E0A-5135-D25C-BA5DD43CA2E9}"/>
              </a:ext>
            </a:extLst>
          </p:cNvPr>
          <p:cNvSpPr/>
          <p:nvPr/>
        </p:nvSpPr>
        <p:spPr>
          <a:xfrm>
            <a:off x="7775296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425E0D-6881-2BD9-B3CF-580D4CF26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7" b="60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7DFB6E3-A348-26DC-4459-E8EFA58FB7EC}"/>
              </a:ext>
            </a:extLst>
          </p:cNvPr>
          <p:cNvGrpSpPr/>
          <p:nvPr/>
        </p:nvGrpSpPr>
        <p:grpSpPr>
          <a:xfrm>
            <a:off x="5519432" y="1148893"/>
            <a:ext cx="2255864" cy="360000"/>
            <a:chOff x="82196" y="115421"/>
            <a:chExt cx="2255864" cy="360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69E7974-284E-9162-9FB9-6EC22CABE1CE}"/>
                </a:ext>
              </a:extLst>
            </p:cNvPr>
            <p:cNvSpPr/>
            <p:nvPr/>
          </p:nvSpPr>
          <p:spPr>
            <a:xfrm>
              <a:off x="82196" y="115421"/>
              <a:ext cx="2255864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right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AC75A930-3223-4C54-F7F1-FFBBB5A57064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290781-0056-9A8C-7948-4FA9BFD05F7F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CB37AC-4085-2455-2A26-5C205056A582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5E492C-4289-0631-B6AF-8C3EE91C345A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002267D-3B28-6DDB-9372-4148F9BBB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E81646-6F87-82A0-900F-9E4689605ABD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21C535-98E4-3A11-7766-FBBB21844D6E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92FF8F4-355A-9435-9E03-308FD942B227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1D13EE-AF51-D238-BB25-E38B421CF246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7ADC3A-7372-5D31-2BAD-F0298B34BE45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6C2FA61-3571-BC44-69A3-9181C1601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F260AFB-ACC2-52E2-9C57-708E491FDE7D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BBAFC29-DED6-0913-1F0B-25687924137B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560A2-713F-1357-B38A-6B3DF57A1289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1D93A34-05DC-6CAB-CA3A-7E579D23F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757EA2-1CA1-D13A-2C02-77A644C1E9C0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2341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C8C8-18F4-6787-F1E7-7AF44915A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FD6EF95-022C-0A79-DDD7-921E7BDE0128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2D14062-5D22-6B8C-F564-AFF8FF1AF54C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332D282-3D00-1A64-663D-C619251D1202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C3A65D-439E-7C9B-EDC2-BB30132800E6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2BFAA36-78FD-D42A-5477-9C7A1816B61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3D2F977-60EA-466A-DAFD-F320F64B7A80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FAEB929-2596-B498-FBBA-3DCF51A536CA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85E3518-01FF-70E2-47EF-CDD54C1B18AE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4326A2-542A-37C8-381B-58A2F846327C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by L1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L1,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right context 	 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8A8F3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</a:t>
            </a:r>
          </a:p>
          <a:p>
            <a:pPr marL="801688" marR="0" lvl="0" indent="-2587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99B928-B24C-7918-5632-B5DB0D333804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89B4A0-7CAC-4A66-1E17-AE92068F92B3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7EE67F4-603C-C009-654D-59F1BD257216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34D6FE82-92A4-595D-387A-32650939D240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C2883FA-AB8C-A4F8-B29E-09EA1679B581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82F768-DC8C-FC5D-F793-84B9906E6204}"/>
              </a:ext>
            </a:extLst>
          </p:cNvPr>
          <p:cNvGrpSpPr/>
          <p:nvPr/>
        </p:nvGrpSpPr>
        <p:grpSpPr>
          <a:xfrm>
            <a:off x="4087185" y="1148893"/>
            <a:ext cx="1351507" cy="360000"/>
            <a:chOff x="82196" y="115421"/>
            <a:chExt cx="1351507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56A0FF91-1CD8-A9F0-3ED0-A7815AD03854}"/>
                </a:ext>
              </a:extLst>
            </p:cNvPr>
            <p:cNvSpPr/>
            <p:nvPr/>
          </p:nvSpPr>
          <p:spPr>
            <a:xfrm>
              <a:off x="82196" y="115421"/>
              <a:ext cx="1351507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L1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278E3B5-899E-D2C2-0BD3-4E376FA137A4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EEEA260-23D8-0764-E73A-84A4889FC3CF}"/>
              </a:ext>
            </a:extLst>
          </p:cNvPr>
          <p:cNvSpPr/>
          <p:nvPr/>
        </p:nvSpPr>
        <p:spPr>
          <a:xfrm>
            <a:off x="7775296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29FBF6-8678-EBC5-B995-633E308E7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7" b="60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9ABCF0D-C5EE-D28B-4B91-5F46360DA68E}"/>
              </a:ext>
            </a:extLst>
          </p:cNvPr>
          <p:cNvGrpSpPr/>
          <p:nvPr/>
        </p:nvGrpSpPr>
        <p:grpSpPr>
          <a:xfrm>
            <a:off x="5519432" y="1148893"/>
            <a:ext cx="2255864" cy="360000"/>
            <a:chOff x="82196" y="115421"/>
            <a:chExt cx="2255864" cy="360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4CD4B81-1E1F-2FBC-1A33-CD57B326352F}"/>
                </a:ext>
              </a:extLst>
            </p:cNvPr>
            <p:cNvSpPr/>
            <p:nvPr/>
          </p:nvSpPr>
          <p:spPr>
            <a:xfrm>
              <a:off x="82196" y="115421"/>
              <a:ext cx="2255864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right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8E7AAD3-52BE-6233-226C-8811E1C58DE9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7DA39B-9CDB-7BB7-F47E-40F1CD3D2E9B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5764064-1C51-512E-5A8C-19890A5E738A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68142B-DC05-140B-2E2A-192D4EDE582A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AEFCCC4-0BB5-3C96-DE68-2C6FC2190D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F78421-2445-AD3F-58B5-D1D885E19644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7D0AA8-5A6C-4B4C-295F-7DF0D45D36E6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0E46C79-34E6-F787-47A0-EA105C85BC71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B2A203-05A0-112F-FD3A-0AD06E298178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BE35E5-F3E7-BD12-8C09-73B959A91953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F2B8E0D-B26A-DA5D-7D54-A9A2D2256E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375DA6-EE1A-3B0B-8B1D-03B23B8CD8A7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BDEE571-34C7-34EB-8693-5AC99538EF56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4CEC75D-444F-3FAA-E6E0-2BD729A9003A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A37A974-F20F-21B0-E54B-B30BACA4BE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6AC46A8-5A0F-4F20-0520-A4B72F53A6C2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783E47-3C3C-535B-0510-641DD764E35C}"/>
              </a:ext>
            </a:extLst>
          </p:cNvPr>
          <p:cNvGrpSpPr/>
          <p:nvPr/>
        </p:nvGrpSpPr>
        <p:grpSpPr>
          <a:xfrm>
            <a:off x="2087690" y="3899721"/>
            <a:ext cx="1528875" cy="868099"/>
            <a:chOff x="2726113" y="-661552"/>
            <a:chExt cx="1528875" cy="868099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187FF91-B540-B87B-5FCC-542BD2BCE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7992" y="-661552"/>
              <a:ext cx="293499" cy="567958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4715A57-1A16-DE1E-A593-D967BD8007C6}"/>
                </a:ext>
              </a:extLst>
            </p:cNvPr>
            <p:cNvSpPr txBox="1"/>
            <p:nvPr/>
          </p:nvSpPr>
          <p:spPr>
            <a:xfrm>
              <a:off x="2726113" y="-101230"/>
              <a:ext cx="1528875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bookmark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5307A1C-8455-2DC5-E463-C3F0D6A8FAE7}"/>
              </a:ext>
            </a:extLst>
          </p:cNvPr>
          <p:cNvGrpSpPr/>
          <p:nvPr/>
        </p:nvGrpSpPr>
        <p:grpSpPr>
          <a:xfrm>
            <a:off x="196150" y="1399782"/>
            <a:ext cx="808465" cy="2259934"/>
            <a:chOff x="8901" y="1413808"/>
            <a:chExt cx="808465" cy="2259934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8576251-2C9F-83CD-C425-62D97947CCCF}"/>
                </a:ext>
              </a:extLst>
            </p:cNvPr>
            <p:cNvSpPr/>
            <p:nvPr/>
          </p:nvSpPr>
          <p:spPr>
            <a:xfrm>
              <a:off x="8901" y="1682891"/>
              <a:ext cx="278355" cy="278355"/>
            </a:xfrm>
            <a:prstGeom prst="ellips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4DEC500-23E9-AEF8-5D56-7C6A7FE9F60F}"/>
                </a:ext>
              </a:extLst>
            </p:cNvPr>
            <p:cNvSpPr/>
            <p:nvPr/>
          </p:nvSpPr>
          <p:spPr>
            <a:xfrm>
              <a:off x="361391" y="2895550"/>
              <a:ext cx="278356" cy="278355"/>
            </a:xfrm>
            <a:prstGeom prst="ellips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Diamond 44">
              <a:extLst>
                <a:ext uri="{FF2B5EF4-FFF2-40B4-BE49-F238E27FC236}">
                  <a16:creationId xmlns:a16="http://schemas.microsoft.com/office/drawing/2014/main" id="{F4B6ED76-08C4-1484-183E-E7B24051E08A}"/>
                </a:ext>
              </a:extLst>
            </p:cNvPr>
            <p:cNvSpPr/>
            <p:nvPr/>
          </p:nvSpPr>
          <p:spPr>
            <a:xfrm>
              <a:off x="539011" y="3395387"/>
              <a:ext cx="278355" cy="278355"/>
            </a:xfrm>
            <a:prstGeom prst="diamond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423DFE3-E53C-43A9-BBF1-9BECB47E0C4F}"/>
                </a:ext>
              </a:extLst>
            </p:cNvPr>
            <p:cNvCxnSpPr>
              <a:cxnSpLocks/>
            </p:cNvCxnSpPr>
            <p:nvPr/>
          </p:nvCxnSpPr>
          <p:spPr>
            <a:xfrm>
              <a:off x="144996" y="1413808"/>
              <a:ext cx="0" cy="252000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E6A06DAD-E188-58C9-627B-7D0BB92949E7}"/>
                </a:ext>
              </a:extLst>
            </p:cNvPr>
            <p:cNvCxnSpPr>
              <a:cxnSpLocks/>
              <a:stCxn id="43" idx="6"/>
              <a:endCxn id="44" idx="0"/>
            </p:cNvCxnSpPr>
            <p:nvPr/>
          </p:nvCxnSpPr>
          <p:spPr>
            <a:xfrm>
              <a:off x="287256" y="1822069"/>
              <a:ext cx="213313" cy="1073481"/>
            </a:xfrm>
            <a:prstGeom prst="bentConnector2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9DA93F2A-F0CF-9781-9723-808AB612260A}"/>
                </a:ext>
              </a:extLst>
            </p:cNvPr>
            <p:cNvCxnSpPr>
              <a:cxnSpLocks/>
              <a:stCxn id="44" idx="6"/>
              <a:endCxn id="45" idx="0"/>
            </p:cNvCxnSpPr>
            <p:nvPr/>
          </p:nvCxnSpPr>
          <p:spPr>
            <a:xfrm>
              <a:off x="639747" y="3034728"/>
              <a:ext cx="38442" cy="360659"/>
            </a:xfrm>
            <a:prstGeom prst="bentConnector2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D179E21-7A73-D0F3-BE46-08B72E9CD813}"/>
              </a:ext>
            </a:extLst>
          </p:cNvPr>
          <p:cNvGrpSpPr/>
          <p:nvPr/>
        </p:nvGrpSpPr>
        <p:grpSpPr>
          <a:xfrm>
            <a:off x="78311" y="3698122"/>
            <a:ext cx="1423656" cy="1313413"/>
            <a:chOff x="2013543" y="-705445"/>
            <a:chExt cx="1423656" cy="1313413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E51CD4E-70F7-67BA-5A09-98DE046BF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9737" y="-705445"/>
              <a:ext cx="213313" cy="697860"/>
            </a:xfrm>
            <a:prstGeom prst="straightConnector1">
              <a:avLst/>
            </a:prstGeom>
            <a:ln w="3175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2C57F70-7852-EF79-FB1E-C631E1AC062A}"/>
                </a:ext>
              </a:extLst>
            </p:cNvPr>
            <p:cNvSpPr txBox="1"/>
            <p:nvPr/>
          </p:nvSpPr>
          <p:spPr>
            <a:xfrm>
              <a:off x="2013543" y="-7585"/>
              <a:ext cx="1423656" cy="61555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65CBB9">
                      <a:lumMod val="75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path from root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212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DB0C-3EE4-D3D0-98B6-90E8BEFD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1208315"/>
          </a:xfrm>
        </p:spPr>
        <p:txBody>
          <a:bodyPr>
            <a:normAutofit/>
          </a:bodyPr>
          <a:lstStyle/>
          <a:p>
            <a:r>
              <a:rPr lang="en-DE" dirty="0"/>
              <a:t>Hands-on: FlexiConc in CLiC basics </a:t>
            </a:r>
            <a:endParaRPr lang="en-DE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2AA9F-B87E-8AF2-21C0-C87903708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  <a:p>
            <a:r>
              <a:rPr lang="en-DE" dirty="0"/>
              <a:t>We go back to the </a:t>
            </a:r>
            <a:r>
              <a:rPr lang="en-DE" i="1" dirty="0"/>
              <a:t>eyes</a:t>
            </a:r>
            <a:r>
              <a:rPr lang="en-DE" dirty="0"/>
              <a:t> in CLiC examples to think about extending the ways of looking at the data</a:t>
            </a:r>
            <a:r>
              <a:rPr lang="en-US" dirty="0"/>
              <a:t>.</a:t>
            </a:r>
          </a:p>
          <a:p>
            <a:r>
              <a:rPr lang="en-US" dirty="0"/>
              <a:t>With the help of various algorithms provided by FlexiConc.</a:t>
            </a:r>
          </a:p>
          <a:p>
            <a:r>
              <a:rPr lang="en-DE" sz="2400" dirty="0">
                <a:hlinkClick r:id="rId2"/>
              </a:rPr>
              <a:t>https://github.com/reading-concordances/teaching/blob/main/course/</a:t>
            </a:r>
            <a:br>
              <a:rPr lang="en-US" sz="2400" dirty="0">
                <a:hlinkClick r:id="rId2"/>
              </a:rPr>
            </a:br>
            <a:r>
              <a:rPr lang="en-DE" sz="2400" dirty="0">
                <a:hlinkClick r:id="rId2"/>
              </a:rPr>
              <a:t>handouts/flexiconc_clic_handout_</a:t>
            </a:r>
            <a:r>
              <a:rPr lang="en-US" sz="2400" dirty="0">
                <a:hlinkClick r:id="rId2"/>
              </a:rPr>
              <a:t>2026</a:t>
            </a:r>
            <a:r>
              <a:rPr lang="en-DE" sz="2400" dirty="0">
                <a:hlinkClick r:id="rId2"/>
              </a:rPr>
              <a:t>.pdf</a:t>
            </a:r>
            <a:r>
              <a:rPr lang="en-US" sz="2400" dirty="0"/>
              <a:t> </a:t>
            </a:r>
            <a:endParaRPr lang="en-DE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E2969-EDF4-B072-89F6-C9C3CC5FF2F6}"/>
              </a:ext>
            </a:extLst>
          </p:cNvPr>
          <p:cNvSpPr txBox="1"/>
          <p:nvPr/>
        </p:nvSpPr>
        <p:spPr>
          <a:xfrm>
            <a:off x="3670514" y="1750496"/>
            <a:ext cx="4850970" cy="1352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3200" dirty="0">
                <a:solidFill>
                  <a:srgbClr val="002060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https://</a:t>
            </a:r>
            <a:r>
              <a:rPr lang="en-GB" sz="3200" dirty="0" err="1">
                <a:solidFill>
                  <a:srgbClr val="002060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clic-fiction.com</a:t>
            </a:r>
            <a:r>
              <a:rPr lang="en-GB" sz="3200" dirty="0">
                <a:solidFill>
                  <a:srgbClr val="002060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/</a:t>
            </a:r>
            <a:endParaRPr lang="en-DE" sz="3200" dirty="0">
              <a:solidFill>
                <a:srgbClr val="002060"/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A6277-6D96-95AC-19E1-2F9BD8FE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 Sep 2026 | © RC21 Team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F8C2E-C33C-1CD2-D77C-90777954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C3DE9-6684-F186-BAF3-07104D42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30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25C2468-3BAE-B36B-6E5B-6131B469003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219469" name="Title 1">
            <a:extLst>
              <a:ext uri="{FF2B5EF4-FFF2-40B4-BE49-F238E27FC236}">
                <a16:creationId xmlns:a16="http://schemas.microsoft.com/office/drawing/2014/main" id="{8B6F3D9B-E1BC-3551-D390-3198FE4676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1" y="0"/>
            <a:ext cx="12192001" cy="120831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/>
              <a:t>Extending the search for body language patterns </a:t>
            </a:r>
            <a:endParaRPr sz="1000" dirty="0"/>
          </a:p>
        </p:txBody>
      </p:sp>
      <p:sp>
        <p:nvSpPr>
          <p:cNvPr id="397520666" name="Content Placeholder 3">
            <a:extLst>
              <a:ext uri="{FF2B5EF4-FFF2-40B4-BE49-F238E27FC236}">
                <a16:creationId xmlns:a16="http://schemas.microsoft.com/office/drawing/2014/main" id="{52D4C621-C8FA-A6B8-44C2-4B23C8EE2DCC}"/>
              </a:ext>
            </a:extLst>
          </p:cNvPr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GB" dirty="0"/>
              <a:t>Search words: </a:t>
            </a:r>
            <a:r>
              <a:rPr lang="en-GB" i="1" dirty="0"/>
              <a:t>cheeks, cheek, neck, fingers, ear </a:t>
            </a:r>
          </a:p>
          <a:p>
            <a:pPr marL="0" indent="0">
              <a:buNone/>
              <a:defRPr/>
            </a:pPr>
            <a:endParaRPr lang="en-GB" i="1" dirty="0"/>
          </a:p>
          <a:p>
            <a:pPr marL="0" indent="0">
              <a:buNone/>
              <a:defRPr/>
            </a:pPr>
            <a:r>
              <a:rPr lang="en-GB" dirty="0"/>
              <a:t>Focus on non-quotes </a:t>
            </a:r>
            <a:endParaRPr dirty="0"/>
          </a:p>
        </p:txBody>
      </p:sp>
      <p:sp>
        <p:nvSpPr>
          <p:cNvPr id="1978743003" name="Date Placeholder 2">
            <a:extLst>
              <a:ext uri="{FF2B5EF4-FFF2-40B4-BE49-F238E27FC236}">
                <a16:creationId xmlns:a16="http://schemas.microsoft.com/office/drawing/2014/main" id="{58D956B9-E1F6-C04D-215B-8CC8F7E5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22 Sep 2026 | © RC21 Team</a:t>
            </a:r>
            <a:endParaRPr lang="en-US"/>
          </a:p>
        </p:txBody>
      </p:sp>
      <p:sp>
        <p:nvSpPr>
          <p:cNvPr id="1742433482" name="Footer Placeholder 4">
            <a:extLst>
              <a:ext uri="{FF2B5EF4-FFF2-40B4-BE49-F238E27FC236}">
                <a16:creationId xmlns:a16="http://schemas.microsoft.com/office/drawing/2014/main" id="{387CD031-03EB-0963-65E9-2B222F3D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FlexiConc: Reading concordances with algorithms</a:t>
            </a:r>
            <a:endParaRPr/>
          </a:p>
        </p:txBody>
      </p:sp>
      <p:sp>
        <p:nvSpPr>
          <p:cNvPr id="353933597" name="Slide Number Placeholder 6">
            <a:extLst>
              <a:ext uri="{FF2B5EF4-FFF2-40B4-BE49-F238E27FC236}">
                <a16:creationId xmlns:a16="http://schemas.microsoft.com/office/drawing/2014/main" id="{6592C407-9896-BFCF-6823-147EEB2C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2EB7B1D-155F-DE45-A4D9-3453DB08EE0D}" type="slidenum">
              <a:rPr lang="en-GB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68350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555CD63-5AB5-C3A9-100E-2CD734FEAE5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933597" name="Slide Number Placeholder 6">
            <a:extLst>
              <a:ext uri="{FF2B5EF4-FFF2-40B4-BE49-F238E27FC236}">
                <a16:creationId xmlns:a16="http://schemas.microsoft.com/office/drawing/2014/main" id="{73936F5A-D0F6-B417-87B8-2FC4A6B9B8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800" y="6540500"/>
            <a:ext cx="2743200" cy="317500"/>
          </a:xfrm>
        </p:spPr>
        <p:txBody>
          <a:bodyPr/>
          <a:lstStyle/>
          <a:p>
            <a:pPr>
              <a:defRPr/>
            </a:pPr>
            <a:fld id="{B2EB7B1D-155F-DE45-A4D9-3453DB08EE0D}" type="slidenum">
              <a:rPr lang="en-GB"/>
              <a:t>41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D62DB-AB26-2409-3685-5EE62759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378"/>
            <a:ext cx="12192000" cy="622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6730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242424"/>
      </a:dk2>
      <a:lt2>
        <a:srgbClr val="CCCCCC"/>
      </a:lt2>
      <a:accent1>
        <a:srgbClr val="54C5F3"/>
      </a:accent1>
      <a:accent2>
        <a:srgbClr val="F4AAB9"/>
      </a:accent2>
      <a:accent3>
        <a:srgbClr val="C0D7A1"/>
      </a:accent3>
      <a:accent4>
        <a:srgbClr val="C8A8F3"/>
      </a:accent4>
      <a:accent5>
        <a:srgbClr val="F3D4AE"/>
      </a:accent5>
      <a:accent6>
        <a:srgbClr val="65CBB9"/>
      </a:accent6>
      <a:hlink>
        <a:srgbClr val="5B19B5"/>
      </a:hlink>
      <a:folHlink>
        <a:srgbClr val="5B19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square" lIns="0" tIns="0" rIns="0" bIns="0" rtlCol="0" anchor="ctr">
        <a:noAutofit/>
      </a:bodyPr>
      <a:lstStyle>
        <a:defPPr algn="ctr">
          <a:defRPr sz="2400">
            <a:solidFill>
              <a:schemeClr val="tx1"/>
            </a:solidFill>
            <a:latin typeface="FAUSans Office" panose="020B0504010101010104" pitchFamily="34" charset="77"/>
            <a:cs typeface="FAUSans Office" panose="020B0504010101010104" pitchFamily="34" charset="77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863935D01D9249BB91A8139635CB70" ma:contentTypeVersion="12" ma:contentTypeDescription="Create a new document." ma:contentTypeScope="" ma:versionID="b9eece1c1738843602f3db043fa1e12e">
  <xsd:schema xmlns:xsd="http://www.w3.org/2001/XMLSchema" xmlns:xs="http://www.w3.org/2001/XMLSchema" xmlns:p="http://schemas.microsoft.com/office/2006/metadata/properties" xmlns:ns2="ff3c66ed-9060-4b44-be2d-3d344d05f2dc" xmlns:ns3="5a9f7cd3-bec7-49ea-ba26-5e85d7756a91" targetNamespace="http://schemas.microsoft.com/office/2006/metadata/properties" ma:root="true" ma:fieldsID="ba95441621ac2c61f545cf7bf7315756" ns2:_="" ns3:_="">
    <xsd:import namespace="ff3c66ed-9060-4b44-be2d-3d344d05f2dc"/>
    <xsd:import namespace="5a9f7cd3-bec7-49ea-ba26-5e85d7756a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c66ed-9060-4b44-be2d-3d344d05f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979915-1b84-43d5-84e4-ad1a289bda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f7cd3-bec7-49ea-ba26-5e85d7756a9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d5b605a-5bf4-4ec9-8ac6-8280965f468e}" ma:internalName="TaxCatchAll" ma:showField="CatchAllData" ma:web="5a9f7cd3-bec7-49ea-ba26-5e85d7756a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9f7cd3-bec7-49ea-ba26-5e85d7756a91" xsi:nil="true"/>
    <lcf76f155ced4ddcb4097134ff3c332f xmlns="ff3c66ed-9060-4b44-be2d-3d344d05f2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1E5E88D-A801-4F03-815F-5EB7286816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75219A-7969-4815-A266-87274C3325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3c66ed-9060-4b44-be2d-3d344d05f2dc"/>
    <ds:schemaRef ds:uri="5a9f7cd3-bec7-49ea-ba26-5e85d7756a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D028DA-32C0-4908-B62D-9AF597270AB1}">
  <ds:schemaRefs>
    <ds:schemaRef ds:uri="ff3c66ed-9060-4b44-be2d-3d344d05f2dc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5a9f7cd3-bec7-49ea-ba26-5e85d7756a91"/>
  </ds:schemaRefs>
</ds:datastoreItem>
</file>

<file path=docMetadata/LabelInfo.xml><?xml version="1.0" encoding="utf-8"?>
<clbl:labelList xmlns:clbl="http://schemas.microsoft.com/office/2020/mipLabelMetadata">
  <clbl:label id="{b2efcef3-8496-40b8-9de8-f135982f3461}" enabled="0" method="" siteId="{b2efcef3-8496-40b8-9de8-f135982f34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9929</TotalTime>
  <Words>2261</Words>
  <Application>Microsoft Macintosh PowerPoint</Application>
  <PresentationFormat>Widescreen</PresentationFormat>
  <Paragraphs>450</Paragraphs>
  <Slides>41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Calibri</vt:lpstr>
      <vt:lpstr>Candara</vt:lpstr>
      <vt:lpstr>Consolas</vt:lpstr>
      <vt:lpstr>Wingdings</vt:lpstr>
      <vt:lpstr>Georgia</vt:lpstr>
      <vt:lpstr>Aptos</vt:lpstr>
      <vt:lpstr>FAUSans Office</vt:lpstr>
      <vt:lpstr>Arial</vt:lpstr>
      <vt:lpstr>Office Theme</vt:lpstr>
      <vt:lpstr>PowerPoint Presentation</vt:lpstr>
      <vt:lpstr>What we have learned so far </vt:lpstr>
      <vt:lpstr>Recap: Theoretical foundations  </vt:lpstr>
      <vt:lpstr>Methodology: a reading procedure (Sinclair 2003)</vt:lpstr>
      <vt:lpstr>Concordancing tools </vt:lpstr>
      <vt:lpstr>Concordancing tools: CQPweb</vt:lpstr>
      <vt:lpstr>CQPweb: A hands-on example</vt:lpstr>
      <vt:lpstr>CQPweb: A hands-on example</vt:lpstr>
      <vt:lpstr>Simple search</vt:lpstr>
      <vt:lpstr>Concordance (kwic = key word in context)</vt:lpstr>
      <vt:lpstr>Extended context display with formatting</vt:lpstr>
      <vt:lpstr>Sorted concordance: great</vt:lpstr>
      <vt:lpstr>Frequency breakdown: fake</vt:lpstr>
      <vt:lpstr>Time for a closer look: fake news</vt:lpstr>
      <vt:lpstr>Distribution across metadata categories</vt:lpstr>
      <vt:lpstr>Collocation analysis</vt:lpstr>
      <vt:lpstr>CQPweb exercise</vt:lpstr>
      <vt:lpstr>Time for a break …</vt:lpstr>
      <vt:lpstr>What we have learned so far from using CLiC &amp; CQPweb?</vt:lpstr>
      <vt:lpstr>Practices in different disciplines: survey of strategies </vt:lpstr>
      <vt:lpstr>Selecting </vt:lpstr>
      <vt:lpstr>Selecting </vt:lpstr>
      <vt:lpstr>Ordering</vt:lpstr>
      <vt:lpstr>Ordering</vt:lpstr>
      <vt:lpstr>Reading Concordances R21 Project </vt:lpstr>
      <vt:lpstr>PowerPoint Presentation</vt:lpstr>
      <vt:lpstr>The FlexiConc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Hands-on: FlexiConc in CLiC basics </vt:lpstr>
      <vt:lpstr>Extending the search for body language patterns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Natalie Finlayson (English Language and Linguistics)</dc:creator>
  <cp:lastModifiedBy> </cp:lastModifiedBy>
  <cp:revision>227</cp:revision>
  <dcterms:created xsi:type="dcterms:W3CDTF">2024-03-12T00:45:26Z</dcterms:created>
  <dcterms:modified xsi:type="dcterms:W3CDTF">2026-09-22T09:47:52Z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0x01010034863935D01D9249BB91A8139635CB70</vt:lpwstr>
  </property>
  <property fmtid="{D5CDD505-2E9C-101B-9397-08002B2CF9AE}" pid="3" name="MediaServiceImageTags">
    <vt:lpwstr/>
  </property>
  <property fmtid="{D5CDD505-2E9C-101B-9397-08002B2CF9AE}" pid="4" name="ICV">
    <vt:lpwstr/>
  </property>
  <property fmtid="{D5CDD505-2E9C-101B-9397-08002B2CF9AE}" pid="5" name="KSOProductBuildVer">
    <vt:lpwstr>1033-11.1.0.11711</vt:lpwstr>
  </property>
</Properties>
</file>