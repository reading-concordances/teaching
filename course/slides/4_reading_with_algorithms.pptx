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 bookmarkIdSeed="2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685" r:id="rId5"/>
    <p:sldId id="2683" r:id="rId6"/>
    <p:sldId id="419" r:id="rId7"/>
    <p:sldId id="420" r:id="rId8"/>
    <p:sldId id="421" r:id="rId9"/>
    <p:sldId id="432" r:id="rId10"/>
    <p:sldId id="422" r:id="rId11"/>
    <p:sldId id="427" r:id="rId12"/>
    <p:sldId id="426" r:id="rId13"/>
    <p:sldId id="428" r:id="rId14"/>
    <p:sldId id="2650" r:id="rId15"/>
    <p:sldId id="2684" r:id="rId16"/>
    <p:sldId id="443" r:id="rId17"/>
    <p:sldId id="257" r:id="rId18"/>
    <p:sldId id="453" r:id="rId19"/>
    <p:sldId id="454" r:id="rId20"/>
    <p:sldId id="455" r:id="rId21"/>
    <p:sldId id="456" r:id="rId22"/>
    <p:sldId id="457" r:id="rId23"/>
    <p:sldId id="458" r:id="rId24"/>
    <p:sldId id="263" r:id="rId25"/>
    <p:sldId id="460" r:id="rId26"/>
    <p:sldId id="461" r:id="rId27"/>
    <p:sldId id="462" r:id="rId28"/>
    <p:sldId id="2701" r:id="rId29"/>
    <p:sldId id="2705" r:id="rId30"/>
    <p:sldId id="2706" r:id="rId31"/>
    <p:sldId id="447" r:id="rId32"/>
    <p:sldId id="448" r:id="rId33"/>
    <p:sldId id="449" r:id="rId34"/>
    <p:sldId id="450" r:id="rId35"/>
    <p:sldId id="451" r:id="rId36"/>
    <p:sldId id="467" r:id="rId37"/>
    <p:sldId id="2700" r:id="rId38"/>
    <p:sldId id="464" r:id="rId39"/>
    <p:sldId id="2648" r:id="rId40"/>
    <p:sldId id="2671" r:id="rId41"/>
    <p:sldId id="2707" r:id="rId42"/>
    <p:sldId id="2667" r:id="rId43"/>
  </p:sldIdLst>
  <p:sldSz cx="12192000" cy="6858000"/>
  <p:notesSz cx="6858000" cy="9144000"/>
  <p:embeddedFontLst>
    <p:embeddedFont>
      <p:font typeface="Candara" panose="020E0502030303020204" pitchFamily="34" charset="0"/>
      <p:regular r:id="rId46"/>
      <p:bold r:id="rId47"/>
      <p:italic r:id="rId48"/>
      <p:boldItalic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FAUSans Office" panose="020B0504010101010104" pitchFamily="34" charset="77"/>
      <p:regular r:id="rId54"/>
      <p:bold r:id="rId55"/>
      <p:italic r:id="rId56"/>
      <p:boldItalic r:id="rId5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05CF46-3410-AA0A-1245-8A9FE69B923A}" name="Piperski, Aleksandr" initials="PA" userId="S::to51xyhu@fauad.fau.de::f69a4bad-1b71-4b84-bcb6-3723fb1bc78f" providerId="AD"/>
  <p188:author id="{FEEC5457-15E6-6E38-F443-7A192C593AD5}" name="Dykes, Nathan" initials="DN" userId="S::la06moso@fauad.fau.de::bb86161d-c33f-41e7-93df-f57ac910d3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C0DAD2"/>
    <a:srgbClr val="BAC0D9"/>
    <a:srgbClr val="C0DABB"/>
    <a:srgbClr val="990033"/>
    <a:srgbClr val="FF99CC"/>
    <a:srgbClr val="FFCCFF"/>
    <a:srgbClr val="FBD4DC"/>
    <a:srgbClr val="F8A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/>
    <p:restoredTop sz="96283"/>
  </p:normalViewPr>
  <p:slideViewPr>
    <p:cSldViewPr snapToGrid="0">
      <p:cViewPr>
        <p:scale>
          <a:sx n="150" d="100"/>
          <a:sy n="150" d="100"/>
        </p:scale>
        <p:origin x="552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127" d="100"/>
          <a:sy n="127" d="100"/>
        </p:scale>
        <p:origin x="2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9.fntdata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796673-B35C-B37D-3219-C53285AA13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8D901-A21A-BE4D-089A-7CA65E41BE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FC277-78D7-FD40-B599-ED34D02CBE47}" type="datetimeFigureOut"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E049B-85E9-A6EA-A8B1-7CC12B8D6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A40A3-2E20-0293-C9D9-7C5F7E2CA8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7A19F-1495-B848-AD29-53732E1E2D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39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9876-35BB-4790-A6E6-84E358FFE4C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78C15-C8E2-434D-9C71-D59CB069DB57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EAE7-E561-9E7B-061E-02EFBF0D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98267-FDB0-A640-4B32-F395C1AE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4452A-2A93-4C75-A528-BDBCCA575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A8289-314F-A5F6-7CBF-B029AAE1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68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19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D78C15-C8E2-434D-9C71-D59CB069DB5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5529-89DA-EEFE-B6C6-DFC93F14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CCB23-63F4-FAF9-6839-D04E05D0B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42A09-AAE7-1F7D-6767-D6E09B5ED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2D1EC-0EDA-5DC0-59DD-1F395602E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38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54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0FFD1-C0B0-267B-494C-46B46B55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15E8C-DBDB-793D-BF75-B1100F6F1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87533-4206-D86D-CA52-E88442CB4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39F66-8D30-F5E5-BD45-CCAE4574A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36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26E29E-1E2A-44E5-3FC5-786EBA6F840B}"/>
              </a:ext>
            </a:extLst>
          </p:cNvPr>
          <p:cNvSpPr/>
          <p:nvPr userDrawn="1"/>
        </p:nvSpPr>
        <p:spPr>
          <a:xfrm rot="5400000">
            <a:off x="5491842" y="-5491842"/>
            <a:ext cx="1208314" cy="1219200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749424-4954-1C18-42E0-2013AE4CDBE1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353801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7870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86369-1C5D-6097-3686-4653D1016C85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9E9AE7-8FDC-5160-A1C2-43C6E23E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EB7F3AA-7FFB-5041-CD31-1E75C9F1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C04A0E-C353-DABE-D7E4-FDF6F688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8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AF9C64-C7CC-5D02-1146-F48C09F3AF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7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6" r:id="rId4"/>
    <p:sldLayoutId id="2147483655" r:id="rId5"/>
    <p:sldLayoutId id="2147483657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AUSans Office" panose="020B0504010101010104" pitchFamily="34" charset="77"/>
          <a:ea typeface="+mj-ea"/>
          <a:cs typeface="FAUSans Office" panose="020B0504010101010104" pitchFamily="34" charset="77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 rot="5400000">
            <a:off x="5466402" y="201470"/>
            <a:ext cx="1208315" cy="1214112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1937" y="1315330"/>
            <a:ext cx="11381778" cy="188169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b"/>
          <a:lstStyle/>
          <a:p>
            <a:pPr marL="716280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Reading Concordances with Algorithms: </a:t>
            </a:r>
          </a:p>
          <a:p>
            <a:pPr marL="9525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a training course in key corpus linguistics methodology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9525"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</a:p>
          <a:p>
            <a:pPr marL="9525"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Reading with algorithms: FlexiConc</a:t>
            </a:r>
          </a:p>
        </p:txBody>
      </p:sp>
      <p:sp>
        <p:nvSpPr>
          <p:cNvPr id="3" name="Rounded Rectangle 8"/>
          <p:cNvSpPr/>
          <p:nvPr/>
        </p:nvSpPr>
        <p:spPr>
          <a:xfrm>
            <a:off x="336551" y="5872740"/>
            <a:ext cx="11512550" cy="798581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9525" algn="ctr"/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Stephanie Evert &amp; Michaela Mahlberg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3F9565-715D-91DC-A0E3-3DEF4044BC1D}"/>
              </a:ext>
            </a:extLst>
          </p:cNvPr>
          <p:cNvGrpSpPr/>
          <p:nvPr/>
        </p:nvGrpSpPr>
        <p:grpSpPr>
          <a:xfrm>
            <a:off x="10337369" y="5728675"/>
            <a:ext cx="1803752" cy="1208316"/>
            <a:chOff x="3511630" y="417286"/>
            <a:chExt cx="5701633" cy="3207169"/>
          </a:xfrm>
        </p:grpSpPr>
        <p:pic>
          <p:nvPicPr>
            <p:cNvPr id="21" name="Picture 20" descr="A black screen with a white bord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1630" y="417286"/>
              <a:ext cx="5701633" cy="3207169"/>
            </a:xfrm>
            <a:prstGeom prst="rect">
              <a:avLst/>
            </a:prstGeom>
          </p:spPr>
        </p:pic>
        <p:pic>
          <p:nvPicPr>
            <p:cNvPr id="1036" name="Picture 12" descr="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05" r="6032"/>
            <a:stretch>
              <a:fillRect/>
            </a:stretch>
          </p:blipFill>
          <p:spPr bwMode="auto">
            <a:xfrm>
              <a:off x="3916325" y="585969"/>
              <a:ext cx="4944139" cy="2601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240" y="5021154"/>
            <a:ext cx="2106591" cy="4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A21E52-34BC-F9E0-9C6B-6668245D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49" y="5163497"/>
            <a:ext cx="2511354" cy="32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8E96232E-D99C-4442-E83E-DC75693E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9" y="4948407"/>
            <a:ext cx="2511354" cy="63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72A65-CCB4-DB4C-8DC4-6895D43EE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783" y="172716"/>
            <a:ext cx="2193359" cy="1191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597A6-EAFF-C8A8-767C-CCA4715AFA7F}"/>
              </a:ext>
            </a:extLst>
          </p:cNvPr>
          <p:cNvSpPr txBox="1"/>
          <p:nvPr/>
        </p:nvSpPr>
        <p:spPr>
          <a:xfrm>
            <a:off x="1536324" y="3535294"/>
            <a:ext cx="9113004" cy="988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UTN Computational Linguistics Fall School</a:t>
            </a:r>
          </a:p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21–25 September 2026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26B14F-312E-F64D-0DB5-DA6331901BA8}"/>
              </a:ext>
            </a:extLst>
          </p:cNvPr>
          <p:cNvSpPr/>
          <p:nvPr/>
        </p:nvSpPr>
        <p:spPr>
          <a:xfrm>
            <a:off x="10843245" y="420897"/>
            <a:ext cx="792000" cy="7920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4</a:t>
            </a:r>
            <a:endParaRPr lang="en-US" sz="4400" b="1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44F7-75A9-A770-E76D-EE3933B1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7465-0AE0-2CDA-22E6-2885E5DE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3AC1-C971-F220-30BE-4A021157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583166" cy="4948211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What we have learned so far …</a:t>
            </a:r>
          </a:p>
          <a:p>
            <a:r>
              <a:rPr lang="en-US"/>
              <a:t>Reading concordances with (and without) the help of software tools</a:t>
            </a:r>
          </a:p>
          <a:p>
            <a:r>
              <a:rPr lang="en-US"/>
              <a:t>How to identify recurrent patterns and interpret them </a:t>
            </a:r>
          </a:p>
          <a:p>
            <a:r>
              <a:rPr lang="en-US"/>
              <a:t>Strategies and algorithms for organising concordance lines</a:t>
            </a:r>
          </a:p>
          <a:p>
            <a:pPr lvl="1"/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What we're going to look at now …</a:t>
            </a:r>
            <a:endParaRPr lang="en-US"/>
          </a:p>
          <a:p>
            <a:r>
              <a:rPr lang="en-US"/>
              <a:t>A mathematical framework for reading concordances with algorithms</a:t>
            </a:r>
          </a:p>
          <a:p>
            <a:r>
              <a:rPr lang="en-US"/>
              <a:t>What further algorithms could be useful?</a:t>
            </a:r>
          </a:p>
          <a:p>
            <a:r>
              <a:rPr lang="en-US"/>
              <a:t>How can we document the concordance reading process?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760A6-4FF3-0D57-816E-E156EB36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AEB33-9065-CB7C-6755-159762A9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4F2A6F-8CA2-018D-0E84-7465900D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44BC-916B-3A5F-FA45-8EAC06088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969476"/>
          </a:xfrm>
        </p:spPr>
        <p:txBody>
          <a:bodyPr/>
          <a:lstStyle/>
          <a:p>
            <a:pPr marL="1069975" indent="-1069975">
              <a:buNone/>
            </a:pPr>
            <a:r>
              <a:rPr lang="en-US" sz="3200" b="1"/>
              <a:t>Goal:	</a:t>
            </a:r>
            <a:r>
              <a:rPr lang="en-US" sz="3200"/>
              <a:t>Develop mathematical framework for computational algorithms used to organise concordance lines in the concordance reading process.</a:t>
            </a:r>
          </a:p>
          <a:p>
            <a:pPr lvl="2"/>
            <a:endParaRPr lang="en-US"/>
          </a:p>
          <a:p>
            <a:r>
              <a:rPr lang="en-US"/>
              <a:t>Tightly connected to kwic-style display of concordance lines</a:t>
            </a:r>
          </a:p>
          <a:p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Limitation:</a:t>
            </a:r>
            <a:r>
              <a:rPr lang="en-US"/>
              <a:t> only algorithms that can be understood as a rearrangement of concordance lines ➞ makes generic UI possible</a:t>
            </a:r>
          </a:p>
          <a:p>
            <a:r>
              <a:rPr lang="en-US"/>
              <a:t>Focus on three main general strategies in current practice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D0D12-EEC4-9A63-1424-66CCCC75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9E4B0-CF1A-4AD0-7D97-439D1D22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74810-2DD1-D585-6951-91DCC7D9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FD942-22C8-28CF-4F62-E0C8EEEF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384869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D5E338-5E8C-08CD-31DC-1FE835EA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why?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9B4AA-A384-43EF-9696-ED871EA7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200"/>
          </a:p>
          <a:p>
            <a:pPr marL="0" indent="0" algn="ctr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US" sz="3200"/>
              <a:t>Why not just invent some really cool new algorithms</a:t>
            </a:r>
            <a:br>
              <a:rPr lang="en-US" sz="3200"/>
            </a:br>
            <a:r>
              <a:rPr lang="en-US" sz="3200"/>
              <a:t>and implement them in 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</a:rPr>
              <a:t>#FAUbox</a:t>
            </a:r>
            <a:r>
              <a:rPr lang="en-US" sz="3200"/>
              <a:t> or </a:t>
            </a:r>
            <a:r>
              <a:rPr lang="en-US" sz="3200">
                <a:solidFill>
                  <a:schemeClr val="accent2">
                    <a:lumMod val="50000"/>
                  </a:schemeClr>
                </a:solidFill>
              </a:rPr>
              <a:t>EverConc</a:t>
            </a:r>
            <a:r>
              <a:rPr lang="en-US" sz="320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F0094-C455-B0BC-D595-6CCDF34E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4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A2ADE9-B3D0-2895-038B-056AA648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077665-0EBC-8F65-8CD4-EE54F88E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203166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FD7F-5935-28DB-81D8-70CC92B8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9E945-1A51-2E60-018A-7370694BB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Community needs general framework, not another app</a:t>
            </a:r>
          </a:p>
          <a:p>
            <a:pPr>
              <a:spcAft>
                <a:spcPts val="600"/>
              </a:spcAft>
            </a:pPr>
            <a:r>
              <a:rPr lang="en-US"/>
              <a:t>Make novel algorithms available in many (all) concordancers</a:t>
            </a:r>
          </a:p>
          <a:p>
            <a:pPr>
              <a:spcAft>
                <a:spcPts val="600"/>
              </a:spcAft>
            </a:pPr>
            <a:r>
              <a:rPr lang="en-US"/>
              <a:t>Specify precise semantics of algorithms</a:t>
            </a:r>
          </a:p>
          <a:p>
            <a:pPr>
              <a:spcAft>
                <a:spcPts val="600"/>
              </a:spcAft>
            </a:pPr>
            <a:r>
              <a:rPr lang="en-US"/>
              <a:t>Combining algorithms: limitations </a:t>
            </a:r>
          </a:p>
          <a:p>
            <a:pPr>
              <a:spcAft>
                <a:spcPts val="600"/>
              </a:spcAft>
            </a:pPr>
            <a:r>
              <a:rPr lang="en-US"/>
              <a:t>Consistent visualisation in UI</a:t>
            </a:r>
          </a:p>
          <a:p>
            <a:pPr>
              <a:spcAft>
                <a:spcPts val="600"/>
              </a:spcAft>
            </a:pPr>
            <a:r>
              <a:rPr lang="en-US"/>
              <a:t>Formal model of organising concordances</a:t>
            </a:r>
          </a:p>
          <a:p>
            <a:pPr>
              <a:spcAft>
                <a:spcPts val="600"/>
              </a:spcAft>
            </a:pPr>
            <a:r>
              <a:rPr lang="en-US"/>
              <a:t>Research documentation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465F2-13FB-99DA-8457-886EBFE8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34058-579E-7E06-9A7F-DB3812BF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8AF91-1797-042B-97E7-2150224F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64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5668-0A4A-B092-2B68-A3708332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Concordance reading strategies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294D2-CC70-4C4C-1857-69477849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EA951-463D-1BCA-36F4-7306380B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6</a:t>
            </a:fld>
            <a:endParaRPr lang="en-GB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5D4AA58-C910-EADB-54EA-0D04FB7BE9C3}"/>
              </a:ext>
            </a:extLst>
          </p:cNvPr>
          <p:cNvGrpSpPr/>
          <p:nvPr/>
        </p:nvGrpSpPr>
        <p:grpSpPr>
          <a:xfrm>
            <a:off x="4342366" y="1357166"/>
            <a:ext cx="3507268" cy="1972838"/>
            <a:chOff x="4288971" y="1456994"/>
            <a:chExt cx="3614057" cy="2032907"/>
          </a:xfrm>
        </p:grpSpPr>
        <p:pic>
          <p:nvPicPr>
            <p:cNvPr id="7" name="Picture 6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E52573CC-8039-0A28-8217-2AD778E7C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8971" y="1456994"/>
              <a:ext cx="3614057" cy="2032907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AAE74FF-B1FC-9D46-05E4-D20015D8B614}"/>
                </a:ext>
              </a:extLst>
            </p:cNvPr>
            <p:cNvGrpSpPr/>
            <p:nvPr/>
          </p:nvGrpSpPr>
          <p:grpSpPr>
            <a:xfrm>
              <a:off x="4648200" y="1644755"/>
              <a:ext cx="2895600" cy="75692"/>
              <a:chOff x="4639673" y="1649035"/>
              <a:chExt cx="2895600" cy="75692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F5EE69B-2ED2-2C91-8E56-7DE573C92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ln w="38100">
                <a:solidFill>
                  <a:srgbClr val="F8AAB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9B7FAF3-F93F-5F31-F16D-CF0458613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ln w="38100">
                <a:solidFill>
                  <a:srgbClr val="F8AAB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9756296-3789-8B62-FAEF-7D5D86086246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25426A-DA95-6031-3B86-5C3BDE2176EA}"/>
                </a:ext>
              </a:extLst>
            </p:cNvPr>
            <p:cNvGrpSpPr/>
            <p:nvPr/>
          </p:nvGrpSpPr>
          <p:grpSpPr>
            <a:xfrm>
              <a:off x="4648200" y="1801235"/>
              <a:ext cx="2895600" cy="75692"/>
              <a:chOff x="4639673" y="1649035"/>
              <a:chExt cx="2895600" cy="75692"/>
            </a:xfrm>
            <a:solidFill>
              <a:srgbClr val="CC0066"/>
            </a:solidFill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EAFDA48-58D5-664B-69D7-C5133AA09D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CC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2906A13-E8C2-BE53-E75F-7331A2ED8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CC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119197-BCF0-F877-5817-DB814B61EEA1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CC00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0FA8AC1-55B9-1751-EC5D-64EE39DA617D}"/>
                </a:ext>
              </a:extLst>
            </p:cNvPr>
            <p:cNvGrpSpPr/>
            <p:nvPr/>
          </p:nvGrpSpPr>
          <p:grpSpPr>
            <a:xfrm>
              <a:off x="4648200" y="1957715"/>
              <a:ext cx="2895600" cy="75692"/>
              <a:chOff x="4639673" y="1649035"/>
              <a:chExt cx="2895600" cy="75692"/>
            </a:xfrm>
            <a:solidFill>
              <a:srgbClr val="FF3399"/>
            </a:solidFill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EC68779-51C8-EB9E-5CA8-9C04DE86C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B554EBD-30EF-2CB0-006C-7056B77AED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A16DDC3-E861-469C-83FC-2B53C4446DA7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FF62D13-D868-499B-576D-9FB071D06AB8}"/>
                </a:ext>
              </a:extLst>
            </p:cNvPr>
            <p:cNvGrpSpPr/>
            <p:nvPr/>
          </p:nvGrpSpPr>
          <p:grpSpPr>
            <a:xfrm>
              <a:off x="4648200" y="2114195"/>
              <a:ext cx="2895600" cy="75692"/>
              <a:chOff x="4639673" y="1649035"/>
              <a:chExt cx="2895600" cy="75692"/>
            </a:xfrm>
            <a:solidFill>
              <a:srgbClr val="FF33CC"/>
            </a:solidFill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ED2E783-F0FD-660B-D71C-0CC49BDD9F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5775C35-D802-D6CF-8638-D0DBF8BF0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E3C12E5-71F3-978E-42D0-58B281F8905A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FF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2B663A-AF4C-317E-4E26-CD1D08C23CD2}"/>
                </a:ext>
              </a:extLst>
            </p:cNvPr>
            <p:cNvGrpSpPr/>
            <p:nvPr/>
          </p:nvGrpSpPr>
          <p:grpSpPr>
            <a:xfrm>
              <a:off x="4648200" y="2270675"/>
              <a:ext cx="2895600" cy="75692"/>
              <a:chOff x="4639673" y="1649035"/>
              <a:chExt cx="2895600" cy="75692"/>
            </a:xfrm>
            <a:solidFill>
              <a:srgbClr val="FBD4DC"/>
            </a:solidFill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97620EF-396F-655F-B9F4-44CFCC7FF8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BD4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E4154D4-7D52-0352-78C4-62B2BFD6D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BD4D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1577A09-248B-43CC-6249-6C2ED3BF7C5E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FBD4D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2D54101-CB28-D24E-1C12-674A77207E92}"/>
                </a:ext>
              </a:extLst>
            </p:cNvPr>
            <p:cNvGrpSpPr/>
            <p:nvPr/>
          </p:nvGrpSpPr>
          <p:grpSpPr>
            <a:xfrm>
              <a:off x="4648200" y="2427155"/>
              <a:ext cx="2895600" cy="75692"/>
              <a:chOff x="4639673" y="1649035"/>
              <a:chExt cx="2895600" cy="75692"/>
            </a:xfrm>
            <a:solidFill>
              <a:schemeClr val="accent2">
                <a:lumMod val="50000"/>
              </a:schemeClr>
            </a:solidFill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6EA5091-049A-7502-5FB0-D08E93CEC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FC1877F-383E-BA24-4364-17046117A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CE0190B-F6EB-B4B3-1ED4-BE8DF627115D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F22FA28-7E99-5D98-FAA9-86BCBC2F78D9}"/>
                </a:ext>
              </a:extLst>
            </p:cNvPr>
            <p:cNvGrpSpPr/>
            <p:nvPr/>
          </p:nvGrpSpPr>
          <p:grpSpPr>
            <a:xfrm>
              <a:off x="4648200" y="2583635"/>
              <a:ext cx="2895600" cy="75692"/>
              <a:chOff x="4639673" y="1649035"/>
              <a:chExt cx="2895600" cy="75692"/>
            </a:xfrm>
            <a:solidFill>
              <a:srgbClr val="FFCCFF"/>
            </a:solidFill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408CEBA-DFA6-C29B-BEC9-B34EE87F0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30CC6D7-A79A-BE22-12C9-92D508321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CC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DAA8166-40A9-40BB-56E3-9BEB82AEBD52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FFCC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6EC1C8-E3C2-37B1-D05F-34F040F8AE94}"/>
                </a:ext>
              </a:extLst>
            </p:cNvPr>
            <p:cNvGrpSpPr/>
            <p:nvPr/>
          </p:nvGrpSpPr>
          <p:grpSpPr>
            <a:xfrm>
              <a:off x="4648200" y="2740115"/>
              <a:ext cx="2895600" cy="75692"/>
              <a:chOff x="4639673" y="1649035"/>
              <a:chExt cx="2895600" cy="75692"/>
            </a:xfrm>
            <a:solidFill>
              <a:schemeClr val="accent2">
                <a:lumMod val="25000"/>
              </a:schemeClr>
            </a:solidFill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2980FDD-60D6-E5D9-20F6-3A411A46C5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8D38F75-C097-291F-A73F-2F717EFDA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62E9A0F-BC3F-20C9-47CB-E2AA5D71D082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ABB6550-0953-6A08-F79A-EA15D4F60E9E}"/>
                </a:ext>
              </a:extLst>
            </p:cNvPr>
            <p:cNvGrpSpPr/>
            <p:nvPr/>
          </p:nvGrpSpPr>
          <p:grpSpPr>
            <a:xfrm>
              <a:off x="4648200" y="2896595"/>
              <a:ext cx="2895600" cy="75692"/>
              <a:chOff x="4639673" y="1649035"/>
              <a:chExt cx="2895600" cy="75692"/>
            </a:xfrm>
            <a:solidFill>
              <a:srgbClr val="FF99CC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4ED8FB2-D317-60C3-7390-EE780E06AA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99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3532D1E-543B-280A-CE8E-1039A7CCF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rgbClr val="FF99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4723D78-D334-EB14-C5B2-4D5D99C80DCA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rgbClr val="FF99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646B32F-4B93-1A0C-3591-81DC70AEC0C3}"/>
                </a:ext>
              </a:extLst>
            </p:cNvPr>
            <p:cNvGrpSpPr/>
            <p:nvPr/>
          </p:nvGrpSpPr>
          <p:grpSpPr>
            <a:xfrm>
              <a:off x="4648200" y="3053079"/>
              <a:ext cx="2895600" cy="75692"/>
              <a:chOff x="4639673" y="1649035"/>
              <a:chExt cx="2895600" cy="75692"/>
            </a:xfrm>
            <a:solidFill>
              <a:schemeClr val="accent2">
                <a:lumMod val="90000"/>
              </a:schemeClr>
            </a:solidFill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B403146-B342-3019-AD1F-B69034B7A8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673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EBDC38F-D3F4-2B47-DDAA-F87ABF5C8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5946" y="1679007"/>
                <a:ext cx="1329327" cy="0"/>
              </a:xfrm>
              <a:prstGeom prst="line">
                <a:avLst/>
              </a:prstGeom>
              <a:grpFill/>
              <a:ln w="38100"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3BAA6E0-B6DC-4A57-61B9-48456B96FE37}"/>
                  </a:ext>
                </a:extLst>
              </p:cNvPr>
              <p:cNvSpPr/>
              <p:nvPr/>
            </p:nvSpPr>
            <p:spPr>
              <a:xfrm>
                <a:off x="6045200" y="1649035"/>
                <a:ext cx="76584" cy="75692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53E575E-F0C0-F732-7E28-C267BD6290EA}"/>
              </a:ext>
            </a:extLst>
          </p:cNvPr>
          <p:cNvGrpSpPr/>
          <p:nvPr/>
        </p:nvGrpSpPr>
        <p:grpSpPr>
          <a:xfrm>
            <a:off x="4251725" y="3330006"/>
            <a:ext cx="3691940" cy="3134722"/>
            <a:chOff x="4251725" y="3330006"/>
            <a:chExt cx="3691940" cy="3134722"/>
          </a:xfrm>
        </p:grpSpPr>
        <p:sp>
          <p:nvSpPr>
            <p:cNvPr id="79" name="Rounded Rectangle 17">
              <a:extLst>
                <a:ext uri="{FF2B5EF4-FFF2-40B4-BE49-F238E27FC236}">
                  <a16:creationId xmlns:a16="http://schemas.microsoft.com/office/drawing/2014/main" id="{A1A8BC1E-B5A9-111A-D22E-9972EA8AC09A}"/>
                </a:ext>
              </a:extLst>
            </p:cNvPr>
            <p:cNvSpPr/>
            <p:nvPr/>
          </p:nvSpPr>
          <p:spPr>
            <a:xfrm>
              <a:off x="4251725" y="5440084"/>
              <a:ext cx="3691940" cy="1024644"/>
            </a:xfrm>
            <a:prstGeom prst="roundRect">
              <a:avLst/>
            </a:prstGeom>
            <a:ln w="254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3200" dirty="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Ordering</a:t>
              </a:r>
            </a:p>
            <a:p>
              <a:pPr algn="ctr"/>
              <a:r>
                <a:rPr lang="en-US" sz="3200" dirty="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Sorting</a:t>
              </a:r>
              <a:r>
                <a:rPr lang="en-US" sz="3200" dirty="0">
                  <a:solidFill>
                    <a:schemeClr val="tx1"/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 / </a:t>
              </a:r>
              <a:r>
                <a:rPr lang="en-US" sz="3200" dirty="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Ranking</a:t>
              </a:r>
              <a:endParaRPr lang="en-US" sz="3200" dirty="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endParaRPr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24D4138-7939-E13B-C087-BBB4F4031C3A}"/>
                </a:ext>
              </a:extLst>
            </p:cNvPr>
            <p:cNvGrpSpPr/>
            <p:nvPr/>
          </p:nvGrpSpPr>
          <p:grpSpPr>
            <a:xfrm>
              <a:off x="4342366" y="3330006"/>
              <a:ext cx="3507268" cy="2170825"/>
              <a:chOff x="4342366" y="3330006"/>
              <a:chExt cx="3507268" cy="2170825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4149A408-F433-70C0-311D-EB0A5D8DACB7}"/>
                  </a:ext>
                </a:extLst>
              </p:cNvPr>
              <p:cNvGrpSpPr/>
              <p:nvPr/>
            </p:nvGrpSpPr>
            <p:grpSpPr>
              <a:xfrm>
                <a:off x="4342366" y="3527993"/>
                <a:ext cx="3507268" cy="1972838"/>
                <a:chOff x="4290153" y="3748625"/>
                <a:chExt cx="3614057" cy="2032907"/>
              </a:xfrm>
            </p:grpSpPr>
            <p:pic>
              <p:nvPicPr>
                <p:cNvPr id="78" name="Picture 77" descr="A black screen with a white border&#10;&#10;Description automatically generated">
                  <a:extLst>
                    <a:ext uri="{FF2B5EF4-FFF2-40B4-BE49-F238E27FC236}">
                      <a16:creationId xmlns:a16="http://schemas.microsoft.com/office/drawing/2014/main" id="{277ADD2D-BCA5-076B-CF11-EC8C91B18B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290153" y="3748625"/>
                  <a:ext cx="3614057" cy="2032907"/>
                </a:xfrm>
                <a:prstGeom prst="rect">
                  <a:avLst/>
                </a:prstGeom>
              </p:spPr>
            </p:pic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9761DF0-6FDE-E0F8-1A28-5E2EFBCCC87E}"/>
                    </a:ext>
                  </a:extLst>
                </p:cNvPr>
                <p:cNvGrpSpPr/>
                <p:nvPr/>
              </p:nvGrpSpPr>
              <p:grpSpPr>
                <a:xfrm>
                  <a:off x="4647600" y="3941823"/>
                  <a:ext cx="2895600" cy="75692"/>
                  <a:chOff x="4639673" y="1649035"/>
                  <a:chExt cx="2895600" cy="75692"/>
                </a:xfrm>
                <a:solidFill>
                  <a:schemeClr val="accent2">
                    <a:lumMod val="25000"/>
                  </a:schemeClr>
                </a:solidFill>
              </p:grpSpPr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C05281D4-960D-59ED-BA44-CC543D8EE1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2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E0E30A5E-C5C9-30E2-6603-041569AD0C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2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5B3552C6-A906-0975-B3D6-02A3F34C51E0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chemeClr val="accent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B7DDC966-D926-FE09-3936-72F08F9CD6E0}"/>
                    </a:ext>
                  </a:extLst>
                </p:cNvPr>
                <p:cNvGrpSpPr/>
                <p:nvPr/>
              </p:nvGrpSpPr>
              <p:grpSpPr>
                <a:xfrm>
                  <a:off x="4647600" y="4096022"/>
                  <a:ext cx="2895600" cy="75692"/>
                  <a:chOff x="4639673" y="1649035"/>
                  <a:chExt cx="2895600" cy="75692"/>
                </a:xfrm>
                <a:solidFill>
                  <a:schemeClr val="accent2">
                    <a:lumMod val="50000"/>
                  </a:schemeClr>
                </a:solidFill>
              </p:grpSpPr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90E7B30F-0D51-6035-2604-3B2D4C56FD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D933F6E3-27A8-B381-8E74-1D364A60B4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27842D9B-B7E2-2B5E-E66F-D12AB4120FB6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B440AA3A-077E-3875-97A9-21D227FF06E0}"/>
                    </a:ext>
                  </a:extLst>
                </p:cNvPr>
                <p:cNvGrpSpPr/>
                <p:nvPr/>
              </p:nvGrpSpPr>
              <p:grpSpPr>
                <a:xfrm>
                  <a:off x="4647600" y="4250221"/>
                  <a:ext cx="2895600" cy="75692"/>
                  <a:chOff x="4639673" y="1649035"/>
                  <a:chExt cx="2895600" cy="75692"/>
                </a:xfrm>
                <a:solidFill>
                  <a:srgbClr val="CC0066"/>
                </a:solidFill>
              </p:grpSpPr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C6E9675F-CD10-6590-E01E-670E1A098C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CC00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14F1CFD2-C6D2-B861-920C-F8C08EDF22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CC00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04CF65F5-BFF5-01AB-F619-1056AA48F123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CC006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D57C1B53-994F-F4BC-3090-00BA00B1FE8F}"/>
                    </a:ext>
                  </a:extLst>
                </p:cNvPr>
                <p:cNvGrpSpPr/>
                <p:nvPr/>
              </p:nvGrpSpPr>
              <p:grpSpPr>
                <a:xfrm>
                  <a:off x="4647600" y="4404420"/>
                  <a:ext cx="2895600" cy="75692"/>
                  <a:chOff x="4639673" y="1649035"/>
                  <a:chExt cx="2895600" cy="75692"/>
                </a:xfrm>
                <a:solidFill>
                  <a:srgbClr val="FF3399"/>
                </a:solidFill>
              </p:grpSpPr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11EFE93B-E8CE-2599-0F9A-811CA5AEBF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9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9E9AD625-E4CC-4084-4C69-A358CB460D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9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F36935B3-C050-57FA-F579-A9ABB339345D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339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94B87D98-3915-3569-C7CE-23541C3F0A36}"/>
                    </a:ext>
                  </a:extLst>
                </p:cNvPr>
                <p:cNvGrpSpPr/>
                <p:nvPr/>
              </p:nvGrpSpPr>
              <p:grpSpPr>
                <a:xfrm>
                  <a:off x="4647600" y="4558619"/>
                  <a:ext cx="2895600" cy="75692"/>
                  <a:chOff x="4639673" y="1649035"/>
                  <a:chExt cx="2895600" cy="75692"/>
                </a:xfrm>
                <a:solidFill>
                  <a:srgbClr val="FF33CC"/>
                </a:solidFill>
              </p:grpSpPr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21484231-ED56-A582-2F08-D189BD484B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827B144F-F4F3-8982-03F6-4D26EEF08F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BAEFA5BD-C370-ABA1-7898-DF81901CF107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33C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4FA0E297-C555-265A-2576-85C535EA6E49}"/>
                    </a:ext>
                  </a:extLst>
                </p:cNvPr>
                <p:cNvGrpSpPr/>
                <p:nvPr/>
              </p:nvGrpSpPr>
              <p:grpSpPr>
                <a:xfrm>
                  <a:off x="4647600" y="4712818"/>
                  <a:ext cx="2895600" cy="75692"/>
                  <a:chOff x="4639673" y="1649035"/>
                  <a:chExt cx="2895600" cy="75692"/>
                </a:xfrm>
                <a:solidFill>
                  <a:srgbClr val="FF99CC"/>
                </a:solidFill>
              </p:grpSpPr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F751146F-AE0D-10EC-285E-CCE7D4AA7B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99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B25B595-3730-37D5-E286-229BCD18AC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99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962BF487-79AA-9D54-106A-75BD723092B4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99C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4FAE5EC0-E9FB-7E08-75C6-C174E614C5ED}"/>
                    </a:ext>
                  </a:extLst>
                </p:cNvPr>
                <p:cNvGrpSpPr/>
                <p:nvPr/>
              </p:nvGrpSpPr>
              <p:grpSpPr>
                <a:xfrm>
                  <a:off x="4647600" y="4867017"/>
                  <a:ext cx="2895600" cy="75692"/>
                  <a:chOff x="4639673" y="1649035"/>
                  <a:chExt cx="2895600" cy="75692"/>
                </a:xfrm>
                <a:solidFill>
                  <a:schemeClr val="accent2">
                    <a:lumMod val="90000"/>
                  </a:schemeClr>
                </a:solidFill>
              </p:grpSpPr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27F22ACD-89C2-91FE-45A7-1C4BD0C161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9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3F66AF77-3F76-906D-C13A-17F0104DAA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9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BBF81EDB-632A-0BD1-0917-4B2611D032A9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chemeClr val="accent2">
                        <a:lumMod val="9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5D753F26-92CE-062D-43A6-084141DEE9FE}"/>
                    </a:ext>
                  </a:extLst>
                </p:cNvPr>
                <p:cNvGrpSpPr/>
                <p:nvPr/>
              </p:nvGrpSpPr>
              <p:grpSpPr>
                <a:xfrm>
                  <a:off x="4647600" y="5021216"/>
                  <a:ext cx="2895600" cy="75692"/>
                  <a:chOff x="4639673" y="1649035"/>
                  <a:chExt cx="2895600" cy="75692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84707819-9568-B38F-4E03-25EB864867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ln w="38100">
                    <a:solidFill>
                      <a:srgbClr val="F8AAB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8C242460-D261-CEF1-BEC4-77990CF62D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ln w="38100">
                    <a:solidFill>
                      <a:srgbClr val="F8AAB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06C34810-3B9D-7715-928B-BB906CA65C13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A79B25B-611E-0511-4E87-363C6A48F5AB}"/>
                    </a:ext>
                  </a:extLst>
                </p:cNvPr>
                <p:cNvGrpSpPr/>
                <p:nvPr/>
              </p:nvGrpSpPr>
              <p:grpSpPr>
                <a:xfrm>
                  <a:off x="4647600" y="5175415"/>
                  <a:ext cx="2895600" cy="75692"/>
                  <a:chOff x="4639673" y="1649035"/>
                  <a:chExt cx="2895600" cy="75692"/>
                </a:xfrm>
                <a:solidFill>
                  <a:srgbClr val="FBD4DC"/>
                </a:solidFill>
              </p:grpSpPr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18B2D459-56E3-5D81-FDC2-E0FF3D8182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BD4D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250ABBF4-3D04-71F5-CD4C-8752390C16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BD4D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8EEDE1ED-7516-2782-A01C-C7CA7889175B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BD4D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50E06847-B430-E440-1111-985A42F0A689}"/>
                    </a:ext>
                  </a:extLst>
                </p:cNvPr>
                <p:cNvGrpSpPr/>
                <p:nvPr/>
              </p:nvGrpSpPr>
              <p:grpSpPr>
                <a:xfrm>
                  <a:off x="4647600" y="5329615"/>
                  <a:ext cx="2895600" cy="75692"/>
                  <a:chOff x="4639673" y="1649035"/>
                  <a:chExt cx="2895600" cy="75692"/>
                </a:xfrm>
                <a:solidFill>
                  <a:srgbClr val="FFCCFF"/>
                </a:solidFill>
              </p:grpSpPr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0EA3C9F3-003A-8DEB-C9A7-980A2EAE5D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CC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1F904368-65D6-6D1C-4F09-B864B1FC34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CC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F209E4F4-F563-7A46-6F77-89DFCBFD5372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CC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sp>
            <p:nvSpPr>
              <p:cNvPr id="90" name="Arrow: Right 123">
                <a:extLst>
                  <a:ext uri="{FF2B5EF4-FFF2-40B4-BE49-F238E27FC236}">
                    <a16:creationId xmlns:a16="http://schemas.microsoft.com/office/drawing/2014/main" id="{67A6A1CD-C5C9-7550-1B88-CD5D85C35EC4}"/>
                  </a:ext>
                </a:extLst>
              </p:cNvPr>
              <p:cNvSpPr/>
              <p:nvPr/>
            </p:nvSpPr>
            <p:spPr>
              <a:xfrm rot="5400000">
                <a:off x="5786777" y="3459220"/>
                <a:ext cx="601392" cy="342964"/>
              </a:xfrm>
              <a:prstGeom prst="rightArrow">
                <a:avLst/>
              </a:prstGeom>
              <a:solidFill>
                <a:srgbClr val="FBD4DC"/>
              </a:solidFill>
              <a:ln w="28575"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B22EC4-05E8-BC84-2313-12C494DA1725}"/>
              </a:ext>
            </a:extLst>
          </p:cNvPr>
          <p:cNvGrpSpPr/>
          <p:nvPr/>
        </p:nvGrpSpPr>
        <p:grpSpPr>
          <a:xfrm>
            <a:off x="7737987" y="3380275"/>
            <a:ext cx="4454013" cy="3091271"/>
            <a:chOff x="7737987" y="3380275"/>
            <a:chExt cx="4454013" cy="3091271"/>
          </a:xfrm>
        </p:grpSpPr>
        <p:sp>
          <p:nvSpPr>
            <p:cNvPr id="123" name="Rounded Rectangle 17">
              <a:extLst>
                <a:ext uri="{FF2B5EF4-FFF2-40B4-BE49-F238E27FC236}">
                  <a16:creationId xmlns:a16="http://schemas.microsoft.com/office/drawing/2014/main" id="{8BC2A4EC-AC34-1749-C5F4-1A62CCAEE859}"/>
                </a:ext>
              </a:extLst>
            </p:cNvPr>
            <p:cNvSpPr/>
            <p:nvPr/>
          </p:nvSpPr>
          <p:spPr>
            <a:xfrm>
              <a:off x="7737987" y="5443817"/>
              <a:ext cx="4454013" cy="1027729"/>
            </a:xfrm>
            <a:prstGeom prst="roundRect">
              <a:avLst/>
            </a:prstGeom>
            <a:ln w="254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3200" dirty="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Grouping</a:t>
              </a:r>
            </a:p>
            <a:p>
              <a:pPr algn="ctr"/>
              <a:r>
                <a:rPr lang="en-US" sz="3200" dirty="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Partitioning</a:t>
              </a:r>
              <a:r>
                <a:rPr lang="en-US" sz="3200" dirty="0">
                  <a:solidFill>
                    <a:schemeClr val="tx1"/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/</a:t>
              </a:r>
              <a:r>
                <a:rPr lang="en-US" sz="3200" dirty="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Clustering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E3ECC05C-426A-8BF3-2ACA-D24E5513AE88}"/>
                </a:ext>
              </a:extLst>
            </p:cNvPr>
            <p:cNvGrpSpPr/>
            <p:nvPr/>
          </p:nvGrpSpPr>
          <p:grpSpPr>
            <a:xfrm>
              <a:off x="8301653" y="3527993"/>
              <a:ext cx="3507268" cy="1972838"/>
              <a:chOff x="8301653" y="3527993"/>
              <a:chExt cx="3507268" cy="1972838"/>
            </a:xfrm>
          </p:grpSpPr>
          <p:pic>
            <p:nvPicPr>
              <p:cNvPr id="122" name="Picture 121" descr="A black screen with a white border&#10;&#10;Description automatically generated">
                <a:extLst>
                  <a:ext uri="{FF2B5EF4-FFF2-40B4-BE49-F238E27FC236}">
                    <a16:creationId xmlns:a16="http://schemas.microsoft.com/office/drawing/2014/main" id="{2DE7D40F-058D-97C8-C1FF-4B8E01C49E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01653" y="3527993"/>
                <a:ext cx="3507268" cy="1972838"/>
              </a:xfrm>
              <a:prstGeom prst="rect">
                <a:avLst/>
              </a:prstGeom>
            </p:spPr>
          </p:pic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28C0D834-2BA7-15E1-2232-B84DD04FCE09}"/>
                  </a:ext>
                </a:extLst>
              </p:cNvPr>
              <p:cNvGrpSpPr/>
              <p:nvPr/>
            </p:nvGrpSpPr>
            <p:grpSpPr>
              <a:xfrm>
                <a:off x="8666677" y="3705221"/>
                <a:ext cx="2810040" cy="73455"/>
                <a:chOff x="4639673" y="1649035"/>
                <a:chExt cx="2895600" cy="75692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C8DB0D7-6029-D3FB-3AA0-F6875CD8B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BEFC1EF2-0308-7953-3B3C-ABD5BA43C3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CE0EA4CD-023C-06BA-6B6E-22BB954D126F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52214EB2-E786-8389-028D-B72725FD171E}"/>
                  </a:ext>
                </a:extLst>
              </p:cNvPr>
              <p:cNvGrpSpPr/>
              <p:nvPr/>
            </p:nvGrpSpPr>
            <p:grpSpPr>
              <a:xfrm>
                <a:off x="8666677" y="3857077"/>
                <a:ext cx="2810040" cy="73455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E3B5A047-7F59-1348-1801-7FAF8FB099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374D9D38-879F-D2E1-2205-B56FE2FC8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3823F569-EB2F-6678-622E-F348C86BF8AB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0F7A0659-292B-9E0A-1B5D-2FB3A68BFD3B}"/>
                  </a:ext>
                </a:extLst>
              </p:cNvPr>
              <p:cNvGrpSpPr/>
              <p:nvPr/>
            </p:nvGrpSpPr>
            <p:grpSpPr>
              <a:xfrm>
                <a:off x="8666677" y="4160790"/>
                <a:ext cx="2810040" cy="73455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8BBE2C56-883A-E52C-6798-FFCC4B3EAB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8AB7EBF0-54B8-00F4-BCE5-0C7191C69B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1BA877EE-CCE0-C988-2613-F65EBE44325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A7D85D68-62FC-FD04-7D14-9BDF93C0E635}"/>
                  </a:ext>
                </a:extLst>
              </p:cNvPr>
              <p:cNvGrpSpPr/>
              <p:nvPr/>
            </p:nvGrpSpPr>
            <p:grpSpPr>
              <a:xfrm>
                <a:off x="8666677" y="4312646"/>
                <a:ext cx="2810040" cy="73455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4024C01E-0547-F06A-C957-328CDBA4BE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725D62BC-5F8A-6F9F-E20C-9E2733562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4A364E61-86B2-E5DF-D6F7-69D01C004C3D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3CCB3D0C-D81D-42FB-7D0B-761A3D63723C}"/>
                  </a:ext>
                </a:extLst>
              </p:cNvPr>
              <p:cNvGrpSpPr/>
              <p:nvPr/>
            </p:nvGrpSpPr>
            <p:grpSpPr>
              <a:xfrm>
                <a:off x="8666677" y="4464502"/>
                <a:ext cx="2810040" cy="73455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1560D86E-11F5-4E4D-0CFD-1D745E5AC0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8FCDBB7A-CAEC-389D-774E-AF3E38F38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FADE6CC5-7CF2-BA33-A7E7-AC60AE448E5A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6F8A7E2F-FD14-241A-F9BE-6013A5DC6192}"/>
                  </a:ext>
                </a:extLst>
              </p:cNvPr>
              <p:cNvGrpSpPr/>
              <p:nvPr/>
            </p:nvGrpSpPr>
            <p:grpSpPr>
              <a:xfrm>
                <a:off x="8666677" y="4768215"/>
                <a:ext cx="2810040" cy="73455"/>
                <a:chOff x="4639673" y="1649035"/>
                <a:chExt cx="2895600" cy="75692"/>
              </a:xfrm>
              <a:solidFill>
                <a:schemeClr val="accent2">
                  <a:lumMod val="25000"/>
                </a:schemeClr>
              </a:solidFill>
            </p:grpSpPr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35F18CC6-C252-5F6B-E548-1862A46480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E0ED56C0-9514-EE68-3A3F-B6694C4A82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232DDB4A-D906-F198-5793-004DF607630C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9D33A5B4-385B-5951-78BE-B2F44FF64D15}"/>
                  </a:ext>
                </a:extLst>
              </p:cNvPr>
              <p:cNvGrpSpPr/>
              <p:nvPr/>
            </p:nvGrpSpPr>
            <p:grpSpPr>
              <a:xfrm>
                <a:off x="8666677" y="4920071"/>
                <a:ext cx="2810040" cy="73455"/>
                <a:chOff x="4639673" y="1649035"/>
                <a:chExt cx="2895600" cy="75692"/>
              </a:xfrm>
              <a:solidFill>
                <a:srgbClr val="FF99CC"/>
              </a:solidFill>
            </p:grpSpPr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69A34726-4CA6-580B-577A-58B7A1145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8AE33268-A5E8-34DB-10D8-362AD74CA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B800E625-B138-738A-59AE-A46CC6678567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99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08082FCB-A977-3637-1501-6939E3ECFC86}"/>
                  </a:ext>
                </a:extLst>
              </p:cNvPr>
              <p:cNvGrpSpPr/>
              <p:nvPr/>
            </p:nvGrpSpPr>
            <p:grpSpPr>
              <a:xfrm>
                <a:off x="8666677" y="5071931"/>
                <a:ext cx="2810040" cy="73455"/>
                <a:chOff x="4639673" y="1649035"/>
                <a:chExt cx="2895600" cy="75692"/>
              </a:xfrm>
              <a:solidFill>
                <a:schemeClr val="accent2">
                  <a:lumMod val="90000"/>
                </a:schemeClr>
              </a:solidFill>
            </p:grpSpPr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F610B6F9-5F73-3B42-6D68-DD24A78797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593A1CD4-D0AB-F4E3-9879-1F27512664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69A1A70A-3690-6607-05EA-8FC575375BDD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sp>
          <p:nvSpPr>
            <p:cNvPr id="124" name="Arrow: Right 122">
              <a:extLst>
                <a:ext uri="{FF2B5EF4-FFF2-40B4-BE49-F238E27FC236}">
                  <a16:creationId xmlns:a16="http://schemas.microsoft.com/office/drawing/2014/main" id="{302CB6E3-65B8-B487-9771-663CC94E9965}"/>
                </a:ext>
              </a:extLst>
            </p:cNvPr>
            <p:cNvSpPr/>
            <p:nvPr/>
          </p:nvSpPr>
          <p:spPr>
            <a:xfrm rot="1603675">
              <a:off x="7935479" y="3380275"/>
              <a:ext cx="797236" cy="342964"/>
            </a:xfrm>
            <a:prstGeom prst="rightArrow">
              <a:avLst/>
            </a:prstGeom>
            <a:solidFill>
              <a:srgbClr val="FBD4DC"/>
            </a:solidFill>
            <a:ln w="28575">
              <a:solidFill>
                <a:srgbClr val="FF33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76B47F6-8E6E-712C-458A-06AEF7287F30}"/>
              </a:ext>
            </a:extLst>
          </p:cNvPr>
          <p:cNvGrpSpPr/>
          <p:nvPr/>
        </p:nvGrpSpPr>
        <p:grpSpPr>
          <a:xfrm>
            <a:off x="264215" y="3361577"/>
            <a:ext cx="3937652" cy="3106235"/>
            <a:chOff x="264215" y="3361577"/>
            <a:chExt cx="3937652" cy="3106235"/>
          </a:xfrm>
        </p:grpSpPr>
        <p:sp>
          <p:nvSpPr>
            <p:cNvPr id="75" name="Rounded Rectangle 17">
              <a:extLst>
                <a:ext uri="{FF2B5EF4-FFF2-40B4-BE49-F238E27FC236}">
                  <a16:creationId xmlns:a16="http://schemas.microsoft.com/office/drawing/2014/main" id="{D1EEC500-155B-69D1-78BF-F0ACB7C51201}"/>
                </a:ext>
              </a:extLst>
            </p:cNvPr>
            <p:cNvSpPr/>
            <p:nvPr/>
          </p:nvSpPr>
          <p:spPr>
            <a:xfrm>
              <a:off x="355930" y="5440084"/>
              <a:ext cx="3323838" cy="1027728"/>
            </a:xfrm>
            <a:prstGeom prst="roundRect">
              <a:avLst/>
            </a:prstGeom>
            <a:ln w="25400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3200" dirty="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Selecting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0437C31-01BF-48E6-0AA8-B7628E27B87B}"/>
                </a:ext>
              </a:extLst>
            </p:cNvPr>
            <p:cNvGrpSpPr/>
            <p:nvPr/>
          </p:nvGrpSpPr>
          <p:grpSpPr>
            <a:xfrm>
              <a:off x="264215" y="3361577"/>
              <a:ext cx="3937652" cy="2139255"/>
              <a:chOff x="264215" y="3361577"/>
              <a:chExt cx="3937652" cy="2139255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703681A2-04EC-DFED-6EF0-B381405F4849}"/>
                  </a:ext>
                </a:extLst>
              </p:cNvPr>
              <p:cNvGrpSpPr/>
              <p:nvPr/>
            </p:nvGrpSpPr>
            <p:grpSpPr>
              <a:xfrm>
                <a:off x="264215" y="3527992"/>
                <a:ext cx="3507268" cy="1972840"/>
                <a:chOff x="319695" y="3661457"/>
                <a:chExt cx="3507268" cy="1972840"/>
              </a:xfrm>
            </p:grpSpPr>
            <p:pic>
              <p:nvPicPr>
                <p:cNvPr id="74" name="Picture 73" descr="A black screen with a white border&#10;&#10;Description automatically generated">
                  <a:extLst>
                    <a:ext uri="{FF2B5EF4-FFF2-40B4-BE49-F238E27FC236}">
                      <a16:creationId xmlns:a16="http://schemas.microsoft.com/office/drawing/2014/main" id="{6F85481C-4001-3F2B-8F14-D1AA2ACEA1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19695" y="3661457"/>
                  <a:ext cx="3507268" cy="1972840"/>
                </a:xfrm>
                <a:prstGeom prst="rect">
                  <a:avLst/>
                </a:prstGeom>
              </p:spPr>
            </p:pic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8F9F72D0-24FE-C682-A3C9-3F02BE64F89B}"/>
                    </a:ext>
                  </a:extLst>
                </p:cNvPr>
                <p:cNvGrpSpPr/>
                <p:nvPr/>
              </p:nvGrpSpPr>
              <p:grpSpPr>
                <a:xfrm>
                  <a:off x="659337" y="3873184"/>
                  <a:ext cx="2810040" cy="73455"/>
                  <a:chOff x="4639673" y="1649035"/>
                  <a:chExt cx="2895600" cy="75692"/>
                </a:xfrm>
              </p:grpSpPr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F5C39899-A985-2CE7-3A41-5832E64D45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ln w="38100">
                    <a:solidFill>
                      <a:srgbClr val="F8AAB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E896F00F-3A1D-659B-C0D1-52B01BAA7A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ln w="38100">
                    <a:solidFill>
                      <a:srgbClr val="F8AABA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E8BED100-4531-1F51-DB1D-0FDCA9986FE2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BD0DAE8B-6302-75AA-A555-A17CEAECD24B}"/>
                    </a:ext>
                  </a:extLst>
                </p:cNvPr>
                <p:cNvGrpSpPr/>
                <p:nvPr/>
              </p:nvGrpSpPr>
              <p:grpSpPr>
                <a:xfrm>
                  <a:off x="659337" y="4025036"/>
                  <a:ext cx="2810040" cy="73455"/>
                  <a:chOff x="4639673" y="1649035"/>
                  <a:chExt cx="2895600" cy="75692"/>
                </a:xfrm>
                <a:solidFill>
                  <a:srgbClr val="CC0066"/>
                </a:solidFill>
              </p:grpSpPr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9606CB0C-9F77-E02B-A0F4-085B3D4ACF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CC00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2DF8222F-06D0-8D61-8BF6-9943738731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CC00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6313DE5B-8BE5-26A6-65F7-F1B3ABBDD14A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CC006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8901D89-83F5-966E-3172-1E597D8E9A05}"/>
                    </a:ext>
                  </a:extLst>
                </p:cNvPr>
                <p:cNvGrpSpPr/>
                <p:nvPr/>
              </p:nvGrpSpPr>
              <p:grpSpPr>
                <a:xfrm>
                  <a:off x="659337" y="4176895"/>
                  <a:ext cx="2810040" cy="73455"/>
                  <a:chOff x="4639673" y="1649035"/>
                  <a:chExt cx="2895600" cy="75692"/>
                </a:xfrm>
                <a:solidFill>
                  <a:srgbClr val="FF3399"/>
                </a:solidFill>
              </p:grpSpPr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9068D3CA-EB3E-AD28-4F07-2C12A63DB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9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DE4A7A78-AD79-477E-0131-2FBEF67F9D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9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86035724-8E7D-483A-CA14-BCE16CFA45B3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3399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767C40E9-E3D9-D8D5-9D1D-CA987335AD9A}"/>
                    </a:ext>
                  </a:extLst>
                </p:cNvPr>
                <p:cNvGrpSpPr/>
                <p:nvPr/>
              </p:nvGrpSpPr>
              <p:grpSpPr>
                <a:xfrm>
                  <a:off x="659337" y="4328749"/>
                  <a:ext cx="2810040" cy="73455"/>
                  <a:chOff x="4639673" y="1649035"/>
                  <a:chExt cx="2895600" cy="75692"/>
                </a:xfrm>
                <a:solidFill>
                  <a:srgbClr val="FF33CC"/>
                </a:solidFill>
              </p:grpSpPr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FD4A423E-A217-BA70-E235-E3869133EC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E11DF862-4966-0CE7-1508-7EF6E32E20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F33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2CDD853D-5E84-3D49-FB60-F021C54EA58E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F33C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08F76D1-78DF-94B1-B0F6-43A5AB32DB2A}"/>
                    </a:ext>
                  </a:extLst>
                </p:cNvPr>
                <p:cNvGrpSpPr/>
                <p:nvPr/>
              </p:nvGrpSpPr>
              <p:grpSpPr>
                <a:xfrm>
                  <a:off x="659337" y="4480599"/>
                  <a:ext cx="2810040" cy="73455"/>
                  <a:chOff x="4639673" y="1649035"/>
                  <a:chExt cx="2895600" cy="75692"/>
                </a:xfrm>
                <a:solidFill>
                  <a:srgbClr val="FBD4DC"/>
                </a:solidFill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43EB1869-6B2F-50B9-540F-54620064AF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BD4D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0EC9AD8-A5CF-ADD9-485D-32FC29614D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rgbClr val="FBD4D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7F896ED0-CF56-FAA5-D22A-CDC8A6255B7E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rgbClr val="FBD4D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CD36E0FD-669D-9824-5E96-4437E6854C40}"/>
                    </a:ext>
                  </a:extLst>
                </p:cNvPr>
                <p:cNvGrpSpPr/>
                <p:nvPr/>
              </p:nvGrpSpPr>
              <p:grpSpPr>
                <a:xfrm>
                  <a:off x="659337" y="4632426"/>
                  <a:ext cx="2810040" cy="73455"/>
                  <a:chOff x="4639673" y="1649035"/>
                  <a:chExt cx="2895600" cy="75692"/>
                </a:xfrm>
                <a:solidFill>
                  <a:schemeClr val="accent2">
                    <a:lumMod val="50000"/>
                  </a:schemeClr>
                </a:solidFill>
              </p:grpSpPr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C21093D-4304-97EE-B6BC-6D20B8871B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39673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6A3E0C80-4E72-E362-1708-8808F61711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205946" y="1679007"/>
                    <a:ext cx="1329327" cy="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289F5D9E-5B1D-C8A6-885C-635A0960F1F5}"/>
                      </a:ext>
                    </a:extLst>
                  </p:cNvPr>
                  <p:cNvSpPr/>
                  <p:nvPr/>
                </p:nvSpPr>
                <p:spPr>
                  <a:xfrm>
                    <a:off x="6045200" y="1649035"/>
                    <a:ext cx="76584" cy="75692"/>
                  </a:xfrm>
                  <a:prstGeom prst="ellipse">
                    <a:avLst/>
                  </a:prstGeom>
                  <a:grpFill/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sp>
            <p:nvSpPr>
              <p:cNvPr id="76" name="Arrow: Right 121">
                <a:extLst>
                  <a:ext uri="{FF2B5EF4-FFF2-40B4-BE49-F238E27FC236}">
                    <a16:creationId xmlns:a16="http://schemas.microsoft.com/office/drawing/2014/main" id="{0250CBD2-9A90-74EF-16CB-E1B20117968D}"/>
                  </a:ext>
                </a:extLst>
              </p:cNvPr>
              <p:cNvSpPr/>
              <p:nvPr/>
            </p:nvSpPr>
            <p:spPr>
              <a:xfrm rot="8907511">
                <a:off x="3341099" y="3361577"/>
                <a:ext cx="860768" cy="332831"/>
              </a:xfrm>
              <a:prstGeom prst="rightArrow">
                <a:avLst/>
              </a:prstGeom>
              <a:solidFill>
                <a:srgbClr val="FBD4DC"/>
              </a:solidFill>
              <a:ln w="28575">
                <a:solidFill>
                  <a:srgbClr val="FF33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81C50-D39C-8CD0-470F-B9C3A0B4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856E-E7BA-162D-C7A4-9DB8D35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strategies to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38EC-2933-2DD2-29D9-E846B4C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765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</a:p>
          <a:p>
            <a:pPr lvl="1"/>
            <a:r>
              <a:rPr lang="en-US"/>
              <a:t>“zoom in” on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of the concordance lines</a:t>
            </a:r>
          </a:p>
          <a:p>
            <a:pPr lvl="1"/>
            <a:r>
              <a:rPr lang="en-US"/>
              <a:t>either focus on specific pattern or discard unwanted 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</a:p>
          <a:p>
            <a:pPr lvl="1"/>
            <a:r>
              <a:rPr lang="en-US"/>
              <a:t>change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sequential ordering</a:t>
            </a:r>
            <a:r>
              <a:rPr lang="en-US"/>
              <a:t> of concordance lines in the display</a:t>
            </a:r>
          </a:p>
          <a:p>
            <a:pPr lvl="1"/>
            <a:r>
              <a:rPr lang="en-US"/>
              <a:t>may want to combine multiple ordering criteria to break ties</a:t>
            </a:r>
          </a:p>
          <a:p>
            <a:pPr lvl="1"/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</a:p>
          <a:p>
            <a:pPr lvl="1"/>
            <a:r>
              <a:rPr lang="en-US"/>
              <a:t>form groups of related concordance lines</a:t>
            </a:r>
          </a:p>
          <a:p>
            <a:pPr lvl="1"/>
            <a:r>
              <a:rPr lang="en-US"/>
              <a:t>requires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structured kwic display</a:t>
            </a:r>
            <a:r>
              <a:rPr lang="en-US"/>
              <a:t> in UI</a:t>
            </a:r>
          </a:p>
          <a:p>
            <a:pPr lvl="1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FDDDC6-9C88-BA43-0C1E-FC2BA23C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7</a:t>
            </a:fld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FAF2BAC-2790-DC68-5C2F-26E4E275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E9AFD7-4669-ECC2-640F-A66EBC96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358064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856E-E7BA-162D-C7A4-9DB8D35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strategies to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38EC-2933-2DD2-29D9-E846B4C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765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</a:p>
          <a:p>
            <a:pPr lvl="1"/>
            <a:r>
              <a:rPr lang="en-US"/>
              <a:t>“zoom in” on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of the concordance lines</a:t>
            </a:r>
          </a:p>
          <a:p>
            <a:pPr lvl="1"/>
            <a:r>
              <a:rPr lang="en-US"/>
              <a:t>either focus on specific pattern or discard unwanted 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Ordering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: reorder lines based on pairwise comparison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: reorder lines based on preference score</a:t>
            </a:r>
          </a:p>
          <a:p>
            <a:pPr lvl="1"/>
            <a:r>
              <a:rPr lang="en-US"/>
              <a:t>combine multiple Sorting and Ranking algorithms to break ties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</a:p>
          <a:p>
            <a:pPr lvl="1"/>
            <a:r>
              <a:rPr lang="en-US"/>
              <a:t>form groups of related concordance lines</a:t>
            </a:r>
          </a:p>
          <a:p>
            <a:pPr lvl="1"/>
            <a:r>
              <a:rPr lang="en-US"/>
              <a:t>requires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structured kwic display</a:t>
            </a:r>
            <a:r>
              <a:rPr lang="en-US"/>
              <a:t> in UI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271C1-C4C7-945E-1246-64F4F4D8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379F-B698-5C9C-D1CF-78F1D2EA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904BB-9A22-564A-BA28-4645D4A5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255535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856E-E7BA-162D-C7A4-9DB8D35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strategies to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38EC-2933-2DD2-29D9-E846B4C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765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</a:p>
          <a:p>
            <a:pPr lvl="1"/>
            <a:r>
              <a:rPr lang="en-US"/>
              <a:t>“zoom in” on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of the concordance lines</a:t>
            </a:r>
          </a:p>
          <a:p>
            <a:pPr lvl="1"/>
            <a:r>
              <a:rPr lang="en-US"/>
              <a:t>either focus on specific pattern or discard unwanted 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Ordering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: reorder lines based on pairwise comparison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: reorder lines based on preference score</a:t>
            </a:r>
          </a:p>
          <a:p>
            <a:pPr lvl="1"/>
            <a:r>
              <a:rPr lang="en-US"/>
              <a:t>combine multiple Sorting and Ranking algorithms to break ties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Grouping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Partitioning</a:t>
            </a:r>
            <a:r>
              <a:rPr lang="en-US"/>
              <a:t>: groups based on common property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n-US">
                <a:sym typeface="Wingdings" pitchFamily="2" charset="2"/>
              </a:rPr>
              <a:t>: (nested</a:t>
            </a:r>
            <a:r>
              <a:rPr lang="en-US"/>
              <a:t>) groups based on pairwise similarity</a:t>
            </a:r>
          </a:p>
          <a:p>
            <a:pPr lvl="1"/>
            <a:r>
              <a:rPr lang="en-US"/>
              <a:t>requires structured kwic display in UI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D45C5-1798-6D8A-F96C-40AFEA82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BFAFD-261C-A1BB-4D67-8A39E88B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B342-4CA9-70DD-5DAC-BDC38F60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316141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856E-E7BA-162D-C7A4-9DB8D35F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38EC-2933-2DD2-29D9-E846B4C05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1765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</a:p>
          <a:p>
            <a:pPr lvl="1"/>
            <a:r>
              <a:rPr lang="en-US"/>
              <a:t>“zoom in” on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of the concordance lines</a:t>
            </a:r>
          </a:p>
          <a:p>
            <a:pPr lvl="1"/>
            <a:r>
              <a:rPr lang="en-US"/>
              <a:t>either focus on specific pattern or discard unwanted 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Ordering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: reorder lines based on pairwise comparison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: reorder lines based on preference score</a:t>
            </a:r>
          </a:p>
          <a:p>
            <a:pPr lvl="1"/>
            <a:r>
              <a:rPr lang="en-US"/>
              <a:t>combine multiple Sorting and Ranking algorithms to break ties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Grouping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Partitioning</a:t>
            </a:r>
            <a:r>
              <a:rPr lang="en-US"/>
              <a:t>: groups based on common property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n-US">
                <a:sym typeface="Wingdings" pitchFamily="2" charset="2"/>
              </a:rPr>
              <a:t>: (nested</a:t>
            </a:r>
            <a:r>
              <a:rPr lang="en-US"/>
              <a:t>) groups based on pairwise similarity</a:t>
            </a:r>
          </a:p>
          <a:p>
            <a:pPr lvl="1"/>
            <a:r>
              <a:rPr lang="en-US"/>
              <a:t>requires structured kwic display in UI</a:t>
            </a:r>
          </a:p>
          <a:p>
            <a:pPr lvl="1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02A460-CE7A-A3D7-320E-F9C54CB767C8}"/>
              </a:ext>
            </a:extLst>
          </p:cNvPr>
          <p:cNvGrpSpPr/>
          <p:nvPr/>
        </p:nvGrpSpPr>
        <p:grpSpPr>
          <a:xfrm>
            <a:off x="10218099" y="1288029"/>
            <a:ext cx="1179206" cy="1749056"/>
            <a:chOff x="10259568" y="1242309"/>
            <a:chExt cx="1179206" cy="1749056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E670474E-A761-AF6C-F70E-F77433C0F09E}"/>
                </a:ext>
              </a:extLst>
            </p:cNvPr>
            <p:cNvSpPr/>
            <p:nvPr/>
          </p:nvSpPr>
          <p:spPr>
            <a:xfrm>
              <a:off x="10259568" y="1463040"/>
              <a:ext cx="338328" cy="1307592"/>
            </a:xfrm>
            <a:prstGeom prst="rightBrace">
              <a:avLst>
                <a:gd name="adj1" fmla="val 32657"/>
                <a:gd name="adj2" fmla="val 50000"/>
              </a:avLst>
            </a:prstGeom>
            <a:ln w="50800"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AE2667-A13A-9BCD-77FF-7D752B6D02A0}"/>
                </a:ext>
              </a:extLst>
            </p:cNvPr>
            <p:cNvSpPr txBox="1"/>
            <p:nvPr/>
          </p:nvSpPr>
          <p:spPr>
            <a:xfrm rot="5400000">
              <a:off x="10241081" y="1793671"/>
              <a:ext cx="17490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subset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7B580F6-47BA-F1D4-4215-1CC98B726D08}"/>
              </a:ext>
            </a:extLst>
          </p:cNvPr>
          <p:cNvGrpSpPr/>
          <p:nvPr/>
        </p:nvGrpSpPr>
        <p:grpSpPr>
          <a:xfrm>
            <a:off x="10218099" y="2978542"/>
            <a:ext cx="1179205" cy="3559417"/>
            <a:chOff x="10259568" y="3005974"/>
            <a:chExt cx="1179205" cy="3559417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C01B5587-A182-93F7-2771-0CC70F5DB545}"/>
                </a:ext>
              </a:extLst>
            </p:cNvPr>
            <p:cNvSpPr/>
            <p:nvPr/>
          </p:nvSpPr>
          <p:spPr>
            <a:xfrm>
              <a:off x="10259568" y="3005974"/>
              <a:ext cx="338328" cy="3559417"/>
            </a:xfrm>
            <a:prstGeom prst="rightBrace">
              <a:avLst>
                <a:gd name="adj1" fmla="val 32657"/>
                <a:gd name="adj2" fmla="val 50000"/>
              </a:avLst>
            </a:prstGeom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B01BA9-75D9-CD61-4BA9-A5B5A2B5A4AF}"/>
                </a:ext>
              </a:extLst>
            </p:cNvPr>
            <p:cNvSpPr txBox="1"/>
            <p:nvPr/>
          </p:nvSpPr>
          <p:spPr>
            <a:xfrm rot="5400000">
              <a:off x="9477308" y="4462518"/>
              <a:ext cx="3276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arrangement</a:t>
              </a: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F670C1-E7AF-8132-DA92-82A97C17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10</a:t>
            </a:fld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85AC40A-AEC3-7242-C18D-DC4843AB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7D4E861-647B-CCE5-A107-A38ED30E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</p:spTree>
    <p:extLst>
      <p:ext uri="{BB962C8B-B14F-4D97-AF65-F5344CB8AC3E}">
        <p14:creationId xmlns:p14="http://schemas.microsoft.com/office/powerpoint/2010/main" val="46456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4D82-2528-0664-6E74-9AD89E5F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7504" cy="1208315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Methodology: a reading procedure (Sinclair 2003)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C8A1-423B-5231-3900-CCBD4A8E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F3293-7C47-DC6C-D172-69A0BEFA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D912C-1FAE-66C1-40C8-2BF0A27B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49" y="1420691"/>
            <a:ext cx="10254502" cy="4958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05669F-E0F5-056D-3F56-55F54127C087}"/>
              </a:ext>
            </a:extLst>
          </p:cNvPr>
          <p:cNvSpPr/>
          <p:nvPr/>
        </p:nvSpPr>
        <p:spPr>
          <a:xfrm>
            <a:off x="1073889" y="1868895"/>
            <a:ext cx="1850064" cy="2532984"/>
          </a:xfrm>
          <a:prstGeom prst="rect">
            <a:avLst/>
          </a:prstGeom>
          <a:noFill/>
          <a:ln w="508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F340540-D40D-25E1-CA6D-33535523B3CB}"/>
              </a:ext>
            </a:extLst>
          </p:cNvPr>
          <p:cNvCxnSpPr>
            <a:cxnSpLocks/>
          </p:cNvCxnSpPr>
          <p:nvPr/>
        </p:nvCxnSpPr>
        <p:spPr>
          <a:xfrm rot="10800000">
            <a:off x="1020726" y="2021785"/>
            <a:ext cx="106325" cy="2592000"/>
          </a:xfrm>
          <a:prstGeom prst="bentConnector3">
            <a:avLst>
              <a:gd name="adj1" fmla="val 555002"/>
            </a:avLst>
          </a:prstGeom>
          <a:ln w="44450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E5F04863-2A6A-DEEB-96B0-B70F69C4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/>
          <a:p>
            <a:r>
              <a:rPr lang="en-GB" dirty="0"/>
              <a:t>24 Sep 2026 | © RC21 Team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228869-B461-4B09-415C-026EB761CCBB}"/>
              </a:ext>
            </a:extLst>
          </p:cNvPr>
          <p:cNvGrpSpPr/>
          <p:nvPr/>
        </p:nvGrpSpPr>
        <p:grpSpPr>
          <a:xfrm>
            <a:off x="493776" y="4786494"/>
            <a:ext cx="2697480" cy="685998"/>
            <a:chOff x="493776" y="4786494"/>
            <a:chExt cx="2697480" cy="6859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19BD6E-786E-6547-AF72-44E7DC7DE58C}"/>
                </a:ext>
              </a:extLst>
            </p:cNvPr>
            <p:cNvSpPr txBox="1"/>
            <p:nvPr/>
          </p:nvSpPr>
          <p:spPr>
            <a:xfrm>
              <a:off x="493776" y="4826161"/>
              <a:ext cx="16266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subset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5E8C0C3-433E-A1E7-D9F9-85098CE15DF3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2120452" y="4786494"/>
              <a:ext cx="1070804" cy="362833"/>
            </a:xfrm>
            <a:prstGeom prst="straightConnector1">
              <a:avLst/>
            </a:prstGeom>
            <a:ln w="444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B55009-60B3-82D6-E335-FB245F16411A}"/>
              </a:ext>
            </a:extLst>
          </p:cNvPr>
          <p:cNvGrpSpPr/>
          <p:nvPr/>
        </p:nvGrpSpPr>
        <p:grpSpPr>
          <a:xfrm>
            <a:off x="6044184" y="885149"/>
            <a:ext cx="4700016" cy="989371"/>
            <a:chOff x="6044184" y="885149"/>
            <a:chExt cx="4700016" cy="98937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9795C8-FD22-0D55-82B4-B05DD9B95BDD}"/>
                </a:ext>
              </a:extLst>
            </p:cNvPr>
            <p:cNvSpPr txBox="1"/>
            <p:nvPr/>
          </p:nvSpPr>
          <p:spPr>
            <a:xfrm>
              <a:off x="7773169" y="885149"/>
              <a:ext cx="29710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arrangement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E84F6F0-A51D-D616-0A9C-23F0C08C416F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6044184" y="1208315"/>
              <a:ext cx="1728985" cy="666205"/>
            </a:xfrm>
            <a:prstGeom prst="straightConnector1">
              <a:avLst/>
            </a:prstGeom>
            <a:ln w="444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604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B85D-56F0-7CB0-B09F-A556C15E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analysis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89E1A-7383-C8BF-4C5C-0386F21B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92971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Our model of concordance reading: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analysis tree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  <a:r>
              <a:rPr lang="en-US"/>
              <a:t> creates branches that “zoom in” on a subset of lines</a:t>
            </a:r>
            <a:br>
              <a:rPr lang="en-US"/>
            </a:br>
            <a:r>
              <a:rPr lang="en-US"/>
              <a:t>➞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 node</a:t>
            </a:r>
            <a:endParaRPr lang="en-US"/>
          </a:p>
          <a:p>
            <a:pPr lvl="1"/>
            <a:r>
              <a:rPr lang="en-US"/>
              <a:t>investigate different patterns with each branch</a:t>
            </a:r>
          </a:p>
          <a:p>
            <a:pPr lvl="1"/>
            <a:r>
              <a:rPr lang="en-US"/>
              <a:t>turns history of operations into a hierarchical tree structure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  <a:r>
              <a:rPr lang="en-US"/>
              <a:t> and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  <a:r>
              <a:rPr lang="en-US"/>
              <a:t> algorithms change how this subset is displayed to the analyst ➞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arrangement node</a:t>
            </a:r>
          </a:p>
          <a:p>
            <a:pPr lvl="1"/>
            <a:r>
              <a:rPr lang="en-US"/>
              <a:t>different arrangements of the same subset are siblings in the tree</a:t>
            </a:r>
          </a:p>
          <a:p>
            <a:pPr lvl="1"/>
            <a:r>
              <a:rPr lang="en-US"/>
              <a:t>default arrangement: original corpus order</a:t>
            </a:r>
          </a:p>
          <a:p>
            <a:r>
              <a:rPr lang="en-US"/>
              <a:t>Each node corresponds to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concordance view</a:t>
            </a:r>
          </a:p>
          <a:p>
            <a:pPr lvl="1"/>
            <a:r>
              <a:rPr lang="en-US"/>
              <a:t>defined as subset of concordance lines + their arrangement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8BD4A-41FF-B8E3-2C8F-EAAD5A47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5416F-C42C-1EEB-1B0A-5321F068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C1388-B83A-26C0-477C-289B8982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pic>
        <p:nvPicPr>
          <p:cNvPr id="10" name="Graphic 9" descr="Deciduous tree with solid fill">
            <a:extLst>
              <a:ext uri="{FF2B5EF4-FFF2-40B4-BE49-F238E27FC236}">
                <a16:creationId xmlns:a16="http://schemas.microsoft.com/office/drawing/2014/main" id="{7BDA6C9D-91ED-3AD1-4A1C-50B0DD1B3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9466" y="562173"/>
            <a:ext cx="1208316" cy="12083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phic 8" descr="Deciduous tree with solid fill">
            <a:extLst>
              <a:ext uri="{FF2B5EF4-FFF2-40B4-BE49-F238E27FC236}">
                <a16:creationId xmlns:a16="http://schemas.microsoft.com/office/drawing/2014/main" id="{ED901046-E764-7495-4178-B87FB9D86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8312" y="138177"/>
            <a:ext cx="1724176" cy="1724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22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7CE9-B35A-C702-068E-C6A41FCF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F1C9-2F50-05A7-33F2-7FD04D3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Subset operations can either be nested or form different branches</a:t>
            </a:r>
          </a:p>
          <a:p>
            <a:pPr lvl="1"/>
            <a:r>
              <a:rPr lang="en-US"/>
              <a:t>consecutively narrow down to smaller subsets ➞ structure of tree</a:t>
            </a:r>
          </a:p>
          <a:p>
            <a:pPr lvl="1"/>
            <a:endParaRPr lang="en-US"/>
          </a:p>
          <a:p>
            <a:r>
              <a:rPr lang="en-US"/>
              <a:t>Arrangement operations form alternative views of a subset</a:t>
            </a:r>
          </a:p>
          <a:p>
            <a:pPr lvl="1"/>
            <a:r>
              <a:rPr lang="en-US"/>
              <a:t>consequence: can't “stack” multiple arrangements</a:t>
            </a:r>
          </a:p>
          <a:p>
            <a:pPr lvl="1"/>
            <a:r>
              <a:rPr lang="en-US"/>
              <a:t>combine sequence of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  <a:r>
              <a:rPr lang="en-US"/>
              <a:t> algorithms as tie-breakers</a:t>
            </a:r>
          </a:p>
          <a:p>
            <a:pPr lvl="1"/>
            <a:r>
              <a:rPr lang="en-US"/>
              <a:t>multiple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  <a:r>
              <a:rPr lang="en-US"/>
              <a:t> algorithms cannot (or should not) be combined</a:t>
            </a:r>
          </a:p>
          <a:p>
            <a:pPr lvl="1"/>
            <a:endParaRPr lang="en-US"/>
          </a:p>
          <a:p>
            <a:r>
              <a:rPr lang="en-US"/>
              <a:t>Arrangement node = ≤ 1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  <a:r>
              <a:rPr lang="en-US"/>
              <a:t> + sequence of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  <a:r>
              <a:rPr lang="en-US"/>
              <a:t> algo's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Grouping</a:t>
            </a:r>
            <a:r>
              <a:rPr lang="en-US"/>
              <a:t> determines main structure,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Ordering</a:t>
            </a:r>
            <a:r>
              <a:rPr lang="en-US"/>
              <a:t> applies within groups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0B76-E858-114B-C9CB-AACDF173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81DD3-D4A0-C4A2-72D0-D457D0C5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FCF98-B070-A399-B29D-960AF6A0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4FF9-FD61-894E-CF1C-0E4D1CC7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23F20D-A80F-DA3C-3092-C16C7B2EAC8B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3A90BAE-DD15-BF76-B07D-2FAF638C5743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76E1CE5-A59F-14A4-2930-A54E0BF966E2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2CD18E-1982-E0D8-B0E2-B55CF9FAC231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B4ED05A-A19C-AF51-615D-A2344E80EB8E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C86C9FF-8C00-2D46-ACC1-A98A3C4EC7A2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C38DC-74C6-723A-CB92-ED687B3F4727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28AF7C-CBE2-6139-17F7-5F0F787583A2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D6F72B-C308-2E48-6BC2-42BD47F04310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9BBE9D-1191-2845-FEA5-E6032415AC96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949E8D-F371-BE66-E1E7-0D5B5541B17F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4278D11-1C56-FAAB-1242-0A592771CB2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27C5DBC-D98A-12E5-83E9-62D41C90918A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CFB7943-7481-573A-58C5-EF2A47783B63}"/>
              </a:ext>
            </a:extLst>
          </p:cNvPr>
          <p:cNvSpPr/>
          <p:nvPr/>
        </p:nvSpPr>
        <p:spPr>
          <a:xfrm>
            <a:off x="404619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1AED9A-6B79-734E-9276-D0F5C5C80EBD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08823A-FC2B-FAB2-DE5B-1CA5AC0068F6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9D8BA6-EDA9-8E8A-CCD9-3B0F47F53D78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4C022-F522-B905-4690-91D0B9CD0D17}"/>
              </a:ext>
            </a:extLst>
          </p:cNvPr>
          <p:cNvSpPr txBox="1"/>
          <p:nvPr/>
        </p:nvSpPr>
        <p:spPr>
          <a:xfrm>
            <a:off x="4525579" y="3187107"/>
            <a:ext cx="6961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Welcome to</a:t>
            </a:r>
            <a:b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90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Candy</a:t>
            </a: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54C5F3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Conc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54C5F3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52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E7E2-7FDD-F1F1-4692-E08A5573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2365092-D01B-3197-5CB4-CA74C1FC2AD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28A5183-11FA-5619-556D-84FB3873D9D4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CDC53EA-7B58-29F7-F251-9BC74E2A4B7E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35064E-35A4-44EE-0A67-F41F5F6C9862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7C99EA8-58C5-A7AE-EA3A-308DAD9F4FA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1726FDE-8525-9131-EC4B-44E089573CB6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86281FF-D736-1543-A39E-6B1165FCE930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9FE00C-B354-31F7-2DD3-D6D6E5D785D6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A2EC8-65C1-D7EA-E6BF-CB60FBDFED84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C09832-6122-1DF4-439D-2AE81DAB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1" b="751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769165-525D-5B42-EF21-DD0FD891013B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A1DDB0-5441-EE2A-4743-31A3C138191B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BD2DD4E8-3ADC-E468-7F59-712F4E1E34D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34E7135-581D-99B6-536A-06E70814E2B1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D78B154-E777-CCA7-3157-FDCE551DCB12}"/>
              </a:ext>
            </a:extLst>
          </p:cNvPr>
          <p:cNvSpPr/>
          <p:nvPr/>
        </p:nvSpPr>
        <p:spPr>
          <a:xfrm>
            <a:off x="404619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515616-8067-A3C9-CCA8-8515E726EBF3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EF589F-595D-A0DD-32C3-C699DF4C1BF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3F28AB-4B62-8A60-3BA7-200E2B7955AE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D598FBE-C5A9-6181-D7D5-8B1EF624EAB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86DAAA-260E-387B-CD81-465A603C4E1C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25537F-DB4B-DE6F-6347-187D3C472AA7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</p:spTree>
    <p:extLst>
      <p:ext uri="{BB962C8B-B14F-4D97-AF65-F5344CB8AC3E}">
        <p14:creationId xmlns:p14="http://schemas.microsoft.com/office/powerpoint/2010/main" val="273726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4E33-184C-0841-E4EE-18161117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CA6009-DB23-DB38-7F3D-D090B9FC580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3E1EB99-2FFB-1340-1E4A-DBF5EA6BC516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6BFF207-6641-DC2B-13DF-9C2910544F86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C37BE6-7876-8D8B-D1F8-9DE6C6E0F70D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724D0D8-6D3E-FAA0-31E3-C49E38F66C07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A83DE94-521F-DB61-4EEA-9BBF138A9109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726F8-1AD9-617A-7272-61A6C5DA6D3F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8CAB5D-69EF-82BE-17A3-D7868021A773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E52103-3FE8-79AC-BF7B-94DF9A6B50C0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random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F5B8884F-FB7F-A2F5-BE3B-CF47953A5F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5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860C9F-A1FE-C67B-7654-91EFB899D24C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373D5D-B080-92EB-6E76-8E368883465E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C6926F1-EAC9-69B3-7F93-DF28028DFFD1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087CC4D-4153-3759-89ED-01AC26A1766F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2C7FC6C-E73A-8703-BDA8-9C6DAD3CCE3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19104F-F80F-F471-0EA2-E1CC077D1E7A}"/>
              </a:ext>
            </a:extLst>
          </p:cNvPr>
          <p:cNvGrpSpPr/>
          <p:nvPr/>
        </p:nvGrpSpPr>
        <p:grpSpPr>
          <a:xfrm>
            <a:off x="4087185" y="1148893"/>
            <a:ext cx="1562844" cy="360000"/>
            <a:chOff x="82196" y="115421"/>
            <a:chExt cx="156284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13A64FD-6F7F-9DD2-EFCB-EA51DAC14FE4}"/>
                </a:ext>
              </a:extLst>
            </p:cNvPr>
            <p:cNvSpPr/>
            <p:nvPr/>
          </p:nvSpPr>
          <p:spPr>
            <a:xfrm>
              <a:off x="82197" y="115421"/>
              <a:ext cx="1562843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random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2A8873A0-4C7A-3E13-7181-02F083857ACC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0053E58-A117-73EE-575D-EBB867E5668E}"/>
              </a:ext>
            </a:extLst>
          </p:cNvPr>
          <p:cNvSpPr/>
          <p:nvPr/>
        </p:nvSpPr>
        <p:spPr>
          <a:xfrm>
            <a:off x="565002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B8241B-E791-344E-D05D-B8FA5479A07E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E7572D-CFB8-ED2C-8CD6-50A13828B6B5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069B09-18C5-E674-92D9-4EB75B3A24CF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FE9E56C-203D-A1E9-F430-63C09F5D8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CB97BA-EEB6-13AC-E16B-08ADDE61955D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55904E-56B4-6089-4387-34F2FFA17FC9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55FE083-7C8A-C9C2-AFCA-CB04B3AE94B6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0C0003-92E5-8254-2118-BF9F3301F967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32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817C-81D8-F46B-F8C5-07C8EF73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246FE00-BD6A-4069-D02D-C21393BF40E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C333C2A-8CC1-A622-790F-9527F13979DB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F0327DC-70FF-11DC-E686-6B12A82C35D6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387AA6-F934-2A80-2FB8-BBBB9096E29F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2E2818C-A939-DDD9-CFAE-BABB693220C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0D2EF5E-98DF-3463-A8E4-78A4C06B603B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C303278-21DC-B74F-62A8-9A3BAC57472F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33A8BE-A838-DEA4-6E97-0FFC9F63F495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F60BA-17C4-03E5-8C0E-1D0F0652AC5F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70074E-EB2A-9456-339E-9E4F793E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" b="53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AF8557-12E6-DA10-AE76-6D78CE59C4BB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AD18D1-2FFE-A45A-73BF-C8F7D3B34992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3AE24F5-8FDB-AF6F-DFDA-834FC759AFC3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5FA809D-D6B2-B0D0-2C63-B737C87ABF43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AE63A8-14F3-60CC-2249-84B7B9B7B63A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C71E1F-3EE7-BEA9-83AE-4F7F990CD430}"/>
              </a:ext>
            </a:extLst>
          </p:cNvPr>
          <p:cNvGrpSpPr/>
          <p:nvPr/>
        </p:nvGrpSpPr>
        <p:grpSpPr>
          <a:xfrm>
            <a:off x="4087185" y="1148893"/>
            <a:ext cx="1562844" cy="360000"/>
            <a:chOff x="82196" y="115421"/>
            <a:chExt cx="156284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4362A26-79B2-6F6B-8295-3412DD152C6E}"/>
                </a:ext>
              </a:extLst>
            </p:cNvPr>
            <p:cNvSpPr/>
            <p:nvPr/>
          </p:nvSpPr>
          <p:spPr>
            <a:xfrm>
              <a:off x="82197" y="115421"/>
              <a:ext cx="1562843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random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41FE410-D167-551B-028B-8DB9E901DCA0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365C39A-16B9-A769-B222-B5C7E1F4DC71}"/>
              </a:ext>
            </a:extLst>
          </p:cNvPr>
          <p:cNvSpPr/>
          <p:nvPr/>
        </p:nvSpPr>
        <p:spPr>
          <a:xfrm>
            <a:off x="5650029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13186C1-97B2-EB40-A0B9-E6867FD28ED8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81ACD5-166C-CE7D-80F6-B01FD6405B35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870E64-8478-2CFC-3F77-69DD9FB5F0D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9F694AC-9979-0519-70B1-829B6A2C9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7ACB23-84E0-122C-5881-0DAF54DF8225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333D329-9EAE-305A-59F5-09603E166AD3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801D05-F558-4B0A-A22B-991CB7AAF3C7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13EBFB-28D6-60E7-E941-B565D5B3FFB5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F5DD13-9FD5-16DC-5001-B9C29C061E4D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B4A099A-6EB0-A850-D1E6-1EDDAF96D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7955A-9182-0B45-FC4A-1BCC0E3B198F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56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A53D-7745-8006-DAA0-6842A3D4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326D72-A0E3-D786-1AA4-E6F9AD1BF657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2FEC18A-7756-EC54-E2A8-F32BE1BD3CD7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CD4C338-73F4-46AF-B9A2-9EAAA5EC1F0E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802D50-E6E5-CAC8-AC33-93A9E5AFDB65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1EC697F-0579-5BEA-2341-865B243E417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8649812-B2EF-D8FD-6078-A3EC5C475F19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90804A5-EC31-4976-FFD0-419F6C37A511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0F51310-63E9-1DB4-88F9-FEAF75D2EFF2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43B7E-2EB0-1CDA-2029-EB6BD294F4E8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5C70DF-7B6D-C345-6367-9D93A664D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" b="55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06D455-6498-2185-2AC8-0265A26AE331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E39A15-4DA3-FCA6-F63F-25CCA16AF73A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57E9E88-5323-4090-7E17-A17EDB0A40B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DA007DF-5AA0-A8C7-0CF4-09B4A62F0A21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C7B16E0-707F-FD42-8FB1-AA2DFD704292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C5C3BB-4EB7-B614-5C74-3FC784273AA8}"/>
              </a:ext>
            </a:extLst>
          </p:cNvPr>
          <p:cNvGrpSpPr/>
          <p:nvPr/>
        </p:nvGrpSpPr>
        <p:grpSpPr>
          <a:xfrm>
            <a:off x="4087185" y="1148893"/>
            <a:ext cx="2255864" cy="360000"/>
            <a:chOff x="82196" y="115421"/>
            <a:chExt cx="2255864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4C7DD04-FF11-4AE2-4756-B4C0C114B804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3975EDB-981F-9A1C-6076-B46A0742B89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448572C-F745-46FA-CD5B-F14540674E40}"/>
              </a:ext>
            </a:extLst>
          </p:cNvPr>
          <p:cNvSpPr/>
          <p:nvPr/>
        </p:nvSpPr>
        <p:spPr>
          <a:xfrm>
            <a:off x="6364372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FAC714-D1C4-FBD6-AC76-F70FB55EBB40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C519A0-2C9E-E536-DA7A-3A1BCB58E88F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107F26-2A99-D692-11AC-5AEE3633F1E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D9AFFE6-BF5A-895E-530D-666C431901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77E138-46B7-F2BD-CA39-ABC613911D8C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C74A0FC-8BCD-34AC-2156-7408053502DA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8EF0D3-215E-B1BF-6BF3-69F9D2518B26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39371B-4740-2BED-471A-C35DC8AB70BB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D61F53-23DC-49DA-5E53-C71D31185F6C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6E9686-D57B-A305-C2D3-62195702E5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970ECE-83B1-AE3D-F264-BE95200DC5C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93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A8AD-6A26-295C-3076-66B5C38D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FED8411-4E8A-E08F-EEE1-5A35217D250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612019E-E615-3976-FBA6-35F2978F79A1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31F74D6-0339-B6AA-CD05-6F761634F898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931055-CC1A-898E-20D4-D530DF0C6E27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C02CDE2-2DFC-1D96-0503-1BDBE3B262E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7090D5C-4DDB-A2E0-888F-07EF7AD72046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16131BA-3336-29D6-D6B3-446535EF23F2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A18E42-BF68-B883-6985-698E5400FA95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DE795B-EB00-D3F4-58ED-2597F011166C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CD3A57-38A2-4A49-7D9C-E6549450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" b="616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7C62B7-70C6-C3C6-9607-121C85D45C8D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C62A5D-4243-8DA1-E31F-7838F12EB25B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9BE38AC-559C-6101-FFCB-ED7C17A767C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E0EB397-DE7C-9579-6C6B-784F227246B0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7C3865-5DF0-BBCB-0286-E4289E930E62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E37280-D745-24A8-042F-67CDF752A464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055D578-A8E5-C547-BDB8-32AB868B06E7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AA4C6A60-E079-B279-9225-AF2D4179F2FE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1B15526-0E41-92A8-47BB-FD314F7516CA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B769A6-5857-D957-4605-D0FE8CC59C32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314503-6D91-98EA-48C2-F1FA64F6BB2B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468ED2-F2C8-63DF-70B2-B3CA5C050CB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5217CB0-09A4-1B12-41F1-EF6081167E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5B55A5-3A78-7ECE-C562-525B34E74F0A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66A4FDD-37CA-4790-407A-F2D73B266E4F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22DB7E-38BA-6EE8-8E96-1DA22979499C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41BAA-F318-5FE0-C68E-C4B0F5A394A9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9C88D5-931A-B8CC-4E94-1EB5D9406F03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B2E9BC9-185B-57EF-446E-07C3E13C9E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5544C9-423A-25C6-99A1-FC11BEF3B92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F4B303D-4D85-0EC5-2CB4-8E72ACA79F53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</p:spTree>
    <p:extLst>
      <p:ext uri="{BB962C8B-B14F-4D97-AF65-F5344CB8AC3E}">
        <p14:creationId xmlns:p14="http://schemas.microsoft.com/office/powerpoint/2010/main" val="105227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7839-6F61-1233-2220-05DFAC46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BC9FF47-140C-CB52-0673-DB67CE24C79A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10100C2-764E-2766-0EE3-7071A9A672B7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12B4BBE-4DB0-DDAD-8131-CF0B68504AB3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494219-EE5E-D28C-116F-A673462C93C3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3D3D9D8-6868-B206-50BA-3D66DE57B73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E5AD4AE-8EB7-ADA7-0E56-9B2AC3EF1CA4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68331BD-F2D7-417B-62E3-DB524CCA090C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D5A5C94-C8BF-278E-CEF9-9852C5774591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2904A-86CC-F789-5A99-D965D0365481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563985-DDFD-E231-F497-7BE7782CA6AA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4CDC15-AA6E-AE30-C8FB-48DECC17C9D0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65EE5B7-916D-9D0E-7597-1DA04F8568B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partition by POS tag of token L1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5CA512C-64B0-EB21-95B7-322B8B2EADF9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BAF1F15-75C1-F5F6-91F6-E8AA7B9A18A7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CB002D-F45A-AD3A-20EA-C7E05B3B32CB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3F13BE7-107F-9152-0DF7-D90DDEB1B724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7C10F235-9B7C-11DE-0903-980EA147611D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BD45AAF-F02E-CF65-FE14-E3EFCA4DE658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3" name="Picture 2" descr="A purple and white rectangular box with numbers&#10;&#10;Description automatically generated with medium confidence">
            <a:extLst>
              <a:ext uri="{FF2B5EF4-FFF2-40B4-BE49-F238E27FC236}">
                <a16:creationId xmlns:a16="http://schemas.microsoft.com/office/drawing/2014/main" id="{962BCDBC-D8A3-DC3C-A69D-9263E035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374" y="2109346"/>
            <a:ext cx="8329086" cy="2770661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0955C5-1EF0-2D77-7F07-627B44CE6192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B7A221-C77E-0D8F-2305-AC563D12C524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9804CE-F8FB-DA5C-AF91-E84847F35F69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1DB68D4-2F41-5164-1206-9CFE8FE9A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6453B7-339C-5434-6839-88F3FFBFA40C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B7B1DE-83C6-4167-0A07-CC845DC9F716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E5C94B-161D-0599-8FB6-4491B85D542B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E7F6A9-DB12-08E3-DFC0-A519CC2257AC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4F25BB-01D1-28F1-FBEC-4A8043ACB24B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00B3310-B3BC-4880-59E9-D7AC5D08F6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2E249E-0E37-C3C9-AFFB-4CDB60B4466E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EA9CCE-D806-E7E4-BC5B-9B661FEE3F32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</p:spTree>
    <p:extLst>
      <p:ext uri="{BB962C8B-B14F-4D97-AF65-F5344CB8AC3E}">
        <p14:creationId xmlns:p14="http://schemas.microsoft.com/office/powerpoint/2010/main" val="2065743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7CC6-2EC8-4787-037F-4C2BC25B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FA140F-0FD7-390E-2DD3-A385F9DFC21E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F1E832B-6037-8A85-2D98-EF1B6EFB852A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5E87F31-4363-E55F-6D52-43DD4FF44B0C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C20690-D934-FE6D-C9C2-BA132933D334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484A9EB-BC31-289C-9320-F7602C43ED6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D773717-F5EA-5615-3235-C64B9892D0DC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4E595D8-0CC7-6D39-E767-A68FE7CFA464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65E157-5409-7166-871C-055BDE8EF986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AD5416-6A3C-C185-43FC-543C07C93CF1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713BF1-DCD8-1166-24D6-E6E25E4E0CBA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CED1A5-683E-FBAB-1CBB-8CC63717158A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49882BD-AC8A-2ECB-DDA9-C968086B7070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B91017EA-DC33-46CD-1C30-D75D1784C9C2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F6429AD-BE80-9205-79E7-09A98E2E72E5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F84749-4376-CB6A-5778-E04C70F8B5D3}"/>
              </a:ext>
            </a:extLst>
          </p:cNvPr>
          <p:cNvGrpSpPr/>
          <p:nvPr/>
        </p:nvGrpSpPr>
        <p:grpSpPr>
          <a:xfrm>
            <a:off x="4087185" y="1148893"/>
            <a:ext cx="2140360" cy="360000"/>
            <a:chOff x="82196" y="115421"/>
            <a:chExt cx="2140360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23363D01-44C0-9F35-156C-45433973749E}"/>
                </a:ext>
              </a:extLst>
            </p:cNvPr>
            <p:cNvSpPr/>
            <p:nvPr/>
          </p:nvSpPr>
          <p:spPr>
            <a:xfrm>
              <a:off x="82196" y="115421"/>
              <a:ext cx="2140360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left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C8A3783-A5A0-E48B-A5B3-EABAB4B9CFB1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0CC17E-BEB8-821C-2E70-EC91D2448D9D}"/>
              </a:ext>
            </a:extLst>
          </p:cNvPr>
          <p:cNvSpPr/>
          <p:nvPr/>
        </p:nvSpPr>
        <p:spPr>
          <a:xfrm>
            <a:off x="6227545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859D6C-F487-0BD4-87A9-5DCC96FA6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" b="125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0D991E3-07B3-E719-ED21-A9BC74CFA4BA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3D3259-4DAB-0C32-92FF-685B4FFDD2E2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557F63-4347-75FC-6CED-D6A8B5F92984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853993B-DC70-B7BB-279A-88D7B78D5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1E3291-4D04-168B-8AB6-7FD6112071D2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5A8C2D-F6BF-FC31-E074-F80E23FED682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7B182E-780A-5947-162A-19F7483E0467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36DF83-79D0-1C7F-8515-9043C0F016C5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39D4B8-37A7-34D6-38FC-5F2682632A75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11EB45A-ACC1-4413-9C2C-C05D1BA7E7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9460FC-125D-D6EA-F5D8-9665D2FEA2B5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A45C18C-635D-2D17-847E-AD2F207C079F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5ADD1E4-9B35-7671-A014-83221FD6FE45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719287E-8298-A061-1AEF-6B3B4BBC32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43B341E-ABDA-C9AE-0471-961F8BA0D3A5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18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850C-8E18-95AD-40C1-818EA8CE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781B1A6-293C-BD2F-4384-74C1E77936FC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1CE535B-44BC-9D2C-E939-23A3801BFC32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20B77F3-FF1B-AA8B-85CF-56B64FA94CEB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F16BC6-E8D7-2B3B-FA55-A70662A9B7EC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39C173E-6A00-A5CD-8580-7198AA5FB57A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CED0B0-4CC6-3209-3EE9-78CFC944E3BC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CF998-65C2-E984-0DE6-F219537C96EC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7216751-448A-A287-1C6C-1942206A5561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9B001E-04FD-5F44-6927-3B4111E5E82B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</a:t>
            </a: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1BBC50-2219-1A8F-6826-902D53429364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E05F2E-6ECB-4CE9-39D1-C440244EA3F1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8A9800E-7D13-ADAD-12BA-FE67003A800B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4B26ACF-0013-3349-D166-50C381836CB3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6802639-C8FC-9299-3398-3FA6918C114E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328FF82-C200-84C2-98CA-F9E9C366E9A4}"/>
              </a:ext>
            </a:extLst>
          </p:cNvPr>
          <p:cNvSpPr/>
          <p:nvPr/>
        </p:nvSpPr>
        <p:spPr>
          <a:xfrm>
            <a:off x="5479677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CAF90-CC34-78D3-98EB-48F3CC5B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" b="1252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44A57C4-C2A3-A38E-7BDB-6813E4411868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43207D0-C4B2-676C-E313-43E9310BDEA3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7293F90-0BDE-FB05-D1FB-53572F43F66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8B2891-B72C-5D9C-BB73-4514B9B4C63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8C1E54-84A4-D128-9FB9-113086B6ED78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7665F8-52DF-73C6-5C5A-6D490E413386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B8491B-3F5F-05E2-6220-130F4F9CE6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1039B6-47CF-186C-F967-A304E7205E49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9D5EA3-E74C-9F98-BB9C-C30EA1C0D9ED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52919ED-72BE-C950-EFC7-676202C26A3D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9D7BE6A-025C-7247-74EF-88694D7DDBE3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A010AD-E39E-20E7-1F55-4D7619731412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84DB4BA-2233-814D-E6B6-C4075C594C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77ED64-0352-59AF-F64E-41C6C5D9DC8C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ED614F6-DF00-20FA-FA6F-105B5BD3FA80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7F292C-A89E-91B7-81AC-76BA2DDA8463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27A73EB-2697-2E81-D75F-AD9A42909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0C83A7-D29C-7B02-757E-DA9D43D21D22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046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689D-3A7F-ECAC-FBB5-08A53E4B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EA857E-F458-371E-9063-56A9586B64E9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74C4DDD-C21B-C9E9-BBEA-43F7EC348443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AA8D359-A8CA-3D16-671E-7CB33B578067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D088D6-B791-C9C7-8CB1-D353C7A2C54B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ED4454C-3219-47C5-C7B9-AB2DAAA0483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8D8DB55-98F3-2F68-534B-8D4072A6E31F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1BF06-9771-922F-7FA3-3AA1BD5861C9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AF7386D-BB52-EC3E-A398-E3392ADE63CD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F6757-BF29-6A5B-23CB-9E753FB92D6A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by L1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L1,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</a:t>
            </a:r>
          </a:p>
          <a:p>
            <a:pPr marL="801688" marR="0" lvl="0" indent="-2587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1B5DB0-B2D3-E007-F8B6-56228047AE99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1DB3CB-CBE3-5414-4891-3BBF78743F5D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3340A1E-7A7C-0363-61EF-B2B5161CCA24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FD28261-6180-DFB4-B3EE-3B5458CCAA8A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2C91666-F839-F95A-0187-F5F67DB671F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92789B-946F-49FA-6EF3-030A2D9B60EB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462656F-15E5-3A55-CC75-A8665B1049A2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42A0F5B3-A6ED-942E-0271-80AD8904AC52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2B3E800-7E0A-5135-D25C-BA5DD43CA2E9}"/>
              </a:ext>
            </a:extLst>
          </p:cNvPr>
          <p:cNvSpPr/>
          <p:nvPr/>
        </p:nvSpPr>
        <p:spPr>
          <a:xfrm>
            <a:off x="7775296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25E0D-6881-2BD9-B3CF-580D4CF26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7" b="60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7DFB6E3-A348-26DC-4459-E8EFA58FB7EC}"/>
              </a:ext>
            </a:extLst>
          </p:cNvPr>
          <p:cNvGrpSpPr/>
          <p:nvPr/>
        </p:nvGrpSpPr>
        <p:grpSpPr>
          <a:xfrm>
            <a:off x="5519432" y="1148893"/>
            <a:ext cx="2255864" cy="360000"/>
            <a:chOff x="82196" y="115421"/>
            <a:chExt cx="2255864" cy="360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69E7974-284E-9162-9FB9-6EC22CABE1CE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AC75A930-3223-4C54-F7F1-FFBBB5A57064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290781-0056-9A8C-7948-4FA9BFD05F7F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CB37AC-4085-2455-2A26-5C205056A582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5E492C-4289-0631-B6AF-8C3EE91C345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002267D-3B28-6DDB-9372-4148F9BBB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E81646-6F87-82A0-900F-9E4689605ABD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21C535-98E4-3A11-7766-FBBB21844D6E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92FF8F4-355A-9435-9E03-308FD942B227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1D13EE-AF51-D238-BB25-E38B421CF246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7ADC3A-7372-5D31-2BAD-F0298B34BE45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6C2FA61-3571-BC44-69A3-9181C1601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F260AFB-ACC2-52E2-9C57-708E491FDE7D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BBAFC29-DED6-0913-1F0B-25687924137B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560A2-713F-1357-B38A-6B3DF57A1289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1D93A34-05DC-6CAB-CA3A-7E579D23F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757EA2-1CA1-D13A-2C02-77A644C1E9C0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2341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C8C8-18F4-6787-F1E7-7AF44915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D6EF95-022C-0A79-DDD7-921E7BDE0128}"/>
              </a:ext>
            </a:extLst>
          </p:cNvPr>
          <p:cNvGrpSpPr/>
          <p:nvPr/>
        </p:nvGrpSpPr>
        <p:grpSpPr>
          <a:xfrm>
            <a:off x="80375" y="153921"/>
            <a:ext cx="3586850" cy="360000"/>
            <a:chOff x="82196" y="115421"/>
            <a:chExt cx="3586850" cy="36000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2D14062-5D22-6B8C-F564-AFF8FF1AF54C}"/>
                </a:ext>
              </a:extLst>
            </p:cNvPr>
            <p:cNvSpPr/>
            <p:nvPr/>
          </p:nvSpPr>
          <p:spPr>
            <a:xfrm>
              <a:off x="82196" y="115421"/>
              <a:ext cx="3586850" cy="360000"/>
            </a:xfrm>
            <a:prstGeom prst="roundRect">
              <a:avLst/>
            </a:prstGeom>
            <a:ln w="254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DNOV-CWB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332D282-3D00-1A64-663D-C619251D1202}"/>
                </a:ext>
              </a:extLst>
            </p:cNvPr>
            <p:cNvSpPr/>
            <p:nvPr/>
          </p:nvSpPr>
          <p:spPr>
            <a:xfrm>
              <a:off x="82196" y="115421"/>
              <a:ext cx="864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Corpus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C3A65D-439E-7C9B-EDC2-BB30132800E6}"/>
              </a:ext>
            </a:extLst>
          </p:cNvPr>
          <p:cNvGrpSpPr/>
          <p:nvPr/>
        </p:nvGrpSpPr>
        <p:grpSpPr>
          <a:xfrm>
            <a:off x="4046200" y="153921"/>
            <a:ext cx="7920001" cy="360000"/>
            <a:chOff x="82196" y="115421"/>
            <a:chExt cx="3086427" cy="36000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2BFAA36-78FD-D42A-5477-9C7A1816B618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5963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	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rPr>
                <a:t>"eyes" %c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3D2F977-60EA-466A-DAFD-F320F64B7A80}"/>
                </a:ext>
              </a:extLst>
            </p:cNvPr>
            <p:cNvSpPr/>
            <p:nvPr/>
          </p:nvSpPr>
          <p:spPr>
            <a:xfrm>
              <a:off x="82196" y="115421"/>
              <a:ext cx="336701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Query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EB929-2596-B498-FBBA-3DCF51A536CA}"/>
              </a:ext>
            </a:extLst>
          </p:cNvPr>
          <p:cNvSpPr/>
          <p:nvPr/>
        </p:nvSpPr>
        <p:spPr>
          <a:xfrm>
            <a:off x="0" y="633407"/>
            <a:ext cx="3780000" cy="6224593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5E3518-01FF-70E2-47EF-CDD54C1B18AE}"/>
              </a:ext>
            </a:extLst>
          </p:cNvPr>
          <p:cNvSpPr/>
          <p:nvPr/>
        </p:nvSpPr>
        <p:spPr>
          <a:xfrm>
            <a:off x="80375" y="718981"/>
            <a:ext cx="3586850" cy="36000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Tree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4AAB9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4326A2-542A-37C8-381B-58A2F846327C}"/>
              </a:ext>
            </a:extLst>
          </p:cNvPr>
          <p:cNvSpPr txBox="1"/>
          <p:nvPr/>
        </p:nvSpPr>
        <p:spPr>
          <a:xfrm>
            <a:off x="80375" y="1198467"/>
            <a:ext cx="3586850" cy="5577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Query result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(4031)</a:t>
            </a:r>
          </a:p>
          <a:p>
            <a:pPr marL="185738" marR="0" lvl="0" indent="-1857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random</a:t>
            </a:r>
          </a:p>
          <a:p>
            <a:pPr marL="3635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within suspension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(276)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right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533400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partition: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POS tag @ L1,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left context</a:t>
            </a:r>
          </a:p>
          <a:p>
            <a:pPr marL="719138" marR="0" lvl="0" indent="-1778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set [PRP$]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54C5F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(211)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CCCC">
                    <a:lumMod val="9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 by L1</a:t>
            </a:r>
          </a:p>
          <a:p>
            <a:pPr marL="896938" marR="0" lvl="0" indent="-1698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L1,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sort: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right context 	 	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8A8F3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</a:t>
            </a:r>
          </a:p>
          <a:p>
            <a:pPr marL="801688" marR="0" lvl="0" indent="-2587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4C5F3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3400" marR="0" lvl="0" indent="-2571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99B928-B24C-7918-5632-B5DB0D333804}"/>
              </a:ext>
            </a:extLst>
          </p:cNvPr>
          <p:cNvSpPr/>
          <p:nvPr/>
        </p:nvSpPr>
        <p:spPr>
          <a:xfrm>
            <a:off x="4046200" y="1112893"/>
            <a:ext cx="7920000" cy="432000"/>
          </a:xfrm>
          <a:prstGeom prst="roundRect">
            <a:avLst/>
          </a:prstGeom>
          <a:ln w="25400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919288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89B4A0-7CAC-4A66-1E17-AE92068F92B3}"/>
              </a:ext>
            </a:extLst>
          </p:cNvPr>
          <p:cNvGrpSpPr/>
          <p:nvPr/>
        </p:nvGrpSpPr>
        <p:grpSpPr>
          <a:xfrm>
            <a:off x="4046199" y="633407"/>
            <a:ext cx="7920001" cy="360000"/>
            <a:chOff x="82196" y="115421"/>
            <a:chExt cx="3086427" cy="3600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7EE67F4-603C-C009-654D-59F1BD257216}"/>
                </a:ext>
              </a:extLst>
            </p:cNvPr>
            <p:cNvSpPr/>
            <p:nvPr/>
          </p:nvSpPr>
          <p:spPr>
            <a:xfrm>
              <a:off x="82196" y="115421"/>
              <a:ext cx="3086427" cy="360000"/>
            </a:xfrm>
            <a:prstGeom prst="round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919288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34D6FE82-92A4-595D-387A-32650939D240}"/>
                </a:ext>
              </a:extLst>
            </p:cNvPr>
            <p:cNvSpPr/>
            <p:nvPr/>
          </p:nvSpPr>
          <p:spPr>
            <a:xfrm>
              <a:off x="82196" y="115421"/>
              <a:ext cx="729519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Partition / Cluster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D7A1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▼</a:t>
              </a:r>
            </a:p>
          </p:txBody>
        </p:sp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C2883FA-AB8C-A4F8-B29E-09EA1679B581}"/>
              </a:ext>
            </a:extLst>
          </p:cNvPr>
          <p:cNvSpPr/>
          <p:nvPr/>
        </p:nvSpPr>
        <p:spPr>
          <a:xfrm>
            <a:off x="4044203" y="1664378"/>
            <a:ext cx="1763421" cy="3600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Make selection ▼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82F768-DC8C-FC5D-F793-84B9906E6204}"/>
              </a:ext>
            </a:extLst>
          </p:cNvPr>
          <p:cNvGrpSpPr/>
          <p:nvPr/>
        </p:nvGrpSpPr>
        <p:grpSpPr>
          <a:xfrm>
            <a:off x="4087185" y="1148893"/>
            <a:ext cx="1351507" cy="360000"/>
            <a:chOff x="82196" y="115421"/>
            <a:chExt cx="1351507" cy="36000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6A0FF91-1CD8-A9F0-3ED0-A7815AD03854}"/>
                </a:ext>
              </a:extLst>
            </p:cNvPr>
            <p:cNvSpPr/>
            <p:nvPr/>
          </p:nvSpPr>
          <p:spPr>
            <a:xfrm>
              <a:off x="82196" y="115421"/>
              <a:ext cx="1351507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L1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278E3B5-899E-D2C2-0BD3-4E376FA137A4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EEA260-23D8-0764-E73A-84A4889FC3CF}"/>
              </a:ext>
            </a:extLst>
          </p:cNvPr>
          <p:cNvSpPr/>
          <p:nvPr/>
        </p:nvSpPr>
        <p:spPr>
          <a:xfrm>
            <a:off x="7775296" y="1139268"/>
            <a:ext cx="385489" cy="360000"/>
          </a:xfrm>
          <a:prstGeom prst="round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525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D7A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⨁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29FBF6-8678-EBC5-B995-633E308E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" b="607"/>
          <a:stretch/>
        </p:blipFill>
        <p:spPr>
          <a:xfrm>
            <a:off x="3865245" y="2109347"/>
            <a:ext cx="8326755" cy="47486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ABCF0D-C5EE-D28B-4B91-5F46360DA68E}"/>
              </a:ext>
            </a:extLst>
          </p:cNvPr>
          <p:cNvGrpSpPr/>
          <p:nvPr/>
        </p:nvGrpSpPr>
        <p:grpSpPr>
          <a:xfrm>
            <a:off x="5519432" y="1148893"/>
            <a:ext cx="2255864" cy="360000"/>
            <a:chOff x="82196" y="115421"/>
            <a:chExt cx="2255864" cy="360000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4CD4B81-1E1F-2FBC-1A33-CD57B326352F}"/>
                </a:ext>
              </a:extLst>
            </p:cNvPr>
            <p:cNvSpPr/>
            <p:nvPr/>
          </p:nvSpPr>
          <p:spPr>
            <a:xfrm>
              <a:off x="82196" y="115421"/>
              <a:ext cx="2255864" cy="360000"/>
            </a:xfrm>
            <a:prstGeom prst="roundRect">
              <a:avLst/>
            </a:prstGeom>
            <a:ln w="25400">
              <a:solidFill>
                <a:schemeClr val="accent3"/>
              </a:solidFill>
            </a:ln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tIns="0" rIns="0" rtlCol="0" anchor="b"/>
            <a:lstStyle/>
            <a:p>
              <a:pPr marL="5334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by right context   </a:t>
              </a:r>
              <a:r>
                <a:rPr kumimoji="0" lang="en-US" sz="1600" b="0" i="0" u="none" strike="noStrike" kern="1200" cap="none" spc="0" normalizeH="0" baseline="30000" noProof="0">
                  <a:ln>
                    <a:noFill/>
                  </a:ln>
                  <a:solidFill>
                    <a:srgbClr val="C0D7A1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Consolas" panose="020B0609020204030204" pitchFamily="49" charset="0"/>
                </a:rPr>
                <a:t>❎</a:t>
              </a:r>
              <a:endPara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C0D7A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8E7AAD3-52BE-6233-226C-8811E1C58DE9}"/>
                </a:ext>
              </a:extLst>
            </p:cNvPr>
            <p:cNvSpPr/>
            <p:nvPr/>
          </p:nvSpPr>
          <p:spPr>
            <a:xfrm>
              <a:off x="82196" y="115421"/>
              <a:ext cx="576000" cy="3600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Sort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7DA39B-9CDB-7BB7-F47E-40F1CD3D2E9B}"/>
              </a:ext>
            </a:extLst>
          </p:cNvPr>
          <p:cNvSpPr/>
          <p:nvPr/>
        </p:nvSpPr>
        <p:spPr>
          <a:xfrm>
            <a:off x="10644048" y="1672448"/>
            <a:ext cx="1322152" cy="36000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🎔 Bookmark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5764064-1C51-512E-5A8C-19890A5E738A}"/>
              </a:ext>
            </a:extLst>
          </p:cNvPr>
          <p:cNvSpPr/>
          <p:nvPr/>
        </p:nvSpPr>
        <p:spPr>
          <a:xfrm>
            <a:off x="8836400" y="6450518"/>
            <a:ext cx="3129800" cy="2535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innerShdw blurRad="50800" dist="25400" dir="150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do not represent actual gameplay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68142B-DC05-140B-2E2A-192D4EDE582A}"/>
              </a:ext>
            </a:extLst>
          </p:cNvPr>
          <p:cNvGrpSpPr/>
          <p:nvPr/>
        </p:nvGrpSpPr>
        <p:grpSpPr>
          <a:xfrm>
            <a:off x="1411815" y="1194875"/>
            <a:ext cx="2553731" cy="379514"/>
            <a:chOff x="1632111" y="1009699"/>
            <a:chExt cx="2553731" cy="37951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AEFCCC4-0BB5-3C96-DE68-2C6FC2190D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2111" y="1225064"/>
              <a:ext cx="457200" cy="16414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F78421-2445-AD3F-58B5-D1D885E19644}"/>
                </a:ext>
              </a:extLst>
            </p:cNvPr>
            <p:cNvSpPr txBox="1"/>
            <p:nvPr/>
          </p:nvSpPr>
          <p:spPr>
            <a:xfrm>
              <a:off x="2056452" y="1009699"/>
              <a:ext cx="2129390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arrangement node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7D0AA8-5A6C-4B4C-295F-7DF0D45D36E6}"/>
              </a:ext>
            </a:extLst>
          </p:cNvPr>
          <p:cNvGrpSpPr/>
          <p:nvPr/>
        </p:nvGrpSpPr>
        <p:grpSpPr>
          <a:xfrm>
            <a:off x="282959" y="537344"/>
            <a:ext cx="1435608" cy="664488"/>
            <a:chOff x="282959" y="537344"/>
            <a:chExt cx="1435608" cy="66448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0E46C79-34E6-F787-47A0-EA105C85BC71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000763" y="845121"/>
              <a:ext cx="186569" cy="356711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B2A203-05A0-112F-FD3A-0AD06E298178}"/>
                </a:ext>
              </a:extLst>
            </p:cNvPr>
            <p:cNvSpPr txBox="1"/>
            <p:nvPr/>
          </p:nvSpPr>
          <p:spPr>
            <a:xfrm>
              <a:off x="282959" y="537344"/>
              <a:ext cx="143560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b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root node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BE35E5-F3E7-BD12-8C09-73B959A91953}"/>
              </a:ext>
            </a:extLst>
          </p:cNvPr>
          <p:cNvGrpSpPr/>
          <p:nvPr/>
        </p:nvGrpSpPr>
        <p:grpSpPr>
          <a:xfrm>
            <a:off x="2261419" y="1927123"/>
            <a:ext cx="1619370" cy="490001"/>
            <a:chOff x="2040210" y="822559"/>
            <a:chExt cx="1619370" cy="490001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F2B8E0D-B26A-DA5D-7D54-A9A2D2256E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0210" y="822559"/>
              <a:ext cx="275304" cy="245806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375DA6-EE1A-3B0B-8B1D-03B23B8CD8A7}"/>
                </a:ext>
              </a:extLst>
            </p:cNvPr>
            <p:cNvSpPr txBox="1"/>
            <p:nvPr/>
          </p:nvSpPr>
          <p:spPr>
            <a:xfrm>
              <a:off x="2092118" y="1004783"/>
              <a:ext cx="1567462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 node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BDEE571-34C7-34EB-8693-5AC99538EF56}"/>
              </a:ext>
            </a:extLst>
          </p:cNvPr>
          <p:cNvSpPr txBox="1"/>
          <p:nvPr/>
        </p:nvSpPr>
        <p:spPr>
          <a:xfrm rot="16200000">
            <a:off x="-332544" y="2241719"/>
            <a:ext cx="1080114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4AAB9">
                    <a:lumMod val="50000"/>
                  </a:srgbClr>
                </a:solidFill>
                <a:effectLst>
                  <a:outerShdw blurRad="76200" algn="ctr" rotWithShape="0">
                    <a:srgbClr val="FFFFFF"/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siblings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4CEC75D-444F-3FAA-E6E0-2BD729A9003A}"/>
              </a:ext>
            </a:extLst>
          </p:cNvPr>
          <p:cNvGrpSpPr/>
          <p:nvPr/>
        </p:nvGrpSpPr>
        <p:grpSpPr>
          <a:xfrm>
            <a:off x="2746429" y="3115944"/>
            <a:ext cx="1065610" cy="501533"/>
            <a:chOff x="2398861" y="820083"/>
            <a:chExt cx="1065610" cy="501533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A37A974-F20F-21B0-E54B-B30BACA4BE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8861" y="820083"/>
              <a:ext cx="283140" cy="228159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6AC46A8-5A0F-4F20-0520-A4B72F53A6C2}"/>
                </a:ext>
              </a:extLst>
            </p:cNvPr>
            <p:cNvSpPr txBox="1"/>
            <p:nvPr/>
          </p:nvSpPr>
          <p:spPr>
            <a:xfrm>
              <a:off x="2553283" y="1013839"/>
              <a:ext cx="911188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subset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783E47-3C3C-535B-0510-641DD764E35C}"/>
              </a:ext>
            </a:extLst>
          </p:cNvPr>
          <p:cNvGrpSpPr/>
          <p:nvPr/>
        </p:nvGrpSpPr>
        <p:grpSpPr>
          <a:xfrm>
            <a:off x="2087690" y="3899721"/>
            <a:ext cx="1528875" cy="868099"/>
            <a:chOff x="2726113" y="-661552"/>
            <a:chExt cx="1528875" cy="868099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187FF91-B540-B87B-5FCC-542BD2BCE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7992" y="-661552"/>
              <a:ext cx="293499" cy="567958"/>
            </a:xfrm>
            <a:prstGeom prst="straightConnector1">
              <a:avLst/>
            </a:prstGeom>
            <a:ln w="3175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715A57-1A16-DE1E-A593-D967BD8007C6}"/>
                </a:ext>
              </a:extLst>
            </p:cNvPr>
            <p:cNvSpPr txBox="1"/>
            <p:nvPr/>
          </p:nvSpPr>
          <p:spPr>
            <a:xfrm>
              <a:off x="2726113" y="-101230"/>
              <a:ext cx="1528875" cy="307777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4AAB9">
                      <a:lumMod val="50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bookmark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5307A1C-8455-2DC5-E463-C3F0D6A8FAE7}"/>
              </a:ext>
            </a:extLst>
          </p:cNvPr>
          <p:cNvGrpSpPr/>
          <p:nvPr/>
        </p:nvGrpSpPr>
        <p:grpSpPr>
          <a:xfrm>
            <a:off x="196150" y="1399782"/>
            <a:ext cx="808465" cy="2259934"/>
            <a:chOff x="8901" y="1413808"/>
            <a:chExt cx="808465" cy="225993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8576251-2C9F-83CD-C425-62D97947CCCF}"/>
                </a:ext>
              </a:extLst>
            </p:cNvPr>
            <p:cNvSpPr/>
            <p:nvPr/>
          </p:nvSpPr>
          <p:spPr>
            <a:xfrm>
              <a:off x="8901" y="1682891"/>
              <a:ext cx="278355" cy="278355"/>
            </a:xfrm>
            <a:prstGeom prst="ellips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4DEC500-23E9-AEF8-5D56-7C6A7FE9F60F}"/>
                </a:ext>
              </a:extLst>
            </p:cNvPr>
            <p:cNvSpPr/>
            <p:nvPr/>
          </p:nvSpPr>
          <p:spPr>
            <a:xfrm>
              <a:off x="361391" y="2895550"/>
              <a:ext cx="278356" cy="278355"/>
            </a:xfrm>
            <a:prstGeom prst="ellips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Diamond 44">
              <a:extLst>
                <a:ext uri="{FF2B5EF4-FFF2-40B4-BE49-F238E27FC236}">
                  <a16:creationId xmlns:a16="http://schemas.microsoft.com/office/drawing/2014/main" id="{F4B6ED76-08C4-1484-183E-E7B24051E08A}"/>
                </a:ext>
              </a:extLst>
            </p:cNvPr>
            <p:cNvSpPr/>
            <p:nvPr/>
          </p:nvSpPr>
          <p:spPr>
            <a:xfrm>
              <a:off x="539011" y="3395387"/>
              <a:ext cx="278355" cy="278355"/>
            </a:xfrm>
            <a:prstGeom prst="diamond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423DFE3-E53C-43A9-BBF1-9BECB47E0C4F}"/>
                </a:ext>
              </a:extLst>
            </p:cNvPr>
            <p:cNvCxnSpPr>
              <a:cxnSpLocks/>
            </p:cNvCxnSpPr>
            <p:nvPr/>
          </p:nvCxnSpPr>
          <p:spPr>
            <a:xfrm>
              <a:off x="144996" y="1413808"/>
              <a:ext cx="0" cy="252000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E6A06DAD-E188-58C9-627B-7D0BB92949E7}"/>
                </a:ext>
              </a:extLst>
            </p:cNvPr>
            <p:cNvCxnSpPr>
              <a:cxnSpLocks/>
              <a:stCxn id="43" idx="6"/>
              <a:endCxn id="44" idx="0"/>
            </p:cNvCxnSpPr>
            <p:nvPr/>
          </p:nvCxnSpPr>
          <p:spPr>
            <a:xfrm>
              <a:off x="287256" y="1822069"/>
              <a:ext cx="213313" cy="1073481"/>
            </a:xfrm>
            <a:prstGeom prst="bentConnector2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9DA93F2A-F0CF-9781-9723-808AB612260A}"/>
                </a:ext>
              </a:extLst>
            </p:cNvPr>
            <p:cNvCxnSpPr>
              <a:cxnSpLocks/>
              <a:stCxn id="44" idx="6"/>
              <a:endCxn id="45" idx="0"/>
            </p:cNvCxnSpPr>
            <p:nvPr/>
          </p:nvCxnSpPr>
          <p:spPr>
            <a:xfrm>
              <a:off x="639747" y="3034728"/>
              <a:ext cx="38442" cy="360659"/>
            </a:xfrm>
            <a:prstGeom prst="bentConnector2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D179E21-7A73-D0F3-BE46-08B72E9CD813}"/>
              </a:ext>
            </a:extLst>
          </p:cNvPr>
          <p:cNvGrpSpPr/>
          <p:nvPr/>
        </p:nvGrpSpPr>
        <p:grpSpPr>
          <a:xfrm>
            <a:off x="78311" y="3698122"/>
            <a:ext cx="1423656" cy="1313413"/>
            <a:chOff x="2013543" y="-705445"/>
            <a:chExt cx="1423656" cy="1313413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E51CD4E-70F7-67BA-5A09-98DE046BF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9737" y="-705445"/>
              <a:ext cx="213313" cy="697860"/>
            </a:xfrm>
            <a:prstGeom prst="straightConnector1">
              <a:avLst/>
            </a:prstGeom>
            <a:ln w="3175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2C57F70-7852-EF79-FB1E-C631E1AC062A}"/>
                </a:ext>
              </a:extLst>
            </p:cNvPr>
            <p:cNvSpPr txBox="1"/>
            <p:nvPr/>
          </p:nvSpPr>
          <p:spPr>
            <a:xfrm>
              <a:off x="2013543" y="-7585"/>
              <a:ext cx="1423656" cy="61555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65CBB9">
                      <a:lumMod val="75000"/>
                    </a:srgbClr>
                  </a:solidFill>
                  <a:effectLst>
                    <a:outerShdw blurRad="76200" algn="ctr" rotWithShape="0">
                      <a:srgbClr val="FFFFFF"/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path from root 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212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F8F5-451A-67C1-FE98-1E4BFFA2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AEFD-5D3C-ABBF-9FDD-BFF6E80A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A mathematical model of organising conc.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F70E3-93EB-DE03-02A5-6CC7E7E5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Concordance reading =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analysis tree</a:t>
            </a:r>
            <a:r>
              <a:rPr lang="en-US"/>
              <a:t> consisting of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subset</a:t>
            </a:r>
            <a:r>
              <a:rPr lang="en-US"/>
              <a:t> nodes</a:t>
            </a:r>
            <a:br>
              <a:rPr lang="en-US"/>
            </a:br>
            <a:r>
              <a:rPr lang="en-US"/>
              <a:t>and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arrangement</a:t>
            </a:r>
            <a:r>
              <a:rPr lang="en-US"/>
              <a:t> nodes</a:t>
            </a:r>
          </a:p>
          <a:p>
            <a:pPr lvl="1"/>
            <a:r>
              <a:rPr lang="en-US"/>
              <a:t>subset nodes form the structure of the tree </a:t>
            </a:r>
            <a:r>
              <a:rPr lang="en-US">
                <a:sym typeface="Wingdings" pitchFamily="2" charset="2"/>
              </a:rPr>
              <a:t>➞ focus on part of conc.</a:t>
            </a:r>
          </a:p>
          <a:p>
            <a:pPr lvl="1"/>
            <a:r>
              <a:rPr lang="en-US"/>
              <a:t>arrangement nodes = alternative views of the same subset (</a:t>
            </a:r>
            <a:r>
              <a:rPr lang="en-US">
                <a:sym typeface="Wingdings" pitchFamily="2" charset="2"/>
              </a:rPr>
              <a:t>➞ </a:t>
            </a:r>
            <a:r>
              <a:rPr lang="en-US"/>
              <a:t>parent)</a:t>
            </a:r>
          </a:p>
          <a:p>
            <a:pPr lvl="1"/>
            <a:r>
              <a:rPr lang="en-US"/>
              <a:t>arrangement nodes are siblings, subset nodes can be children of either kind</a:t>
            </a:r>
          </a:p>
          <a:p>
            <a:pPr lvl="1"/>
            <a:r>
              <a:rPr lang="en-US"/>
              <a:t>root node = subset node corresponding to full concordance</a:t>
            </a:r>
          </a:p>
          <a:p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node = Selecting algorithm with parameters</a:t>
            </a:r>
          </a:p>
          <a:p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Arrangement</a:t>
            </a:r>
            <a:r>
              <a:rPr lang="en-US"/>
              <a:t> node = ≤ 1 Grouping algorithm with parameters</a:t>
            </a:r>
            <a:br>
              <a:rPr lang="en-US"/>
            </a:br>
            <a:r>
              <a:rPr lang="en-US"/>
              <a:t>+ sequence of Ordering algorithms with parameters</a:t>
            </a:r>
          </a:p>
          <a:p>
            <a:pPr lvl="1"/>
            <a:r>
              <a:rPr lang="en-US"/>
              <a:t>each arrangement node completely overwrites any prior arrangement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0C9F-BA67-2C02-7675-CC87D853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90E6-2D95-A2D8-F7D7-830EF182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377FB-B823-5D4B-998E-28D98F36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50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A6FF-3294-B993-71B1-C6CE9526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56D6-77BF-C4C3-B1A6-2269BD7D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Concordance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F37A8-EAE7-9551-76AD-648D43071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node in the analysis tree represents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concordance view</a:t>
            </a:r>
            <a:r>
              <a:rPr lang="en-US"/>
              <a:t>,</a:t>
            </a:r>
            <a:br>
              <a:rPr lang="en-US"/>
            </a:br>
            <a:r>
              <a:rPr lang="en-US"/>
              <a:t>i.e. an arrangement of a subset of the concordance</a:t>
            </a:r>
          </a:p>
          <a:p>
            <a:r>
              <a:rPr lang="en-US"/>
              <a:t>Identifies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subset</a:t>
            </a:r>
            <a:r>
              <a:rPr lang="en-US"/>
              <a:t> +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ordering</a:t>
            </a:r>
            <a:r>
              <a:rPr lang="en-US"/>
              <a:t> of conc. lines via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line №</a:t>
            </a:r>
            <a:r>
              <a:rPr lang="en-US"/>
              <a:t> as unique ID</a:t>
            </a:r>
          </a:p>
          <a:p>
            <a:r>
              <a:rPr lang="en-US"/>
              <a:t>With Grouping algorithm: list of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sets</a:t>
            </a:r>
            <a:r>
              <a:rPr lang="en-US"/>
              <a:t> of conc lines specified by line №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Partitioning: </a:t>
            </a:r>
            <a:r>
              <a:rPr lang="en-US"/>
              <a:t>ordering of the sets (≠ ordering of lines) </a:t>
            </a:r>
          </a:p>
          <a:p>
            <a:pPr lvl="1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Clustering: </a:t>
            </a:r>
            <a:r>
              <a:rPr lang="en-US"/>
              <a:t>ordered tree of the sets + prototypical examples for each set</a:t>
            </a:r>
          </a:p>
          <a:p>
            <a:r>
              <a:rPr lang="en-US"/>
              <a:t>Optional: supplementary information on concordance lines, sets, and relevant token spans returned by algorithms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0666A-EF1F-A3A0-E100-C9CF19D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65FD1-9ACA-256E-CFC1-9DC2E2E8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2B48-ABA4-CC83-8699-D2BD36CF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487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B915-3650-7D23-4989-0B1D1CA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95D8-7293-A0D6-B94B-2E33A6A01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Formalising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DD43-C395-44DC-E37C-E957CDF1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1" y="1388794"/>
            <a:ext cx="11543837" cy="47870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Application of an algorithm is conceptualised mathematically as annotation of concordance lines:</a:t>
            </a:r>
          </a:p>
          <a:p>
            <a:r>
              <a:rPr lang="en-US"/>
              <a:t>Selecting = annotation of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Boolean variable</a:t>
            </a:r>
          </a:p>
          <a:p>
            <a:r>
              <a:rPr lang="en-US"/>
              <a:t>Sorting = annotation of an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integer variable </a:t>
            </a:r>
            <a:r>
              <a:rPr lang="en-US"/>
              <a:t>(surrogate keys)</a:t>
            </a:r>
          </a:p>
          <a:p>
            <a:r>
              <a:rPr lang="en-US"/>
              <a:t>Ranking = annotation of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floating-point variable </a:t>
            </a:r>
            <a:r>
              <a:rPr lang="en-US"/>
              <a:t>(preference scores)</a:t>
            </a:r>
          </a:p>
          <a:p>
            <a:r>
              <a:rPr lang="en-US"/>
              <a:t>Partitioning = annotation of a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categorical variable </a:t>
            </a:r>
            <a:r>
              <a:rPr lang="en-US"/>
              <a:t>(set membership)</a:t>
            </a:r>
          </a:p>
          <a:p>
            <a:r>
              <a:rPr lang="en-US"/>
              <a:t>Clustering = annotation of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ordered tree</a:t>
            </a:r>
            <a:r>
              <a:rPr lang="en-US"/>
              <a:t> of subsets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➞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concordance view </a:t>
            </a:r>
            <a:r>
              <a:rPr lang="en-US"/>
              <a:t>derived from annotations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9EBD5-9E28-94C5-BD94-44C229B2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F52F-A42C-330E-FE5F-FC3DE6ED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CD1E7-2972-23D1-6C1B-D711BCDF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212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D4A-C7B0-7ACF-2252-6F6FF363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1: Selecting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78EA-A0C0-0027-7AA9-61F167C0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583166" cy="4787075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  <a:r>
              <a:rPr lang="en-US"/>
              <a:t> = add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Boolean variable </a:t>
            </a:r>
            <a:r>
              <a:rPr lang="en-US"/>
              <a:t>to lines</a:t>
            </a:r>
          </a:p>
          <a:p>
            <a:pPr lvl="1"/>
            <a:r>
              <a:rPr lang="en-US"/>
              <a:t>keep concordance line if value is True</a:t>
            </a:r>
          </a:p>
          <a:p>
            <a:pPr lvl="1"/>
            <a:r>
              <a:rPr lang="en-US"/>
              <a:t>exclude selected lines by logical negation of variable (all algorithms)</a:t>
            </a:r>
          </a:p>
          <a:p>
            <a:pPr lvl="3"/>
            <a:endParaRPr lang="en-US"/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selection based on metadata categories or numerical ranges</a:t>
            </a:r>
          </a:p>
          <a:p>
            <a:r>
              <a:rPr lang="en-US"/>
              <a:t>select random subset (reproducible, stratified, …)</a:t>
            </a:r>
          </a:p>
          <a:p>
            <a:r>
              <a:rPr lang="en-US"/>
              <a:t>KWIC filter (lines containing certain words, lemmas, POS tags, …)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manual selection of individual concordance lines (will get back to this)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376E-7BA5-B7A5-C971-A9981413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0E6A-C541-57FA-0ABF-06E8B064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C711-FAAD-A552-EF0F-52FF010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28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7BAC95-FC91-522B-9E28-69AB5208F1D4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9" name="Picture 8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7CC496DA-646F-D68C-2BC4-F2AAB0939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20A956F-C3BC-F361-DD4A-C7EF3A307F38}"/>
                </a:ext>
              </a:extLst>
            </p:cNvPr>
            <p:cNvGrpSpPr/>
            <p:nvPr/>
          </p:nvGrpSpPr>
          <p:grpSpPr>
            <a:xfrm>
              <a:off x="9240748" y="429003"/>
              <a:ext cx="2461260" cy="686474"/>
              <a:chOff x="9220200" y="438576"/>
              <a:chExt cx="2895600" cy="85809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E9DF473-E250-1CDA-1B10-43AE9B39D75B}"/>
                  </a:ext>
                </a:extLst>
              </p:cNvPr>
              <p:cNvGrpSpPr/>
              <p:nvPr/>
            </p:nvGrpSpPr>
            <p:grpSpPr>
              <a:xfrm>
                <a:off x="9220200" y="438576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602E7A3-44BE-A18C-5D88-BEF169B8D7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B75CFFE-2B88-19D9-B3F0-B0781D030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80D44E8-3878-4C93-A6F2-BB3C056AC1CC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1E0248A-7792-254A-E6C4-6AA2444D76B7}"/>
                  </a:ext>
                </a:extLst>
              </p:cNvPr>
              <p:cNvGrpSpPr/>
              <p:nvPr/>
            </p:nvGrpSpPr>
            <p:grpSpPr>
              <a:xfrm>
                <a:off x="9220200" y="595056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AC16DE9-3AAA-0AF5-298A-421937C56A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3127D36-78B4-BB71-AA12-009A4902C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93E689B-A615-4CDE-6CA3-D004794B5960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8D6C92B-056C-F39F-3088-9803F1AD612B}"/>
                  </a:ext>
                </a:extLst>
              </p:cNvPr>
              <p:cNvGrpSpPr/>
              <p:nvPr/>
            </p:nvGrpSpPr>
            <p:grpSpPr>
              <a:xfrm>
                <a:off x="9220200" y="751536"/>
                <a:ext cx="2895600" cy="75692"/>
                <a:chOff x="4639673" y="1649035"/>
                <a:chExt cx="2895600" cy="75692"/>
              </a:xfrm>
              <a:solidFill>
                <a:srgbClr val="FF3399"/>
              </a:solidFill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2C503D5-6AD6-0169-C966-6103324CC9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0A4C3DA-47EA-DE0A-FF80-B61D2E6826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445D573-82A2-B036-8AD7-FA03E2DB61E2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B1F73B7-CB26-68B8-6E24-18A0F1678922}"/>
                  </a:ext>
                </a:extLst>
              </p:cNvPr>
              <p:cNvGrpSpPr/>
              <p:nvPr/>
            </p:nvGrpSpPr>
            <p:grpSpPr>
              <a:xfrm>
                <a:off x="9220200" y="908016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950F5F1-67DB-0E21-8353-171783564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8E4934E-96FE-855F-34D5-76E10BCB6C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5FA343E0-39A3-E5C2-91B3-CA9F403D9037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1D11298-5C97-5795-AF35-17B919925427}"/>
                  </a:ext>
                </a:extLst>
              </p:cNvPr>
              <p:cNvGrpSpPr/>
              <p:nvPr/>
            </p:nvGrpSpPr>
            <p:grpSpPr>
              <a:xfrm>
                <a:off x="9220200" y="1064496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7E771C1-DC14-BE9D-C071-DA65C00C0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96C3F36-C2FD-07BE-E809-F2E39258F7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9CAFFD7-DA58-BE49-073B-D17916E8E39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3F5C130-C193-F19F-C07D-9B8155312A01}"/>
                  </a:ext>
                </a:extLst>
              </p:cNvPr>
              <p:cNvGrpSpPr/>
              <p:nvPr/>
            </p:nvGrpSpPr>
            <p:grpSpPr>
              <a:xfrm>
                <a:off x="9220200" y="1220976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92239B8-05D4-7D76-AE3B-D26E5514F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9D25CF2A-ECB4-9BC7-7DC3-AB6B4C1271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146CEED-F465-9867-E0DB-471EF55DAC9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84765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D4A-C7B0-7ACF-2252-6F6FF363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2: Sorting [Ordering]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78EA-A0C0-0027-7AA9-61F167C0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010032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 = add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integer variable</a:t>
            </a:r>
            <a:r>
              <a:rPr lang="en-US"/>
              <a:t> with sort keys</a:t>
            </a:r>
          </a:p>
          <a:p>
            <a:pPr lvl="1"/>
            <a:r>
              <a:rPr lang="en-US"/>
              <a:t>pairwise comparison of lines (A &lt; B, A = B, A &gt; B)</a:t>
            </a:r>
          </a:p>
          <a:p>
            <a:pPr lvl="1"/>
            <a:r>
              <a:rPr lang="en-US"/>
              <a:t>resulting sort order ➞ integers as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surrogate keys </a:t>
            </a:r>
            <a:r>
              <a:rPr lang="en-US"/>
              <a:t>(A &lt; B, A = B, A &gt; B)</a:t>
            </a:r>
          </a:p>
          <a:p>
            <a:pPr lvl="1"/>
            <a:r>
              <a:rPr lang="en-US"/>
              <a:t>ties (A = B) can be broken by additional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Sorting</a:t>
            </a:r>
            <a:r>
              <a:rPr lang="en-US"/>
              <a:t> or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 algorithms</a:t>
            </a:r>
          </a:p>
          <a:p>
            <a:pPr marL="1371600" lvl="3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sort alphabetically by left or right context</a:t>
            </a:r>
          </a:p>
          <a:p>
            <a:r>
              <a:rPr lang="en-US"/>
              <a:t>sort by POS tag of first (L1) or second (L2) token before node</a:t>
            </a:r>
          </a:p>
          <a:p>
            <a:r>
              <a:rPr lang="en-US"/>
              <a:t>sort by numerical (e.g. year) or categorical (e.g. author) metadata</a:t>
            </a:r>
          </a:p>
          <a:p>
            <a:r>
              <a:rPr lang="en-US"/>
              <a:t>random shuffling (reproducible)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376E-7BA5-B7A5-C971-A9981413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0E6A-C541-57FA-0ABF-06E8B064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C711-FAAD-A552-EF0F-52FF010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29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20E832-CA31-DC37-E243-E9BCBEAB5BE7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35" name="Picture 34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AB3EA933-6049-5470-1F5E-83D33D853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955D55-233C-D128-99BC-1844537F2B75}"/>
                </a:ext>
              </a:extLst>
            </p:cNvPr>
            <p:cNvGrpSpPr/>
            <p:nvPr/>
          </p:nvGrpSpPr>
          <p:grpSpPr>
            <a:xfrm>
              <a:off x="9240884" y="432461"/>
              <a:ext cx="2461260" cy="1304301"/>
              <a:chOff x="9220200" y="385676"/>
              <a:chExt cx="2895600" cy="146348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9ADDDBE-2041-CD2D-9A6F-2C427B360875}"/>
                  </a:ext>
                </a:extLst>
              </p:cNvPr>
              <p:cNvGrpSpPr/>
              <p:nvPr/>
            </p:nvGrpSpPr>
            <p:grpSpPr>
              <a:xfrm>
                <a:off x="9220200" y="385676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25000"/>
                </a:schemeClr>
              </a:solidFill>
            </p:grpSpPr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8D96E953-FA2F-E5BD-AC0B-DED018914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7482AA8B-7FD7-8D38-450C-13C9E4FBF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7E2A22F3-C6F2-C2E7-44B7-DE798A7F1F0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A4962B3-F93D-2509-22C2-3320C67E84CC}"/>
                  </a:ext>
                </a:extLst>
              </p:cNvPr>
              <p:cNvGrpSpPr/>
              <p:nvPr/>
            </p:nvGrpSpPr>
            <p:grpSpPr>
              <a:xfrm>
                <a:off x="9220200" y="539875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EE59C584-2475-B4F0-7BA8-F71B25337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D1B5707B-A76D-D23D-BA91-D8A2A0015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7AE71546-3E9B-8160-EF62-5828D5C0599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16EABAF6-005C-7E8A-E775-78FDD9BDBC85}"/>
                  </a:ext>
                </a:extLst>
              </p:cNvPr>
              <p:cNvGrpSpPr/>
              <p:nvPr/>
            </p:nvGrpSpPr>
            <p:grpSpPr>
              <a:xfrm>
                <a:off x="9220200" y="694074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E9B8C24C-083B-6878-E2FE-6154B363B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AB42866-61BE-D686-EF02-406EEE41DE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6209AAB3-19C9-77ED-CE4A-6AE615DCC91D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EEA9883-15CC-49B9-0935-AB8382F2DB86}"/>
                  </a:ext>
                </a:extLst>
              </p:cNvPr>
              <p:cNvGrpSpPr/>
              <p:nvPr/>
            </p:nvGrpSpPr>
            <p:grpSpPr>
              <a:xfrm>
                <a:off x="9220200" y="848273"/>
                <a:ext cx="2895600" cy="75692"/>
                <a:chOff x="4639673" y="1649035"/>
                <a:chExt cx="2895600" cy="75692"/>
              </a:xfrm>
              <a:solidFill>
                <a:srgbClr val="FF3399"/>
              </a:solidFill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74BF92-5B9E-F17E-71BA-7BDA92330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CA4E8279-DE7E-7BAE-3E76-B5CAD9145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A1941031-9926-8445-C338-20D598A4A32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ADE8A31-DDCC-38C9-CEEC-33AED8E95317}"/>
                  </a:ext>
                </a:extLst>
              </p:cNvPr>
              <p:cNvGrpSpPr/>
              <p:nvPr/>
            </p:nvGrpSpPr>
            <p:grpSpPr>
              <a:xfrm>
                <a:off x="9220200" y="1002472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8F2775AC-5B76-6042-2516-D2C283038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1185523D-2868-E07B-7645-668D59043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9ECF86E6-1E3B-27F0-7308-FCC5D256AE32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A1C0B71-E3AB-8BE7-3AF7-97AF99042C19}"/>
                  </a:ext>
                </a:extLst>
              </p:cNvPr>
              <p:cNvGrpSpPr/>
              <p:nvPr/>
            </p:nvGrpSpPr>
            <p:grpSpPr>
              <a:xfrm>
                <a:off x="9220200" y="1156671"/>
                <a:ext cx="2895600" cy="75692"/>
                <a:chOff x="4639673" y="1649035"/>
                <a:chExt cx="2895600" cy="75692"/>
              </a:xfrm>
              <a:solidFill>
                <a:srgbClr val="FF99CC"/>
              </a:solidFill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ED954A53-38E6-C62D-55E4-B874D750D4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C4A5E02-DDBB-71D6-D78E-1D55F5A0F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4224BB75-1A7D-6949-EC01-B26435383AF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99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F473050-9EF5-D9ED-6801-D64382ED6F6F}"/>
                  </a:ext>
                </a:extLst>
              </p:cNvPr>
              <p:cNvGrpSpPr/>
              <p:nvPr/>
            </p:nvGrpSpPr>
            <p:grpSpPr>
              <a:xfrm>
                <a:off x="9220200" y="131087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90000"/>
                </a:schemeClr>
              </a:solidFill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A4267959-BA33-360C-0DB3-0E7DD883E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0F578071-243C-5474-4687-43F31F942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C31B86EF-F2BA-1C89-28DD-417B2E7E068E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6F46C2D-59A8-AFAE-CB8B-FD02258D472F}"/>
                  </a:ext>
                </a:extLst>
              </p:cNvPr>
              <p:cNvGrpSpPr/>
              <p:nvPr/>
            </p:nvGrpSpPr>
            <p:grpSpPr>
              <a:xfrm>
                <a:off x="9220200" y="1465069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0FD7C6B-A312-8D87-C84B-EBA838F92D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481BC8B-81AF-22AA-8CC4-0A203EF7A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F120F24-E8F6-4421-914D-71EBD077301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54538C7-0187-84EC-5E25-AC62726D7F12}"/>
                  </a:ext>
                </a:extLst>
              </p:cNvPr>
              <p:cNvGrpSpPr/>
              <p:nvPr/>
            </p:nvGrpSpPr>
            <p:grpSpPr>
              <a:xfrm>
                <a:off x="9220200" y="1619268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3D76532E-9A6D-CA3F-57EC-5D21EB5CAE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AC41999-C875-A1B3-BBA3-89048F317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89F7568-7BFD-3EEE-774F-64298AD62ABC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3DAD9A4-7EB5-C8A8-D74A-08523ACF68F8}"/>
                  </a:ext>
                </a:extLst>
              </p:cNvPr>
              <p:cNvGrpSpPr/>
              <p:nvPr/>
            </p:nvGrpSpPr>
            <p:grpSpPr>
              <a:xfrm>
                <a:off x="9220200" y="1773468"/>
                <a:ext cx="2895600" cy="75692"/>
                <a:chOff x="4639673" y="1649035"/>
                <a:chExt cx="2895600" cy="75692"/>
              </a:xfrm>
              <a:solidFill>
                <a:srgbClr val="FFCCFF"/>
              </a:solidFill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E4C6FBE6-CB46-374B-94F5-13514312D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CC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1AC9EBF-AE0D-BB6E-A3CF-49FF00D096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CC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065E27B-B77B-6473-2005-A7FB81197443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CC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19293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D4A-C7B0-7ACF-2252-6F6FF363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3: Ranking [Ordering]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78EA-A0C0-0027-7AA9-61F167C01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Ranking</a:t>
            </a:r>
            <a:r>
              <a:rPr lang="en-US"/>
              <a:t> = add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floating-point variable </a:t>
            </a:r>
            <a:r>
              <a:rPr lang="en-US"/>
              <a:t>to lines</a:t>
            </a:r>
          </a:p>
          <a:p>
            <a:pPr lvl="1"/>
            <a:r>
              <a:rPr lang="en-US"/>
              <a:t>values = preference score assigned to each line</a:t>
            </a:r>
          </a:p>
          <a:p>
            <a:pPr lvl="1"/>
            <a:r>
              <a:rPr lang="en-US"/>
              <a:t>decreasing order: lines with highest scores shown at top</a:t>
            </a:r>
          </a:p>
          <a:p>
            <a:pPr lvl="1"/>
            <a:r>
              <a:rPr lang="en-US"/>
              <a:t>ties can occur e.g. if scores happen to be integer values</a:t>
            </a:r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rank by readability, GDEX algorithm, or fit to selected CEFR level</a:t>
            </a:r>
          </a:p>
          <a:p>
            <a:r>
              <a:rPr lang="en-US"/>
              <a:t>rank by frequency of the node string</a:t>
            </a:r>
          </a:p>
          <a:p>
            <a:r>
              <a:rPr lang="en-US"/>
              <a:t>rank by similarity to query (for fuzzy search)</a:t>
            </a:r>
          </a:p>
          <a:p>
            <a:r>
              <a:rPr lang="en-US"/>
              <a:t>rank by number of significant collocates of the node in context, or by number of user-specified keywords (KWIC grouper)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376E-7BA5-B7A5-C971-A9981413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0E6A-C541-57FA-0ABF-06E8B064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C711-FAAD-A552-EF0F-52FF010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30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20E832-CA31-DC37-E243-E9BCBEAB5BE7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35" name="Picture 34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AB3EA933-6049-5470-1F5E-83D33D853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955D55-233C-D128-99BC-1844537F2B75}"/>
                </a:ext>
              </a:extLst>
            </p:cNvPr>
            <p:cNvGrpSpPr/>
            <p:nvPr/>
          </p:nvGrpSpPr>
          <p:grpSpPr>
            <a:xfrm>
              <a:off x="9240884" y="432461"/>
              <a:ext cx="2461260" cy="1304301"/>
              <a:chOff x="9220200" y="385676"/>
              <a:chExt cx="2895600" cy="146348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9ADDDBE-2041-CD2D-9A6F-2C427B360875}"/>
                  </a:ext>
                </a:extLst>
              </p:cNvPr>
              <p:cNvGrpSpPr/>
              <p:nvPr/>
            </p:nvGrpSpPr>
            <p:grpSpPr>
              <a:xfrm>
                <a:off x="9220200" y="385676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25000"/>
                </a:schemeClr>
              </a:solidFill>
            </p:grpSpPr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8D96E953-FA2F-E5BD-AC0B-DED018914B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7482AA8B-7FD7-8D38-450C-13C9E4FBF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7E2A22F3-C6F2-C2E7-44B7-DE798A7F1F0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A4962B3-F93D-2509-22C2-3320C67E84CC}"/>
                  </a:ext>
                </a:extLst>
              </p:cNvPr>
              <p:cNvGrpSpPr/>
              <p:nvPr/>
            </p:nvGrpSpPr>
            <p:grpSpPr>
              <a:xfrm>
                <a:off x="9220200" y="539875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EE59C584-2475-B4F0-7BA8-F71B25337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D1B5707B-A76D-D23D-BA91-D8A2A0015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7AE71546-3E9B-8160-EF62-5828D5C0599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16EABAF6-005C-7E8A-E775-78FDD9BDBC85}"/>
                  </a:ext>
                </a:extLst>
              </p:cNvPr>
              <p:cNvGrpSpPr/>
              <p:nvPr/>
            </p:nvGrpSpPr>
            <p:grpSpPr>
              <a:xfrm>
                <a:off x="9220200" y="694074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E9B8C24C-083B-6878-E2FE-6154B363B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AB42866-61BE-D686-EF02-406EEE41DE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6209AAB3-19C9-77ED-CE4A-6AE615DCC91D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EEA9883-15CC-49B9-0935-AB8382F2DB86}"/>
                  </a:ext>
                </a:extLst>
              </p:cNvPr>
              <p:cNvGrpSpPr/>
              <p:nvPr/>
            </p:nvGrpSpPr>
            <p:grpSpPr>
              <a:xfrm>
                <a:off x="9220200" y="848273"/>
                <a:ext cx="2895600" cy="75692"/>
                <a:chOff x="4639673" y="1649035"/>
                <a:chExt cx="2895600" cy="75692"/>
              </a:xfrm>
              <a:solidFill>
                <a:srgbClr val="FF3399"/>
              </a:solidFill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74BF92-5B9E-F17E-71BA-7BDA92330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CA4E8279-DE7E-7BAE-3E76-B5CAD9145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A1941031-9926-8445-C338-20D598A4A32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ADE8A31-DDCC-38C9-CEEC-33AED8E95317}"/>
                  </a:ext>
                </a:extLst>
              </p:cNvPr>
              <p:cNvGrpSpPr/>
              <p:nvPr/>
            </p:nvGrpSpPr>
            <p:grpSpPr>
              <a:xfrm>
                <a:off x="9220200" y="1002472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8F2775AC-5B76-6042-2516-D2C283038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1185523D-2868-E07B-7645-668D59043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9ECF86E6-1E3B-27F0-7308-FCC5D256AE32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A1C0B71-E3AB-8BE7-3AF7-97AF99042C19}"/>
                  </a:ext>
                </a:extLst>
              </p:cNvPr>
              <p:cNvGrpSpPr/>
              <p:nvPr/>
            </p:nvGrpSpPr>
            <p:grpSpPr>
              <a:xfrm>
                <a:off x="9220200" y="1156671"/>
                <a:ext cx="2895600" cy="75692"/>
                <a:chOff x="4639673" y="1649035"/>
                <a:chExt cx="2895600" cy="75692"/>
              </a:xfrm>
              <a:solidFill>
                <a:srgbClr val="FF99CC"/>
              </a:solidFill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ED954A53-38E6-C62D-55E4-B874D750D4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C4A5E02-DDBB-71D6-D78E-1D55F5A0F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4224BB75-1A7D-6949-EC01-B26435383AF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99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F473050-9EF5-D9ED-6801-D64382ED6F6F}"/>
                  </a:ext>
                </a:extLst>
              </p:cNvPr>
              <p:cNvGrpSpPr/>
              <p:nvPr/>
            </p:nvGrpSpPr>
            <p:grpSpPr>
              <a:xfrm>
                <a:off x="9220200" y="131087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90000"/>
                </a:schemeClr>
              </a:solidFill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A4267959-BA33-360C-0DB3-0E7DD883E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0F578071-243C-5474-4687-43F31F942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C31B86EF-F2BA-1C89-28DD-417B2E7E068E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6F46C2D-59A8-AFAE-CB8B-FD02258D472F}"/>
                  </a:ext>
                </a:extLst>
              </p:cNvPr>
              <p:cNvGrpSpPr/>
              <p:nvPr/>
            </p:nvGrpSpPr>
            <p:grpSpPr>
              <a:xfrm>
                <a:off x="9220200" y="1465069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0FD7C6B-A312-8D87-C84B-EBA838F92D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481BC8B-81AF-22AA-8CC4-0A203EF7A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F120F24-E8F6-4421-914D-71EBD0773015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54538C7-0187-84EC-5E25-AC62726D7F12}"/>
                  </a:ext>
                </a:extLst>
              </p:cNvPr>
              <p:cNvGrpSpPr/>
              <p:nvPr/>
            </p:nvGrpSpPr>
            <p:grpSpPr>
              <a:xfrm>
                <a:off x="9220200" y="1619268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3D76532E-9A6D-CA3F-57EC-5D21EB5CAE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AC41999-C875-A1B3-BBA3-89048F3170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89F7568-7BFD-3EEE-774F-64298AD62ABC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3DAD9A4-7EB5-C8A8-D74A-08523ACF68F8}"/>
                  </a:ext>
                </a:extLst>
              </p:cNvPr>
              <p:cNvGrpSpPr/>
              <p:nvPr/>
            </p:nvGrpSpPr>
            <p:grpSpPr>
              <a:xfrm>
                <a:off x="9220200" y="1773468"/>
                <a:ext cx="2895600" cy="75692"/>
                <a:chOff x="4639673" y="1649035"/>
                <a:chExt cx="2895600" cy="75692"/>
              </a:xfrm>
              <a:solidFill>
                <a:srgbClr val="FFCCFF"/>
              </a:solidFill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E4C6FBE6-CB46-374B-94F5-13514312D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CC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1AC9EBF-AE0D-BB6E-A3CF-49FF00D096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CC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065E27B-B77B-6473-2005-A7FB81197443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CC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29619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D4A-C7B0-7ACF-2252-6F6FF363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4: Partitioning [Grouping]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78EA-A0C0-0027-7AA9-61F167C0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958685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Partitioning</a:t>
            </a:r>
            <a:r>
              <a:rPr lang="en-US"/>
              <a:t> = add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partition № </a:t>
            </a:r>
            <a:r>
              <a:rPr lang="en-US"/>
              <a:t>to each line</a:t>
            </a:r>
          </a:p>
          <a:p>
            <a:pPr lvl="1"/>
            <a:r>
              <a:rPr lang="en-US"/>
              <a:t>each line assigned to exactly one partition,</a:t>
            </a:r>
            <a:br>
              <a:rPr lang="en-US"/>
            </a:br>
            <a:r>
              <a:rPr lang="en-US"/>
              <a:t>based on a property of the concordance line (not on comparisons)</a:t>
            </a:r>
          </a:p>
          <a:p>
            <a:pPr lvl="1"/>
            <a:r>
              <a:rPr lang="en-US"/>
              <a:t>also provide ordered list of partitions with display labels, etc.</a:t>
            </a:r>
          </a:p>
          <a:p>
            <a:pPr marL="1371600" lvl="3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frequency breakdown of node strings</a:t>
            </a:r>
          </a:p>
          <a:p>
            <a:r>
              <a:rPr lang="en-US"/>
              <a:t>partition by POS tag of first (L1) or second (L2) token before node</a:t>
            </a:r>
          </a:p>
          <a:p>
            <a:r>
              <a:rPr lang="en-US"/>
              <a:t>partition by categorical metadata (variety, genre, speaker info, …)</a:t>
            </a:r>
          </a:p>
          <a:p>
            <a:r>
              <a:rPr lang="en-US"/>
              <a:t>partition by lemma trigram R1+R2+R3 (similar to KWIC patterns)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376E-7BA5-B7A5-C971-A9981413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0E6A-C541-57FA-0ABF-06E8B064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C711-FAAD-A552-EF0F-52FF010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31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40C072-F61D-082A-0B40-3B6A3FFFFFA1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9" name="Picture 8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245DB762-7C48-1224-FD8C-48C0917E3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D3BA23-A4B7-1069-D318-70B04935767E}"/>
                </a:ext>
              </a:extLst>
            </p:cNvPr>
            <p:cNvGrpSpPr/>
            <p:nvPr/>
          </p:nvGrpSpPr>
          <p:grpSpPr>
            <a:xfrm>
              <a:off x="9235273" y="485041"/>
              <a:ext cx="2461260" cy="1261414"/>
              <a:chOff x="9220200" y="389350"/>
              <a:chExt cx="2895600" cy="1484016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6FA31D5-1627-D496-6CB2-93742DBA7A58}"/>
                  </a:ext>
                </a:extLst>
              </p:cNvPr>
              <p:cNvGrpSpPr/>
              <p:nvPr/>
            </p:nvGrpSpPr>
            <p:grpSpPr>
              <a:xfrm>
                <a:off x="9220200" y="389350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C618F7A1-BDC8-9C63-3401-3FD416CBE5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5A2DBDA-CFE9-E5B1-5913-26845CD462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AC8612E9-6F81-8008-24D1-35F9A4B4C47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02ED71-6230-C3D4-C249-7EA73AB7ECF5}"/>
                  </a:ext>
                </a:extLst>
              </p:cNvPr>
              <p:cNvGrpSpPr/>
              <p:nvPr/>
            </p:nvGrpSpPr>
            <p:grpSpPr>
              <a:xfrm>
                <a:off x="9220200" y="545830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E7E98B9-05E1-81C2-47D2-6C3C34557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964DD2D-1CDE-7754-4F47-B8E1C18AFB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9E83617-9587-3F29-7E44-575C278DC6C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C205B41-6726-0D20-3AA2-8EC5A1796F06}"/>
                  </a:ext>
                </a:extLst>
              </p:cNvPr>
              <p:cNvGrpSpPr/>
              <p:nvPr/>
            </p:nvGrpSpPr>
            <p:grpSpPr>
              <a:xfrm>
                <a:off x="9220200" y="858790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73BA7D4-953D-8018-1C1B-FB0F500B1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2E31DC60-EB5A-C1F2-705F-FCE357224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5F690920-DBF4-2FC3-F0D1-9A9A739790C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912788C-768C-D5C9-7316-63B767F5D87F}"/>
                  </a:ext>
                </a:extLst>
              </p:cNvPr>
              <p:cNvGrpSpPr/>
              <p:nvPr/>
            </p:nvGrpSpPr>
            <p:grpSpPr>
              <a:xfrm>
                <a:off x="9220200" y="1015270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9D15ECE-DCF1-A151-013E-B743D112D2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B211B9E-5472-49F7-2653-25403F5AB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B65623D-8211-0F7E-A718-536A5CDBC413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69884CE-6111-5FC4-D509-83A60B2A669F}"/>
                  </a:ext>
                </a:extLst>
              </p:cNvPr>
              <p:cNvGrpSpPr/>
              <p:nvPr/>
            </p:nvGrpSpPr>
            <p:grpSpPr>
              <a:xfrm>
                <a:off x="9220200" y="117175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2978B00-A226-0FB1-30C3-273A05BBF8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2543ADB8-50B1-DC61-F534-A41271EA1A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0173A332-6FAF-7F62-D867-019499B8927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1D4FE12-2C83-A86D-858A-96DBD3203A30}"/>
                  </a:ext>
                </a:extLst>
              </p:cNvPr>
              <p:cNvGrpSpPr/>
              <p:nvPr/>
            </p:nvGrpSpPr>
            <p:grpSpPr>
              <a:xfrm>
                <a:off x="9220200" y="148471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25000"/>
                </a:schemeClr>
              </a:solidFill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A59E3E0-9968-8157-F74D-46DDF91193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BEB21D6-FD71-4AD6-7819-A917B1AD34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AEEF803-F3E4-C046-0987-8909700288EB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3AC49EB-D458-1649-0C35-89BF6522347F}"/>
                  </a:ext>
                </a:extLst>
              </p:cNvPr>
              <p:cNvGrpSpPr/>
              <p:nvPr/>
            </p:nvGrpSpPr>
            <p:grpSpPr>
              <a:xfrm>
                <a:off x="9220200" y="1641190"/>
                <a:ext cx="2895600" cy="75692"/>
                <a:chOff x="4639673" y="1649035"/>
                <a:chExt cx="2895600" cy="75692"/>
              </a:xfrm>
              <a:solidFill>
                <a:srgbClr val="FF99CC"/>
              </a:solidFill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E86387F-99D9-A535-B6E0-FB0EEE3DE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9B9C874-28F4-FE2F-B41A-B53FDA6563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DF31D19-6672-F08B-49D5-3EA4ECD61C0E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99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856DC45-AA51-EB5B-6A1C-E2D1FAD048E9}"/>
                  </a:ext>
                </a:extLst>
              </p:cNvPr>
              <p:cNvGrpSpPr/>
              <p:nvPr/>
            </p:nvGrpSpPr>
            <p:grpSpPr>
              <a:xfrm>
                <a:off x="9220200" y="1797674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90000"/>
                </a:schemeClr>
              </a:solidFill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52B552C-D5CA-849A-E905-A9C294FEE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4CF66A9-8233-8F11-1455-E1DCF588E5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17408E-2649-371C-826B-B63327061547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16845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CD4A-C7B0-7ACF-2252-6F6FF363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5: Clustering [Grouping]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78EA-A0C0-0027-7AA9-61F167C0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958686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lang="en-US"/>
              <a:t> = add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ordered tree</a:t>
            </a:r>
            <a:r>
              <a:rPr lang="en-US"/>
              <a:t> over lines</a:t>
            </a:r>
          </a:p>
          <a:p>
            <a:pPr lvl="1"/>
            <a:r>
              <a:rPr lang="en-US"/>
              <a:t>based on pairwise similarities of concordance lines</a:t>
            </a:r>
          </a:p>
          <a:p>
            <a:pPr lvl="1"/>
            <a:r>
              <a:rPr lang="en-US"/>
              <a:t>hierarchical clustering ➞ deep tree, flat clustering ➞ single-level tree</a:t>
            </a:r>
          </a:p>
          <a:p>
            <a:pPr lvl="1"/>
            <a:r>
              <a:rPr lang="en-US"/>
              <a:t>tree describes both nesting and preference order of clusters</a:t>
            </a:r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clustering based on lexical similarity (shared words), semantic similarity (sentence/word embeddings), or syntactic similarity</a:t>
            </a:r>
          </a:p>
          <a:p>
            <a:r>
              <a:rPr lang="en-US"/>
              <a:t>clustering based on multiple metadata features ➞ similarity score</a:t>
            </a:r>
          </a:p>
          <a:p>
            <a:r>
              <a:rPr lang="en-US"/>
              <a:t>all clusterings: either flat or hierarchical, with different algorithms</a:t>
            </a:r>
          </a:p>
          <a:p>
            <a:r>
              <a:rPr lang="en-US"/>
              <a:t>context tree (on POS tags, lemmas, semantic tags, 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D376E-7BA5-B7A5-C971-A9981413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0E6A-C541-57FA-0ABF-06E8B064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C711-FAAD-A552-EF0F-52FF0107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32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40C072-F61D-082A-0B40-3B6A3FFFFFA1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9" name="Picture 8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245DB762-7C48-1224-FD8C-48C0917E3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D3BA23-A4B7-1069-D318-70B04935767E}"/>
                </a:ext>
              </a:extLst>
            </p:cNvPr>
            <p:cNvGrpSpPr/>
            <p:nvPr/>
          </p:nvGrpSpPr>
          <p:grpSpPr>
            <a:xfrm>
              <a:off x="9235273" y="485041"/>
              <a:ext cx="2461260" cy="1261414"/>
              <a:chOff x="9220200" y="389350"/>
              <a:chExt cx="2895600" cy="1484016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6FA31D5-1627-D496-6CB2-93742DBA7A58}"/>
                  </a:ext>
                </a:extLst>
              </p:cNvPr>
              <p:cNvGrpSpPr/>
              <p:nvPr/>
            </p:nvGrpSpPr>
            <p:grpSpPr>
              <a:xfrm>
                <a:off x="9220200" y="389350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C618F7A1-BDC8-9C63-3401-3FD416CBE5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5A2DBDA-CFE9-E5B1-5913-26845CD462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AC8612E9-6F81-8008-24D1-35F9A4B4C47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02ED71-6230-C3D4-C249-7EA73AB7ECF5}"/>
                  </a:ext>
                </a:extLst>
              </p:cNvPr>
              <p:cNvGrpSpPr/>
              <p:nvPr/>
            </p:nvGrpSpPr>
            <p:grpSpPr>
              <a:xfrm>
                <a:off x="9220200" y="545830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E7E98B9-05E1-81C2-47D2-6C3C34557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8964DD2D-1CDE-7754-4F47-B8E1C18AFB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9E83617-9587-3F29-7E44-575C278DC6C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C205B41-6726-0D20-3AA2-8EC5A1796F06}"/>
                  </a:ext>
                </a:extLst>
              </p:cNvPr>
              <p:cNvGrpSpPr/>
              <p:nvPr/>
            </p:nvGrpSpPr>
            <p:grpSpPr>
              <a:xfrm>
                <a:off x="9220200" y="858790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073BA7D4-953D-8018-1C1B-FB0F500B1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2E31DC60-EB5A-C1F2-705F-FCE357224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5F690920-DBF4-2FC3-F0D1-9A9A739790C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912788C-768C-D5C9-7316-63B767F5D87F}"/>
                  </a:ext>
                </a:extLst>
              </p:cNvPr>
              <p:cNvGrpSpPr/>
              <p:nvPr/>
            </p:nvGrpSpPr>
            <p:grpSpPr>
              <a:xfrm>
                <a:off x="9220200" y="1015270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9D15ECE-DCF1-A151-013E-B743D112D2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B211B9E-5472-49F7-2653-25403F5AB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B65623D-8211-0F7E-A718-536A5CDBC413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69884CE-6111-5FC4-D509-83A60B2A669F}"/>
                  </a:ext>
                </a:extLst>
              </p:cNvPr>
              <p:cNvGrpSpPr/>
              <p:nvPr/>
            </p:nvGrpSpPr>
            <p:grpSpPr>
              <a:xfrm>
                <a:off x="9220200" y="117175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2978B00-A226-0FB1-30C3-273A05BBF8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2543ADB8-50B1-DC61-F534-A41271EA1A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0173A332-6FAF-7F62-D867-019499B89278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1D4FE12-2C83-A86D-858A-96DBD3203A30}"/>
                  </a:ext>
                </a:extLst>
              </p:cNvPr>
              <p:cNvGrpSpPr/>
              <p:nvPr/>
            </p:nvGrpSpPr>
            <p:grpSpPr>
              <a:xfrm>
                <a:off x="9220200" y="1484710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25000"/>
                </a:schemeClr>
              </a:solidFill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A59E3E0-9968-8157-F74D-46DDF91193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BEB21D6-FD71-4AD6-7819-A917B1AD34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AEEF803-F3E4-C046-0987-8909700288EB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3AC49EB-D458-1649-0C35-89BF6522347F}"/>
                  </a:ext>
                </a:extLst>
              </p:cNvPr>
              <p:cNvGrpSpPr/>
              <p:nvPr/>
            </p:nvGrpSpPr>
            <p:grpSpPr>
              <a:xfrm>
                <a:off x="9220200" y="1641190"/>
                <a:ext cx="2895600" cy="75692"/>
                <a:chOff x="4639673" y="1649035"/>
                <a:chExt cx="2895600" cy="75692"/>
              </a:xfrm>
              <a:solidFill>
                <a:srgbClr val="FF99CC"/>
              </a:solidFill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E86387F-99D9-A535-B6E0-FB0EEE3DE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9B9C874-28F4-FE2F-B41A-B53FDA6563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99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DF31D19-6672-F08B-49D5-3EA4ECD61C0E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99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856DC45-AA51-EB5B-6A1C-E2D1FAD048E9}"/>
                  </a:ext>
                </a:extLst>
              </p:cNvPr>
              <p:cNvGrpSpPr/>
              <p:nvPr/>
            </p:nvGrpSpPr>
            <p:grpSpPr>
              <a:xfrm>
                <a:off x="9220200" y="1797674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90000"/>
                </a:schemeClr>
              </a:solidFill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52B552C-D5CA-849A-E905-A9C294FEE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4CF66A9-8233-8F11-1455-E1DCF588E5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17408E-2649-371C-826B-B63327061547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50073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DE2C-3497-8927-1713-3BEA2FED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Aside: Context trees &amp; KWIC patterns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6B417-315E-189B-5F0B-321B8E58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2EE7C-8D97-7A2A-E9FF-2D88AC5C9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7AD35-E450-E0B1-6EDF-A434DCB8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277FF-03A3-DA55-1DB1-409AC832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75" y="1349902"/>
            <a:ext cx="5561710" cy="3963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A4E89C-5BA2-5AA5-3F8D-746A0F184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59" y="1276349"/>
            <a:ext cx="3774785" cy="5180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C1D314-0584-B626-6543-AB9E0F41B517}"/>
              </a:ext>
            </a:extLst>
          </p:cNvPr>
          <p:cNvSpPr txBox="1"/>
          <p:nvPr/>
        </p:nvSpPr>
        <p:spPr>
          <a:xfrm>
            <a:off x="4062844" y="5619303"/>
            <a:ext cx="3774785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The Word Tree</a:t>
            </a:r>
            <a:br>
              <a:rPr lang="en-US" sz="20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</a:b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(Wattenberg &amp; Viégas, 2008)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F890-1EEF-06BC-8CB4-BE494102706B}"/>
              </a:ext>
            </a:extLst>
          </p:cNvPr>
          <p:cNvSpPr txBox="1"/>
          <p:nvPr/>
        </p:nvSpPr>
        <p:spPr>
          <a:xfrm>
            <a:off x="8077200" y="3474529"/>
            <a:ext cx="2743200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(Evert, ICAME 2007)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56BE5-F2A0-C212-E4F9-A737DEE893B7}"/>
              </a:ext>
            </a:extLst>
          </p:cNvPr>
          <p:cNvSpPr txBox="1"/>
          <p:nvPr/>
        </p:nvSpPr>
        <p:spPr>
          <a:xfrm>
            <a:off x="7432158" y="4788568"/>
            <a:ext cx="44717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0538" indent="-490538"/>
            <a:r>
              <a:rPr lang="en-US" sz="2800">
                <a:latin typeface="FAUSans Office" panose="020B0504010101010104" pitchFamily="34" charset="77"/>
                <a:cs typeface="FAUSans Office" panose="020B0504010101010104" pitchFamily="34" charset="77"/>
              </a:rPr>
              <a:t>➞	</a:t>
            </a:r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sorting algorithm </a:t>
            </a:r>
            <a:r>
              <a:rPr lang="en-US" sz="2800">
                <a:latin typeface="FAUSans Office" panose="020B0504010101010104" pitchFamily="34" charset="77"/>
                <a:cs typeface="FAUSans Office" panose="020B0504010101010104" pitchFamily="34" charset="77"/>
              </a:rPr>
              <a:t>for concordance reading 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(Anthony 2022)</a:t>
            </a:r>
          </a:p>
          <a:p>
            <a:pPr marL="490538" indent="-490538"/>
            <a:r>
              <a:rPr lang="en-US" sz="2800" i="1">
                <a:latin typeface="FAUSans Office" panose="020B0504010101010104" pitchFamily="34" charset="77"/>
                <a:cs typeface="FAUSans Office" panose="020B0504010101010104" pitchFamily="34" charset="77"/>
              </a:rPr>
              <a:t>… 	but 3 different versions</a:t>
            </a:r>
          </a:p>
        </p:txBody>
      </p:sp>
    </p:spTree>
    <p:extLst>
      <p:ext uri="{BB962C8B-B14F-4D97-AF65-F5344CB8AC3E}">
        <p14:creationId xmlns:p14="http://schemas.microsoft.com/office/powerpoint/2010/main" val="1893325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928E-C931-932F-BB4D-0A04228C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Strategy 1': Manual Selecting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FD194-F243-18AE-5329-DF2D8F63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504020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Selecting</a:t>
            </a:r>
            <a:r>
              <a:rPr lang="en-US"/>
              <a:t> based on manual choice made by user</a:t>
            </a:r>
          </a:p>
          <a:p>
            <a:pPr lvl="1"/>
            <a:r>
              <a:rPr lang="en-US"/>
              <a:t>also adds Boolean variable &amp; can be inverted</a:t>
            </a:r>
          </a:p>
          <a:p>
            <a:pPr lvl="1"/>
            <a:r>
              <a:rPr lang="en-US"/>
              <a:t>direct selection of lines vs. indirect (via set ID or supplementary information)</a:t>
            </a:r>
          </a:p>
          <a:p>
            <a:pPr lvl="1"/>
            <a:endParaRPr lang="en-US"/>
          </a:p>
          <a:p>
            <a:pPr marL="0" indent="0">
              <a:buNone/>
            </a:pPr>
            <a:r>
              <a:rPr lang="en-US"/>
              <a:t>Examples</a:t>
            </a:r>
          </a:p>
          <a:p>
            <a:r>
              <a:rPr lang="en-US"/>
              <a:t>manual validation of concordance lines (e.g. false positives)</a:t>
            </a:r>
          </a:p>
          <a:p>
            <a:r>
              <a:rPr lang="en-US"/>
              <a:t>select sets by ID (after Grouping) or range of lines (after Ordering)</a:t>
            </a:r>
          </a:p>
          <a:p>
            <a:r>
              <a:rPr lang="en-US"/>
              <a:t>threshold based on ranking scores (returned as supplementary info)</a:t>
            </a:r>
          </a:p>
          <a:p>
            <a:r>
              <a:rPr lang="en-US"/>
              <a:t>“interactive” algorithms (e.g. click individual lines or sets) vs.</a:t>
            </a:r>
            <a:br>
              <a:rPr lang="en-US"/>
            </a:br>
            <a:r>
              <a:rPr lang="en-US"/>
              <a:t>“non-interactive” algorithms (e.g. top-</a:t>
            </a:r>
            <a:r>
              <a:rPr lang="en-US" i="1"/>
              <a:t>n</a:t>
            </a:r>
            <a:r>
              <a:rPr lang="en-US"/>
              <a:t> lines in ranking)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D4AC-0195-DBC6-16C1-AE775DFD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D0446-6EE5-4CE9-FC5F-B1B80EFB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3D3AD-75FA-85D5-8630-89906D22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34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F1FE46-8168-48E2-5BFD-BFCE639649D2}"/>
              </a:ext>
            </a:extLst>
          </p:cNvPr>
          <p:cNvGrpSpPr/>
          <p:nvPr/>
        </p:nvGrpSpPr>
        <p:grpSpPr>
          <a:xfrm>
            <a:off x="8892208" y="229976"/>
            <a:ext cx="3147391" cy="1969886"/>
            <a:chOff x="8892208" y="229976"/>
            <a:chExt cx="3147391" cy="1969886"/>
          </a:xfrm>
        </p:grpSpPr>
        <p:pic>
          <p:nvPicPr>
            <p:cNvPr id="9" name="Picture 8" descr="A black screen with a white border&#10;&#10;Description automatically generated">
              <a:extLst>
                <a:ext uri="{FF2B5EF4-FFF2-40B4-BE49-F238E27FC236}">
                  <a16:creationId xmlns:a16="http://schemas.microsoft.com/office/drawing/2014/main" id="{59321414-49CE-57E2-2654-5C3747A82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208" y="229976"/>
              <a:ext cx="3147391" cy="1969886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45F6AAB-4FB0-E940-BF71-08C49EB2146F}"/>
                </a:ext>
              </a:extLst>
            </p:cNvPr>
            <p:cNvGrpSpPr/>
            <p:nvPr/>
          </p:nvGrpSpPr>
          <p:grpSpPr>
            <a:xfrm>
              <a:off x="9240748" y="429003"/>
              <a:ext cx="2461260" cy="686474"/>
              <a:chOff x="9220200" y="438576"/>
              <a:chExt cx="2895600" cy="85809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1AED4BD-EE1A-10EE-B495-3483BCF82FC9}"/>
                  </a:ext>
                </a:extLst>
              </p:cNvPr>
              <p:cNvGrpSpPr/>
              <p:nvPr/>
            </p:nvGrpSpPr>
            <p:grpSpPr>
              <a:xfrm>
                <a:off x="9220200" y="438576"/>
                <a:ext cx="2895600" cy="75692"/>
                <a:chOff x="4639673" y="1649035"/>
                <a:chExt cx="2895600" cy="75692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388822B-35CC-57B1-863F-EC0565E5F2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3B13F04B-E165-C29C-5F2D-C75D0F2EF9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ln w="38100">
                  <a:solidFill>
                    <a:srgbClr val="F8AAB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280DC58-A24A-4F0D-2E41-F72CAC62E7E2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13E0521-F975-B2FA-FEA5-78D6A6620860}"/>
                  </a:ext>
                </a:extLst>
              </p:cNvPr>
              <p:cNvGrpSpPr/>
              <p:nvPr/>
            </p:nvGrpSpPr>
            <p:grpSpPr>
              <a:xfrm>
                <a:off x="9220200" y="595056"/>
                <a:ext cx="2895600" cy="75692"/>
                <a:chOff x="4639673" y="1649035"/>
                <a:chExt cx="2895600" cy="75692"/>
              </a:xfrm>
              <a:solidFill>
                <a:srgbClr val="CC0066"/>
              </a:solidFill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A7703A8-2D16-DA9F-B1D3-FF5ED823D7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75DC674-E27D-3BE1-7E1F-F59A45B35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CC00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CEBBAF86-0B88-C90D-20EF-46E2007C9097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CC00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C1D66B4-9DCE-3078-46C9-87DFB0C230B0}"/>
                  </a:ext>
                </a:extLst>
              </p:cNvPr>
              <p:cNvGrpSpPr/>
              <p:nvPr/>
            </p:nvGrpSpPr>
            <p:grpSpPr>
              <a:xfrm>
                <a:off x="9220200" y="751536"/>
                <a:ext cx="2895600" cy="75692"/>
                <a:chOff x="4639673" y="1649035"/>
                <a:chExt cx="2895600" cy="75692"/>
              </a:xfrm>
              <a:solidFill>
                <a:srgbClr val="FF3399"/>
              </a:solidFill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93AA959-5436-805E-E05D-EB428419D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44135C0-94B5-1D53-A082-5B5305B06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9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F390E87-AB30-8552-5E1B-321F3272ADB9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81CAE1C-66DB-9CE9-C1B8-69DD92BAA40E}"/>
                  </a:ext>
                </a:extLst>
              </p:cNvPr>
              <p:cNvGrpSpPr/>
              <p:nvPr/>
            </p:nvGrpSpPr>
            <p:grpSpPr>
              <a:xfrm>
                <a:off x="9220200" y="908016"/>
                <a:ext cx="2895600" cy="75692"/>
                <a:chOff x="4639673" y="1649035"/>
                <a:chExt cx="2895600" cy="75692"/>
              </a:xfrm>
              <a:solidFill>
                <a:srgbClr val="FF33CC"/>
              </a:solidFill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CC6F9E95-D191-FAC8-D7BC-DB970AB61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5EC3FCD-866C-A515-366F-1F9C13FAB7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F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3947BB7-6FA7-CB85-BF20-82B18FD2F05D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CF150C3-72FB-1871-F018-E7BF134277B9}"/>
                  </a:ext>
                </a:extLst>
              </p:cNvPr>
              <p:cNvGrpSpPr/>
              <p:nvPr/>
            </p:nvGrpSpPr>
            <p:grpSpPr>
              <a:xfrm>
                <a:off x="9220200" y="1064496"/>
                <a:ext cx="2895600" cy="75692"/>
                <a:chOff x="4639673" y="1649035"/>
                <a:chExt cx="2895600" cy="75692"/>
              </a:xfrm>
              <a:solidFill>
                <a:srgbClr val="FBD4DC"/>
              </a:solidFill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87A7622-0AA5-2970-BFDA-AC322FF1B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53E79C91-849C-8641-8744-EFD529DD3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rgbClr val="FBD4D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62FD323-4397-82DC-97A9-83E7503F5F04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rgbClr val="FBD4D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9553236-8533-5832-7452-2159A445AF31}"/>
                  </a:ext>
                </a:extLst>
              </p:cNvPr>
              <p:cNvGrpSpPr/>
              <p:nvPr/>
            </p:nvGrpSpPr>
            <p:grpSpPr>
              <a:xfrm>
                <a:off x="9220200" y="1220976"/>
                <a:ext cx="2895600" cy="75692"/>
                <a:chOff x="4639673" y="1649035"/>
                <a:chExt cx="2895600" cy="75692"/>
              </a:xfrm>
              <a:solidFill>
                <a:schemeClr val="accent2">
                  <a:lumMod val="50000"/>
                </a:schemeClr>
              </a:solidFill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3E283E2-37E6-2014-D7EF-43B01C653D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39673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0FC8194D-1555-8C58-AEDE-9F3B23DB4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05946" y="1679007"/>
                  <a:ext cx="1329327" cy="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15A1D051-1385-92C3-40FA-03917FD5669A}"/>
                    </a:ext>
                  </a:extLst>
                </p:cNvPr>
                <p:cNvSpPr/>
                <p:nvPr/>
              </p:nvSpPr>
              <p:spPr>
                <a:xfrm>
                  <a:off x="6045200" y="1649035"/>
                  <a:ext cx="76584" cy="75692"/>
                </a:xfrm>
                <a:prstGeom prst="ellipse">
                  <a:avLst/>
                </a:prstGeom>
                <a:grpFill/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55976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34689-F3A2-9FF8-D757-13740636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EB5-6119-10DB-960A-DFDCEE7A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C9FD6-1822-BF60-2DEE-E10EF1773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Analysis tree as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research documentation</a:t>
            </a:r>
          </a:p>
          <a:p>
            <a:pPr lvl="1"/>
            <a:r>
              <a:rPr lang="en-US"/>
              <a:t>concordance view uniquely determined by path from root node</a:t>
            </a:r>
          </a:p>
          <a:p>
            <a:pPr lvl="1"/>
            <a:r>
              <a:rPr lang="en-US"/>
              <a:t>bookmarked nodes = basis for interpretation &amp; discussion</a:t>
            </a:r>
          </a:p>
          <a:p>
            <a:r>
              <a:rPr lang="en-US"/>
              <a:t>Exact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reproduction</a:t>
            </a:r>
            <a:r>
              <a:rPr lang="en-US"/>
              <a:t> with identical concordance data</a:t>
            </a:r>
          </a:p>
          <a:p>
            <a:pPr lvl="1"/>
            <a:r>
              <a:rPr lang="en-US"/>
              <a:t>readers can reproduce published results completely</a:t>
            </a:r>
          </a:p>
          <a:p>
            <a:pPr lvl="1"/>
            <a:r>
              <a:rPr lang="en-US"/>
              <a:t>but also explore further concordance views</a:t>
            </a:r>
          </a:p>
          <a:p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Save</a:t>
            </a:r>
            <a:r>
              <a:rPr lang="en-US"/>
              <a:t> /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load</a:t>
            </a:r>
            <a:r>
              <a:rPr lang="en-US"/>
              <a:t> analysis tree ➞ continue concordance reading later</a:t>
            </a:r>
          </a:p>
          <a:p>
            <a:r>
              <a:rPr lang="en-US"/>
              <a:t>Analysis tree as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template</a:t>
            </a:r>
            <a:r>
              <a:rPr lang="en-US"/>
              <a:t> for concordance organisation</a:t>
            </a:r>
          </a:p>
          <a:p>
            <a:pPr lvl="1"/>
            <a:r>
              <a:rPr lang="en-US"/>
              <a:t>“replay” tree on a new concordance (possibly from different corpus)</a:t>
            </a:r>
          </a:p>
          <a:p>
            <a:pPr lvl="1"/>
            <a:r>
              <a:rPr lang="en-US"/>
              <a:t>interactive manual selection has to be omitted (➞ not meaningful)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A545C-F8A8-8760-8317-7066FADA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BF611-9955-920E-CA34-7F9D378FC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8BB95-B8EC-9AFD-B446-5590FC9E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42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963A-7EDF-7735-4277-86E77D96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E6C5-61B4-2092-EB27-32FA8BAD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for a break 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1D918-47C6-1D26-1A62-3C838F1E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32" y="2261419"/>
            <a:ext cx="4291536" cy="38623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41D843-534E-C7F2-9AF9-4F286FA2F64A}"/>
              </a:ext>
            </a:extLst>
          </p:cNvPr>
          <p:cNvSpPr/>
          <p:nvPr/>
        </p:nvSpPr>
        <p:spPr>
          <a:xfrm>
            <a:off x="4251648" y="1335625"/>
            <a:ext cx="368870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8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5"/>
                    </a:gs>
                    <a:gs pos="50000">
                      <a:schemeClr val="accent5">
                        <a:lumMod val="75000"/>
                      </a:schemeClr>
                    </a:gs>
                    <a:gs pos="100000">
                      <a:schemeClr val="accent5">
                        <a:lumMod val="50000"/>
                      </a:schemeClr>
                    </a:gs>
                  </a:gsLst>
                  <a:lin ang="4500000" scaled="0"/>
                </a:gra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FAUSans Office" panose="020B0504010101010104" pitchFamily="34" charset="77"/>
                <a:cs typeface="FAUSans Office" panose="020B0504010101010104" pitchFamily="34" charset="77"/>
              </a:rPr>
              <a:t>Coffee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AB741C-CC12-1EA7-8B3F-FF026049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24 Sep 2026 | © RC21 Team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ED8C60-8FDE-6C5E-11BA-F45DE400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FlexiConc: Reading concordances with algorithms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081470-5C1F-559D-9F6D-CDB73270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956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45E9A1-7B42-EFFA-BBF6-AC830708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Hands-on: analysis tree in CLiC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4DF01-45BB-7004-FA1F-B150D511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A882-B147-FBD0-8C14-F2D932FC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89EF1-AAF6-77C4-CF63-B0EFFA26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5FD3D6-019B-9127-0890-AF650B7DD8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66"/>
          <a:stretch>
            <a:fillRect/>
          </a:stretch>
        </p:blipFill>
        <p:spPr>
          <a:xfrm>
            <a:off x="0" y="1208316"/>
            <a:ext cx="12192000" cy="533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8A20F6-15B5-4C31-F726-64EE2C26891B}"/>
              </a:ext>
            </a:extLst>
          </p:cNvPr>
          <p:cNvSpPr txBox="1"/>
          <p:nvPr/>
        </p:nvSpPr>
        <p:spPr>
          <a:xfrm>
            <a:off x="530942" y="1986116"/>
            <a:ext cx="4680154" cy="617544"/>
          </a:xfrm>
          <a:prstGeom prst="roundRect">
            <a:avLst>
              <a:gd name="adj" fmla="val 26389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800" b="1">
                <a:latin typeface="FAUSans Office" panose="020B0504010101010104" pitchFamily="34" charset="77"/>
                <a:cs typeface="FAUSans Office" panose="020B0504010101010104" pitchFamily="34" charset="77"/>
              </a:rPr>
              <a:t>https://clic-fiction.com/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CF7D6E-763F-FA06-7DEC-5CFF446D076B}"/>
              </a:ext>
            </a:extLst>
          </p:cNvPr>
          <p:cNvGrpSpPr/>
          <p:nvPr/>
        </p:nvGrpSpPr>
        <p:grpSpPr>
          <a:xfrm>
            <a:off x="6749843" y="1632155"/>
            <a:ext cx="4793227" cy="2977447"/>
            <a:chOff x="6749843" y="1632155"/>
            <a:chExt cx="4793227" cy="2977447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DF3D248-874E-C91D-D9FE-2CC08E6158E4}"/>
                </a:ext>
              </a:extLst>
            </p:cNvPr>
            <p:cNvSpPr/>
            <p:nvPr/>
          </p:nvSpPr>
          <p:spPr>
            <a:xfrm>
              <a:off x="6749843" y="3931176"/>
              <a:ext cx="4793227" cy="678426"/>
            </a:xfrm>
            <a:prstGeom prst="roundRect">
              <a:avLst>
                <a:gd name="adj" fmla="val 50000"/>
              </a:avLst>
            </a:prstGeom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2000" b="1">
                  <a:solidFill>
                    <a:schemeClr val="accent2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clic-analysis-tree_head_19c.json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36CFBD1-E888-4166-DFD7-437C2FFF66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5071" y="1632155"/>
              <a:ext cx="314632" cy="2299020"/>
            </a:xfrm>
            <a:prstGeom prst="straightConnector1">
              <a:avLst/>
            </a:prstGeom>
            <a:ln w="50800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7004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5287-8BD4-8C84-1C5D-FE300426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Exercise: body language patterns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39549-A9D5-B837-13AC-1F72B5C17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1643350"/>
          </a:xfrm>
        </p:spPr>
        <p:txBody>
          <a:bodyPr/>
          <a:lstStyle/>
          <a:p>
            <a:pPr>
              <a:defRPr/>
            </a:pPr>
            <a:r>
              <a:rPr lang="en-GB" dirty="0"/>
              <a:t>Search words: </a:t>
            </a:r>
            <a:r>
              <a:rPr lang="en-GB" i="1" dirty="0"/>
              <a:t>cheeks, cheek, neck, fingers, ear </a:t>
            </a:r>
            <a:endParaRPr lang="en-GB" dirty="0"/>
          </a:p>
          <a:p>
            <a:pPr lvl="1">
              <a:defRPr/>
            </a:pPr>
            <a:r>
              <a:rPr lang="en-GB" dirty="0"/>
              <a:t>corpus: 19C fiction – focus on non-quotes</a:t>
            </a:r>
          </a:p>
          <a:p>
            <a:pPr>
              <a:defRPr/>
            </a:pPr>
            <a:r>
              <a:rPr lang="en-GB" dirty="0"/>
              <a:t>Your task: work through handout &amp; explore FlexiConc algorithms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You </a:t>
            </a:r>
          </a:p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8996F-F12C-B7C5-D7A6-EBACF87D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1100F-8AB9-1B57-38F1-1963803F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213F0-E7A7-FFC6-8C8A-7DAD73C9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D6B828-EE77-7739-2308-FFF3896F1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543"/>
          <a:stretch>
            <a:fillRect/>
          </a:stretch>
        </p:blipFill>
        <p:spPr bwMode="auto">
          <a:xfrm>
            <a:off x="0" y="3032146"/>
            <a:ext cx="12192000" cy="382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58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4C43-7729-D0EE-CCE9-77D680E9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543C-1697-7974-8C4C-EA06A425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e-DE" dirty="0"/>
              <a:t>References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9AC672F-AB7D-006C-8E06-FF0241E3A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6575" indent="-527050">
              <a:spcBef>
                <a:spcPts val="0"/>
              </a:spcBef>
              <a:buNone/>
            </a:pPr>
            <a:r>
              <a:rPr lang="en-US" sz="1800" dirty="0">
                <a:solidFill>
                  <a:srgbClr val="222222"/>
                </a:solidFill>
              </a:rPr>
              <a:t>Anthony, L. (2022). What can corpus software do? In O’Keeffe, A. and McCarthy, M. J., editors, </a:t>
            </a:r>
            <a:r>
              <a:rPr lang="en-US" sz="1800" i="1" dirty="0">
                <a:solidFill>
                  <a:srgbClr val="222222"/>
                </a:solidFill>
              </a:rPr>
              <a:t>The Routledge Handbook of Corpus Linguistics</a:t>
            </a:r>
            <a:r>
              <a:rPr lang="en-US" sz="1800" dirty="0">
                <a:solidFill>
                  <a:srgbClr val="222222"/>
                </a:solidFill>
              </a:rPr>
              <a:t>, chapter 9. Routledge, London, 2nd edition</a:t>
            </a:r>
          </a:p>
          <a:p>
            <a:pPr marL="536575" indent="-527050">
              <a:spcBef>
                <a:spcPts val="0"/>
              </a:spcBef>
              <a:buNone/>
            </a:pPr>
            <a:r>
              <a:rPr lang="en-US" sz="1800" dirty="0">
                <a:solidFill>
                  <a:srgbClr val="222222"/>
                </a:solidFill>
              </a:rPr>
              <a:t>Evert, S. (2007). Context graphs. Presentation at the </a:t>
            </a:r>
            <a:r>
              <a:rPr lang="en-US" sz="1800" i="1" dirty="0">
                <a:solidFill>
                  <a:srgbClr val="222222"/>
                </a:solidFill>
              </a:rPr>
              <a:t>ICAME 2007 Conference</a:t>
            </a:r>
            <a:r>
              <a:rPr lang="en-US" sz="1800" dirty="0">
                <a:solidFill>
                  <a:srgbClr val="222222"/>
                </a:solidFill>
              </a:rPr>
              <a:t>, Stratford upon Avon, UK.</a:t>
            </a:r>
          </a:p>
          <a:p>
            <a:pPr marL="536575" indent="-527050">
              <a:spcBef>
                <a:spcPts val="0"/>
              </a:spcBef>
              <a:buNone/>
            </a:pPr>
            <a:r>
              <a:rPr lang="en-US" sz="1800" dirty="0">
                <a:solidFill>
                  <a:srgbClr val="222222"/>
                </a:solidFill>
              </a:rPr>
              <a:t>Wattenberg, M. &amp; Viégas, F. B. (2008). The word tree, an interactive visual concordance. </a:t>
            </a:r>
            <a:r>
              <a:rPr lang="en-US" sz="1800" i="1" dirty="0">
                <a:solidFill>
                  <a:srgbClr val="222222"/>
                </a:solidFill>
              </a:rPr>
              <a:t>IEEE Transactions on Visualization and Computer Graphics</a:t>
            </a:r>
            <a:r>
              <a:rPr lang="en-US" sz="1800" dirty="0">
                <a:solidFill>
                  <a:srgbClr val="222222"/>
                </a:solidFill>
              </a:rPr>
              <a:t>, 14(6):1221–1228.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921B1-32DB-07C4-8443-6D7E7CC6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24 Sep 2026 | © RC21 Team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45E4D-AE27-A689-6290-F9500F5A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026E8-8982-EC07-28A8-779E2BEB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B2EB7B1D-155F-DE45-A4D9-3453DB08EE0D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73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242424"/>
      </a:dk2>
      <a:lt2>
        <a:srgbClr val="CCCCCC"/>
      </a:lt2>
      <a:accent1>
        <a:srgbClr val="54C5F3"/>
      </a:accent1>
      <a:accent2>
        <a:srgbClr val="F4AAB9"/>
      </a:accent2>
      <a:accent3>
        <a:srgbClr val="C0D7A1"/>
      </a:accent3>
      <a:accent4>
        <a:srgbClr val="C8A8F3"/>
      </a:accent4>
      <a:accent5>
        <a:srgbClr val="F3D4AE"/>
      </a:accent5>
      <a:accent6>
        <a:srgbClr val="65CBB9"/>
      </a:accent6>
      <a:hlink>
        <a:srgbClr val="5B19B5"/>
      </a:hlink>
      <a:folHlink>
        <a:srgbClr val="5B19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lIns="0" tIns="0" rIns="0" bIns="0" rtlCol="0" anchor="ctr">
        <a:noAutofit/>
      </a:bodyPr>
      <a:lstStyle>
        <a:defPPr algn="ctr">
          <a:defRPr sz="2400">
            <a:solidFill>
              <a:schemeClr val="tx1"/>
            </a:solidFill>
            <a:latin typeface="FAUSans Office" panose="020B0504010101010104" pitchFamily="34" charset="77"/>
            <a:cs typeface="FAUSans Office" panose="020B0504010101010104" pitchFamily="34" charset="77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9f7cd3-bec7-49ea-ba26-5e85d7756a91" xsi:nil="true"/>
    <lcf76f155ced4ddcb4097134ff3c332f xmlns="ff3c66ed-9060-4b44-be2d-3d344d05f2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863935D01D9249BB91A8139635CB70" ma:contentTypeVersion="11" ma:contentTypeDescription="Ein neues Dokument erstellen." ma:contentTypeScope="" ma:versionID="7508e537173d70d832e9d7ab3d209780">
  <xsd:schema xmlns:xsd="http://www.w3.org/2001/XMLSchema" xmlns:xs="http://www.w3.org/2001/XMLSchema" xmlns:p="http://schemas.microsoft.com/office/2006/metadata/properties" xmlns:ns2="ff3c66ed-9060-4b44-be2d-3d344d05f2dc" xmlns:ns3="5a9f7cd3-bec7-49ea-ba26-5e85d7756a91" targetNamespace="http://schemas.microsoft.com/office/2006/metadata/properties" ma:root="true" ma:fieldsID="7f7747821221f83d09423c73c547ba7e" ns2:_="" ns3:_="">
    <xsd:import namespace="ff3c66ed-9060-4b44-be2d-3d344d05f2dc"/>
    <xsd:import namespace="5a9f7cd3-bec7-49ea-ba26-5e85d7756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c66ed-9060-4b44-be2d-3d344d05f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0e979915-1b84-43d5-84e4-ad1a289bda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f7cd3-bec7-49ea-ba26-5e85d7756a9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d5b605a-5bf4-4ec9-8ac6-8280965f468e}" ma:internalName="TaxCatchAll" ma:showField="CatchAllData" ma:web="5a9f7cd3-bec7-49ea-ba26-5e85d7756a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D028DA-32C0-4908-B62D-9AF597270AB1}">
  <ds:schemaRefs>
    <ds:schemaRef ds:uri="http://purl.org/dc/elements/1.1/"/>
    <ds:schemaRef ds:uri="http://schemas.microsoft.com/office/infopath/2007/PartnerControls"/>
    <ds:schemaRef ds:uri="ff3c66ed-9060-4b44-be2d-3d344d05f2dc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5a9f7cd3-bec7-49ea-ba26-5e85d7756a91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1E5E88D-A801-4F03-815F-5EB728681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E550B3-170A-426D-BA08-360D67DAB8E1}">
  <ds:schemaRefs>
    <ds:schemaRef ds:uri="5a9f7cd3-bec7-49ea-ba26-5e85d7756a91"/>
    <ds:schemaRef ds:uri="ff3c66ed-9060-4b44-be2d-3d344d05f2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2efcef3-8496-40b8-9de8-f135982f3461}" enabled="0" method="" siteId="{b2efcef3-8496-40b8-9de8-f135982f34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11808</TotalTime>
  <Words>3069</Words>
  <Application>Microsoft Macintosh PowerPoint</Application>
  <PresentationFormat>Widescreen</PresentationFormat>
  <Paragraphs>552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Calibri</vt:lpstr>
      <vt:lpstr>Candara</vt:lpstr>
      <vt:lpstr>Consolas</vt:lpstr>
      <vt:lpstr>Wingdings</vt:lpstr>
      <vt:lpstr>Aptos</vt:lpstr>
      <vt:lpstr>FAUSans Office</vt:lpstr>
      <vt:lpstr>Arial</vt:lpstr>
      <vt:lpstr>Office Theme</vt:lpstr>
      <vt:lpstr>PowerPoint Presentation</vt:lpstr>
      <vt:lpstr>Orientation</vt:lpstr>
      <vt:lpstr>Our goal</vt:lpstr>
      <vt:lpstr>But why?</vt:lpstr>
      <vt:lpstr>But why?</vt:lpstr>
      <vt:lpstr>Concordance reading strategies</vt:lpstr>
      <vt:lpstr>From strategies to algorithms</vt:lpstr>
      <vt:lpstr>From strategies to algorithms</vt:lpstr>
      <vt:lpstr>From strategies to algorithms</vt:lpstr>
      <vt:lpstr>Combining algorithms</vt:lpstr>
      <vt:lpstr>Methodology: a reading procedure (Sinclair 2003)</vt:lpstr>
      <vt:lpstr>The analysis tree</vt:lpstr>
      <vt:lpstr>Combining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 mathematical model of organising conc.</vt:lpstr>
      <vt:lpstr>Concordance view</vt:lpstr>
      <vt:lpstr>Formalising algorithms</vt:lpstr>
      <vt:lpstr>Strategy 1: Selecting</vt:lpstr>
      <vt:lpstr>Strategy 2: Sorting [Ordering]</vt:lpstr>
      <vt:lpstr>Strategy 3: Ranking [Ordering]</vt:lpstr>
      <vt:lpstr>Strategy 4: Partitioning [Grouping]</vt:lpstr>
      <vt:lpstr>Strategy 5: Clustering [Grouping]</vt:lpstr>
      <vt:lpstr>Aside: Context trees &amp; KWIC patterns</vt:lpstr>
      <vt:lpstr>Strategy 1': Manual Selecting</vt:lpstr>
      <vt:lpstr>Research documentation</vt:lpstr>
      <vt:lpstr>Time for a break …</vt:lpstr>
      <vt:lpstr>Hands-on: analysis tree in CLiC</vt:lpstr>
      <vt:lpstr>Exercise: body language patterns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Finlayson (English Language and Linguistics)</dc:creator>
  <cp:lastModifiedBy> </cp:lastModifiedBy>
  <cp:revision>234</cp:revision>
  <dcterms:created xsi:type="dcterms:W3CDTF">2024-03-12T00:45:26Z</dcterms:created>
  <dcterms:modified xsi:type="dcterms:W3CDTF">2026-09-24T16:29:39Z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0x01010034863935D01D9249BB91A8139635CB70</vt:lpwstr>
  </property>
  <property fmtid="{D5CDD505-2E9C-101B-9397-08002B2CF9AE}" pid="3" name="MediaServiceImageTags">
    <vt:lpwstr/>
  </property>
  <property fmtid="{D5CDD505-2E9C-101B-9397-08002B2CF9AE}" pid="4" name="ICV">
    <vt:lpwstr/>
  </property>
  <property fmtid="{D5CDD505-2E9C-101B-9397-08002B2CF9AE}" pid="5" name="KSOProductBuildVer">
    <vt:lpwstr>1033-11.1.0.11711</vt:lpwstr>
  </property>
</Properties>
</file>