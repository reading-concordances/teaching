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 bookmarkIdSeed="2">
  <p:sldMasterIdLst>
    <p:sldMasterId id="2147483648" r:id="rId4"/>
  </p:sldMasterIdLst>
  <p:notesMasterIdLst>
    <p:notesMasterId r:id="rId44"/>
  </p:notesMasterIdLst>
  <p:handoutMasterIdLst>
    <p:handoutMasterId r:id="rId45"/>
  </p:handoutMasterIdLst>
  <p:sldIdLst>
    <p:sldId id="2685" r:id="rId5"/>
    <p:sldId id="2683" r:id="rId6"/>
    <p:sldId id="419" r:id="rId7"/>
    <p:sldId id="420" r:id="rId8"/>
    <p:sldId id="421" r:id="rId9"/>
    <p:sldId id="432" r:id="rId10"/>
    <p:sldId id="422" r:id="rId11"/>
    <p:sldId id="427" r:id="rId12"/>
    <p:sldId id="426" r:id="rId13"/>
    <p:sldId id="428" r:id="rId14"/>
    <p:sldId id="2650" r:id="rId15"/>
    <p:sldId id="2684" r:id="rId16"/>
    <p:sldId id="443" r:id="rId17"/>
    <p:sldId id="257" r:id="rId18"/>
    <p:sldId id="453" r:id="rId19"/>
    <p:sldId id="454" r:id="rId20"/>
    <p:sldId id="455" r:id="rId21"/>
    <p:sldId id="456" r:id="rId22"/>
    <p:sldId id="457" r:id="rId23"/>
    <p:sldId id="458" r:id="rId24"/>
    <p:sldId id="263" r:id="rId25"/>
    <p:sldId id="460" r:id="rId26"/>
    <p:sldId id="461" r:id="rId27"/>
    <p:sldId id="462" r:id="rId28"/>
    <p:sldId id="2701" r:id="rId29"/>
    <p:sldId id="2705" r:id="rId30"/>
    <p:sldId id="2706" r:id="rId31"/>
    <p:sldId id="447" r:id="rId32"/>
    <p:sldId id="448" r:id="rId33"/>
    <p:sldId id="449" r:id="rId34"/>
    <p:sldId id="450" r:id="rId35"/>
    <p:sldId id="467" r:id="rId36"/>
    <p:sldId id="451" r:id="rId37"/>
    <p:sldId id="2700" r:id="rId38"/>
    <p:sldId id="464" r:id="rId39"/>
    <p:sldId id="2648" r:id="rId40"/>
    <p:sldId id="2671" r:id="rId41"/>
    <p:sldId id="2707" r:id="rId42"/>
    <p:sldId id="2667" r:id="rId43"/>
  </p:sldIdLst>
  <p:sldSz cx="12192000" cy="6858000"/>
  <p:notesSz cx="6858000" cy="9144000"/>
  <p:embeddedFontLst>
    <p:embeddedFont>
      <p:font typeface="Candara" panose="020E0502030303020204" pitchFamily="34" charset="0"/>
      <p:regular r:id="rId46"/>
      <p:bold r:id="rId47"/>
      <p:italic r:id="rId48"/>
      <p:boldItalic r:id="rId49"/>
    </p:embeddedFont>
    <p:embeddedFont>
      <p:font typeface="Consolas" panose="020B0609020204030204" pitchFamily="49" charset="0"/>
      <p:regular r:id="rId50"/>
      <p:bold r:id="rId51"/>
      <p:italic r:id="rId52"/>
      <p:boldItalic r:id="rId53"/>
    </p:embeddedFont>
    <p:embeddedFont>
      <p:font typeface="FAUSans Office" panose="020B0504010101010104" pitchFamily="34" charset="77"/>
      <p:regular r:id="rId54"/>
      <p:bold r:id="rId55"/>
      <p:italic r:id="rId56"/>
      <p:boldItalic r:id="rId5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C05CF46-3410-AA0A-1245-8A9FE69B923A}" name="Piperski, Aleksandr" initials="PA" userId="S::to51xyhu@fauad.fau.de::f69a4bad-1b71-4b84-bcb6-3723fb1bc78f" providerId="AD"/>
  <p188:author id="{FEEC5457-15E6-6E38-F443-7A192C593AD5}" name="Dykes, Nathan" initials="DN" userId="S::la06moso@fauad.fau.de::bb86161d-c33f-41e7-93df-f57ac910d38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66"/>
    <a:srgbClr val="D60093"/>
    <a:srgbClr val="C0DAD2"/>
    <a:srgbClr val="BAC0D9"/>
    <a:srgbClr val="C0DABB"/>
    <a:srgbClr val="990033"/>
    <a:srgbClr val="FF99CC"/>
    <a:srgbClr val="FFCCFF"/>
    <a:srgbClr val="FBD4DC"/>
    <a:srgbClr val="F8AA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–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C4B1156A-380E-4F78-BDF5-A606A8083BF9}" styleName="Medium Style 4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17292A2E-F333-43FB-9621-5CBBE7FDCDCB}" styleName="Light Style 2 –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0A15C55-8517-42AA-B614-E9B94910E393}" styleName="Medium Style 2 –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E171933-4619-4E11-9A3F-F7608DF75F80}" styleName="Medium Style 1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72"/>
    <p:restoredTop sz="96300"/>
  </p:normalViewPr>
  <p:slideViewPr>
    <p:cSldViewPr snapToGrid="0">
      <p:cViewPr>
        <p:scale>
          <a:sx n="140" d="100"/>
          <a:sy n="140" d="100"/>
        </p:scale>
        <p:origin x="528" y="12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127" d="100"/>
          <a:sy n="127" d="100"/>
        </p:scale>
        <p:origin x="2928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font" Target="fonts/font2.fntdata"/><Relationship Id="rId50" Type="http://schemas.openxmlformats.org/officeDocument/2006/relationships/font" Target="fonts/font5.fntdata"/><Relationship Id="rId55" Type="http://schemas.openxmlformats.org/officeDocument/2006/relationships/font" Target="fonts/font10.fntdata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handoutMaster" Target="handoutMasters/handoutMaster1.xml"/><Relationship Id="rId53" Type="http://schemas.openxmlformats.org/officeDocument/2006/relationships/font" Target="fonts/font8.fntdata"/><Relationship Id="rId58" Type="http://schemas.openxmlformats.org/officeDocument/2006/relationships/presProps" Target="presProps.xml"/><Relationship Id="rId5" Type="http://schemas.openxmlformats.org/officeDocument/2006/relationships/slide" Target="slides/slide1.xml"/><Relationship Id="rId61" Type="http://schemas.openxmlformats.org/officeDocument/2006/relationships/tableStyles" Target="tableStyle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font" Target="fonts/font3.fntdata"/><Relationship Id="rId56" Type="http://schemas.openxmlformats.org/officeDocument/2006/relationships/font" Target="fonts/font11.fntdata"/><Relationship Id="rId8" Type="http://schemas.openxmlformats.org/officeDocument/2006/relationships/slide" Target="slides/slide4.xml"/><Relationship Id="rId51" Type="http://schemas.openxmlformats.org/officeDocument/2006/relationships/font" Target="fonts/font6.fntdata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font" Target="fonts/font1.fntdata"/><Relationship Id="rId59" Type="http://schemas.openxmlformats.org/officeDocument/2006/relationships/viewProps" Target="view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font" Target="fonts/font9.fntdata"/><Relationship Id="rId62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font" Target="fonts/font4.fntdata"/><Relationship Id="rId57" Type="http://schemas.openxmlformats.org/officeDocument/2006/relationships/font" Target="fonts/font12.fntdata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notesMaster" Target="notesMasters/notesMaster1.xml"/><Relationship Id="rId52" Type="http://schemas.openxmlformats.org/officeDocument/2006/relationships/font" Target="fonts/font7.fntdata"/><Relationship Id="rId6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4796673-B35C-B37D-3219-C53285AA133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D8D901-A21A-BE4D-089A-7CA65E41BE6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DFC277-78D7-FD40-B599-ED34D02CBE47}" type="datetimeFigureOut">
              <a:t>9/24/26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0E049B-85E9-A6EA-A8B1-7CC12B8D670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5A40A3-2E20-0293-C9D9-7C5F7E2CA85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D7A19F-1495-B848-AD29-53732E1E2D4D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639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179876-35BB-4790-A6E6-84E358FFE4CB}" type="datetimeFigureOut">
              <a:rPr lang="en-GB" smtClean="0"/>
              <a:t>24/09/2026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D78C15-C8E2-434D-9C71-D59CB069DB57}" type="slidenum">
              <a:rPr lang="en-GB" smtClean="0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FAUSans Office" panose="020B0504010101010104" pitchFamily="34" charset="77"/>
        <a:ea typeface="+mn-ea"/>
        <a:cs typeface="FAUSans Office" panose="020B0504010101010104" pitchFamily="34" charset="77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FAUSans Office" panose="020B0504010101010104" pitchFamily="34" charset="77"/>
        <a:ea typeface="+mn-ea"/>
        <a:cs typeface="FAUSans Office" panose="020B0504010101010104" pitchFamily="34" charset="77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FAUSans Office" panose="020B0504010101010104" pitchFamily="34" charset="77"/>
        <a:ea typeface="+mn-ea"/>
        <a:cs typeface="FAUSans Office" panose="020B0504010101010104" pitchFamily="34" charset="77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FAUSans Office" panose="020B0504010101010104" pitchFamily="34" charset="77"/>
        <a:ea typeface="+mn-ea"/>
        <a:cs typeface="FAUSans Office" panose="020B0504010101010104" pitchFamily="34" charset="77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FAUSans Office" panose="020B0504010101010104" pitchFamily="34" charset="77"/>
        <a:ea typeface="+mn-ea"/>
        <a:cs typeface="FAUSans Office" panose="020B0504010101010104" pitchFamily="34" charset="77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02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2EAE7-E561-9E7B-061E-02EFBF0D0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E98267-FDB0-A640-4B32-F395C1AE55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14452A-2A93-4C75-A528-BDBCCA5758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5A8289-314F-A5F6-7CBF-B029AAE14A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735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16689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1619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7D78C15-C8E2-434D-9C71-D59CB069DB57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0164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D5529-89DA-EEFE-B6C6-DFC93F140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7CCB23-63F4-FAF9-6839-D04E05D0B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D42A09-AAE7-1F7D-6767-D6E09B5EDD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42D1EC-0EDA-5DC0-59DD-1F395602E2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93889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35465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0FFD1-C0B0-267B-494C-46B46B553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515E8C-DBDB-793D-BF75-B1100F6F10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C87533-4206-D86D-CA52-E88442CB43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439F66-8D30-F5E5-BD45-CCAE4574A5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3620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 b="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24 Sep 2026 | © RC21 Team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326E29E-1E2A-44E5-3FC5-786EBA6F840B}"/>
              </a:ext>
            </a:extLst>
          </p:cNvPr>
          <p:cNvSpPr/>
          <p:nvPr userDrawn="1"/>
        </p:nvSpPr>
        <p:spPr>
          <a:xfrm rot="5400000">
            <a:off x="5491842" y="-5491842"/>
            <a:ext cx="1208314" cy="12192002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749424-4954-1C18-42E0-2013AE4CDBE1}"/>
              </a:ext>
            </a:extLst>
          </p:cNvPr>
          <p:cNvSpPr/>
          <p:nvPr userDrawn="1"/>
        </p:nvSpPr>
        <p:spPr>
          <a:xfrm rot="5400000">
            <a:off x="5937484" y="603483"/>
            <a:ext cx="317030" cy="12192001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" y="0"/>
            <a:ext cx="11353801" cy="1208315"/>
          </a:xfrm>
        </p:spPr>
        <p:txBody>
          <a:bodyPr lIns="180000" tIns="36000" rIns="180000" bIns="36000">
            <a:normAutofit/>
          </a:bodyPr>
          <a:lstStyle>
            <a:lvl1pPr>
              <a:defRPr sz="4400" b="0">
                <a:solidFill>
                  <a:schemeClr val="accent2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2692" y="1388794"/>
            <a:ext cx="11426616" cy="4787075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800"/>
            </a:lvl1pPr>
            <a:lvl2pPr>
              <a:lnSpc>
                <a:spcPct val="100000"/>
              </a:lnSpc>
              <a:defRPr sz="2400"/>
            </a:lvl2pPr>
            <a:lvl3pPr>
              <a:lnSpc>
                <a:spcPct val="100000"/>
              </a:lnSpc>
              <a:defRPr sz="2000"/>
            </a:lvl3pPr>
            <a:lvl4pPr>
              <a:lnSpc>
                <a:spcPct val="100000"/>
              </a:lnSpc>
              <a:defRPr sz="1800"/>
            </a:lvl4pPr>
            <a:lvl5pPr>
              <a:lnSpc>
                <a:spcPct val="100000"/>
              </a:lnSpc>
              <a:defRPr sz="18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0" y="6540966"/>
            <a:ext cx="2743200" cy="317032"/>
          </a:xfrm>
        </p:spPr>
        <p:txBody>
          <a:bodyPr/>
          <a:lstStyle>
            <a:lvl1pPr>
              <a:defRPr sz="1400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r>
              <a:rPr lang="en-GB"/>
              <a:t>24 Sep 2026 | © RC21 Team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560064" y="6540965"/>
            <a:ext cx="5071872" cy="317035"/>
          </a:xfrm>
        </p:spPr>
        <p:txBody>
          <a:bodyPr/>
          <a:lstStyle>
            <a:lvl1pPr>
              <a:defRPr sz="1400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448800" y="6540967"/>
            <a:ext cx="2743200" cy="317031"/>
          </a:xfrm>
        </p:spPr>
        <p:txBody>
          <a:bodyPr/>
          <a:lstStyle>
            <a:lvl1pPr>
              <a:defRPr sz="1400" b="1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fld id="{B2EB7B1D-155F-DE45-A4D9-3453DB08EE0D}" type="slidenum">
              <a:rPr lang="en-GB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C380333-980E-8B55-2771-139A8D5F02D0}"/>
              </a:ext>
            </a:extLst>
          </p:cNvPr>
          <p:cNvSpPr/>
          <p:nvPr userDrawn="1"/>
        </p:nvSpPr>
        <p:spPr>
          <a:xfrm rot="5400000">
            <a:off x="5491843" y="-5491842"/>
            <a:ext cx="1208314" cy="12192001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97651C4-8807-4F0E-0675-D3C14F0D2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1208315"/>
          </a:xfrm>
        </p:spPr>
        <p:txBody>
          <a:bodyPr lIns="180000" tIns="36000" rIns="180000" bIns="36000">
            <a:normAutofit/>
          </a:bodyPr>
          <a:lstStyle>
            <a:lvl1pPr>
              <a:defRPr sz="4400" b="0">
                <a:solidFill>
                  <a:schemeClr val="accent2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B486369-1C5D-6097-3686-4653D1016C85}"/>
              </a:ext>
            </a:extLst>
          </p:cNvPr>
          <p:cNvSpPr/>
          <p:nvPr userDrawn="1"/>
        </p:nvSpPr>
        <p:spPr>
          <a:xfrm rot="5400000">
            <a:off x="5937484" y="603483"/>
            <a:ext cx="317030" cy="12192001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129E9AE7-8FDC-5160-A1C2-43C6E23EC8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40966"/>
            <a:ext cx="2743200" cy="317032"/>
          </a:xfrm>
        </p:spPr>
        <p:txBody>
          <a:bodyPr/>
          <a:lstStyle>
            <a:lvl1pPr>
              <a:defRPr sz="1400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r>
              <a:rPr lang="en-GB"/>
              <a:t>24 Sep 2026 | © RC21 Team</a:t>
            </a:r>
            <a:endParaRPr lang="en-US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7EB7F3AA-7FFB-5041-CD31-1E75C9F1B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0064" y="6540965"/>
            <a:ext cx="5071872" cy="317035"/>
          </a:xfrm>
        </p:spPr>
        <p:txBody>
          <a:bodyPr/>
          <a:lstStyle>
            <a:lvl1pPr>
              <a:defRPr sz="1400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r>
              <a:rPr lang="en-US"/>
              <a:t>FlexiConc: Reading concordances with algorithms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FCC04A0E-C353-DABE-D7E4-FDF6F688F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40967"/>
            <a:ext cx="2743200" cy="317031"/>
          </a:xfrm>
        </p:spPr>
        <p:txBody>
          <a:bodyPr/>
          <a:lstStyle>
            <a:lvl1pPr>
              <a:defRPr sz="1400" b="1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fld id="{B2EB7B1D-155F-DE45-A4D9-3453DB08EE0D}" type="slidenum">
              <a:rPr lang="en-GB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/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C380333-980E-8B55-2771-139A8D5F02D0}"/>
              </a:ext>
            </a:extLst>
          </p:cNvPr>
          <p:cNvSpPr/>
          <p:nvPr userDrawn="1"/>
        </p:nvSpPr>
        <p:spPr>
          <a:xfrm rot="5400000">
            <a:off x="5491843" y="-5491842"/>
            <a:ext cx="1208314" cy="12192001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97651C4-8807-4F0E-0675-D3C14F0D2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1208315"/>
          </a:xfrm>
        </p:spPr>
        <p:txBody>
          <a:bodyPr lIns="180000" tIns="36000" rIns="180000" bIns="36000">
            <a:normAutofit/>
          </a:bodyPr>
          <a:lstStyle>
            <a:lvl1pPr>
              <a:defRPr sz="4400" b="0">
                <a:solidFill>
                  <a:schemeClr val="accent2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7883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scree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5AF9C64-C7CC-5D02-1146-F48C09F3AF0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5765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defRPr>
            </a:lvl1pPr>
          </a:lstStyle>
          <a:p>
            <a:r>
              <a:rPr lang="en-GB"/>
              <a:t>24 Sep 2026 | © RC21 Team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defRPr>
            </a:lvl1pPr>
          </a:lstStyle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defRPr>
            </a:lvl1pPr>
          </a:lstStyle>
          <a:p>
            <a:fld id="{B2EB7B1D-155F-DE45-A4D9-3453DB08EE0D}" type="slidenum">
              <a:rPr lang="en-GB"/>
              <a:pPr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6" r:id="rId4"/>
    <p:sldLayoutId id="2147483655" r:id="rId5"/>
    <p:sldLayoutId id="2147483657" r:id="rId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FAUSans Office" panose="020B0504010101010104" pitchFamily="34" charset="77"/>
          <a:ea typeface="+mj-ea"/>
          <a:cs typeface="FAUSans Office" panose="020B0504010101010104" pitchFamily="34" charset="77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FAUSans Office" panose="020B0504010101010104" pitchFamily="34" charset="77"/>
          <a:ea typeface="+mn-ea"/>
          <a:cs typeface="FAUSans Office" panose="020B0504010101010104" pitchFamily="34" charset="77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FAUSans Office" panose="020B0504010101010104" pitchFamily="34" charset="77"/>
          <a:ea typeface="+mn-ea"/>
          <a:cs typeface="FAUSans Office" panose="020B0504010101010104" pitchFamily="34" charset="77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FAUSans Office" panose="020B0504010101010104" pitchFamily="34" charset="77"/>
          <a:ea typeface="+mn-ea"/>
          <a:cs typeface="FAUSans Office" panose="020B0504010101010104" pitchFamily="34" charset="77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FAUSans Office" panose="020B0504010101010104" pitchFamily="34" charset="77"/>
          <a:ea typeface="+mn-ea"/>
          <a:cs typeface="FAUSans Office" panose="020B0504010101010104" pitchFamily="34" charset="77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FAUSans Office" panose="020B0504010101010104" pitchFamily="34" charset="77"/>
          <a:ea typeface="+mn-ea"/>
          <a:cs typeface="FAUSans Office" panose="020B0504010101010104" pitchFamily="34" charset="77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/>
          <p:cNvSpPr/>
          <p:nvPr/>
        </p:nvSpPr>
        <p:spPr>
          <a:xfrm rot="5400000">
            <a:off x="5466402" y="201470"/>
            <a:ext cx="1208315" cy="12141122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01937" y="1315330"/>
            <a:ext cx="11381778" cy="1881695"/>
          </a:xfrm>
          <a:prstGeom prst="rect">
            <a:avLst/>
          </a:prstGeom>
          <a:noFill/>
          <a:ln w="2540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b"/>
          <a:lstStyle/>
          <a:p>
            <a:pPr marL="716280" algn="ctr"/>
            <a:r>
              <a:rPr lang="en-GB" sz="3200" b="1" dirty="0">
                <a:latin typeface="FAUSans Office" panose="020B0504010101010104" pitchFamily="34" charset="77"/>
                <a:cs typeface="FAUSans Office" panose="020B0504010101010104" pitchFamily="34" charset="77"/>
              </a:rPr>
              <a:t>Reading Concordances with Algorithms: </a:t>
            </a:r>
          </a:p>
          <a:p>
            <a:pPr marL="9525" algn="ctr"/>
            <a:r>
              <a:rPr lang="en-GB" sz="3200" b="1" dirty="0">
                <a:latin typeface="FAUSans Office" panose="020B0504010101010104" pitchFamily="34" charset="77"/>
                <a:cs typeface="FAUSans Office" panose="020B0504010101010104" pitchFamily="34" charset="77"/>
              </a:rPr>
              <a:t>a training course in key corpus linguistics methodology</a:t>
            </a:r>
            <a:endParaRPr lang="en-US" sz="3200" b="1" dirty="0">
              <a:solidFill>
                <a:schemeClr val="tx1">
                  <a:lumMod val="50000"/>
                  <a:lumOff val="50000"/>
                </a:schemeClr>
              </a:solidFill>
              <a:latin typeface="FAUSans Office" panose="020B0504010101010104" pitchFamily="34" charset="77"/>
              <a:cs typeface="FAUSans Office" panose="020B0504010101010104" pitchFamily="34" charset="77"/>
            </a:endParaRPr>
          </a:p>
          <a:p>
            <a:pPr marL="9525" algn="ctr"/>
            <a:r>
              <a:rPr lang="en-US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 </a:t>
            </a:r>
          </a:p>
          <a:p>
            <a:pPr marL="9525" algn="ctr"/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Reading with algorithms: FlexiConc</a:t>
            </a:r>
          </a:p>
        </p:txBody>
      </p:sp>
      <p:sp>
        <p:nvSpPr>
          <p:cNvPr id="3" name="Rounded Rectangle 8"/>
          <p:cNvSpPr/>
          <p:nvPr/>
        </p:nvSpPr>
        <p:spPr>
          <a:xfrm>
            <a:off x="336551" y="5872740"/>
            <a:ext cx="11512550" cy="798581"/>
          </a:xfrm>
          <a:prstGeom prst="rect">
            <a:avLst/>
          </a:prstGeom>
          <a:noFill/>
          <a:ln w="2540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marL="9525" algn="ctr"/>
            <a:r>
              <a:rPr lang="en-GB" sz="2400" b="1" dirty="0">
                <a:solidFill>
                  <a:schemeClr val="accent2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Stephanie Evert &amp; Michaela Mahlberg</a:t>
            </a:r>
            <a:endParaRPr lang="en-US" sz="2400" dirty="0">
              <a:solidFill>
                <a:schemeClr val="accent2">
                  <a:lumMod val="50000"/>
                </a:schemeClr>
              </a:solidFill>
              <a:latin typeface="FAUSans Office" panose="020B0504010101010104" pitchFamily="34" charset="77"/>
              <a:cs typeface="FAUSans Office" panose="020B0504010101010104" pitchFamily="34" charset="77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F3F9565-715D-91DC-A0E3-3DEF4044BC1D}"/>
              </a:ext>
            </a:extLst>
          </p:cNvPr>
          <p:cNvGrpSpPr/>
          <p:nvPr/>
        </p:nvGrpSpPr>
        <p:grpSpPr>
          <a:xfrm>
            <a:off x="10337369" y="5728675"/>
            <a:ext cx="1803752" cy="1208316"/>
            <a:chOff x="3511630" y="417286"/>
            <a:chExt cx="5701633" cy="3207169"/>
          </a:xfrm>
        </p:grpSpPr>
        <p:pic>
          <p:nvPicPr>
            <p:cNvPr id="21" name="Picture 20" descr="A black screen with a white border&#10;&#10;Description automatically generated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11630" y="417286"/>
              <a:ext cx="5701633" cy="3207169"/>
            </a:xfrm>
            <a:prstGeom prst="rect">
              <a:avLst/>
            </a:prstGeom>
          </p:spPr>
        </p:pic>
        <p:pic>
          <p:nvPicPr>
            <p:cNvPr id="1036" name="Picture 12" descr="Image"/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705" r="6032"/>
            <a:stretch>
              <a:fillRect/>
            </a:stretch>
          </p:blipFill>
          <p:spPr bwMode="auto">
            <a:xfrm>
              <a:off x="3916325" y="585969"/>
              <a:ext cx="4944139" cy="26018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41" name="Picture 17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51240" y="5021154"/>
            <a:ext cx="2106591" cy="499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02A21E52-34BC-F9E0-9C6B-6668245D70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7149" y="5163497"/>
            <a:ext cx="2511354" cy="324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>
            <a:extLst>
              <a:ext uri="{FF2B5EF4-FFF2-40B4-BE49-F238E27FC236}">
                <a16:creationId xmlns:a16="http://schemas.microsoft.com/office/drawing/2014/main" id="{8E96232E-D99C-4442-E83E-DC75693EE7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169" y="4948407"/>
            <a:ext cx="2511354" cy="63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772A65-CCB4-DB4C-8DC4-6895D43EE36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9783" y="172716"/>
            <a:ext cx="2193359" cy="119130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79597A6-EAFF-C8A8-767C-CCA4715AFA7F}"/>
              </a:ext>
            </a:extLst>
          </p:cNvPr>
          <p:cNvSpPr txBox="1"/>
          <p:nvPr/>
        </p:nvSpPr>
        <p:spPr>
          <a:xfrm>
            <a:off x="1536324" y="3535294"/>
            <a:ext cx="9113004" cy="9880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ctr">
            <a:noAutofit/>
          </a:bodyPr>
          <a:lstStyle/>
          <a:p>
            <a:pPr algn="ctr" fontAlgn="base"/>
            <a:r>
              <a:rPr lang="en-GB" sz="2400" dirty="0">
                <a:latin typeface="FAUSans Office" panose="020B0504010101010104" pitchFamily="34" charset="77"/>
                <a:cs typeface="FAUSans Office" panose="020B0504010101010104" pitchFamily="34" charset="77"/>
              </a:rPr>
              <a:t>UTN Computational Linguistics Fall School</a:t>
            </a:r>
          </a:p>
          <a:p>
            <a:pPr algn="ctr" fontAlgn="base"/>
            <a:r>
              <a:rPr lang="en-GB" sz="2400" dirty="0">
                <a:latin typeface="FAUSans Office" panose="020B0504010101010104" pitchFamily="34" charset="77"/>
                <a:cs typeface="FAUSans Office" panose="020B0504010101010104" pitchFamily="34" charset="77"/>
              </a:rPr>
              <a:t>21–25 September 2026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526B14F-312E-F64D-0DB5-DA6331901BA8}"/>
              </a:ext>
            </a:extLst>
          </p:cNvPr>
          <p:cNvSpPr/>
          <p:nvPr/>
        </p:nvSpPr>
        <p:spPr>
          <a:xfrm>
            <a:off x="10843245" y="420897"/>
            <a:ext cx="792000" cy="79200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>
                <a:latin typeface="FAUSans Office" panose="020B0504010101010104" pitchFamily="34" charset="77"/>
                <a:cs typeface="FAUSans Office" panose="020B0504010101010104" pitchFamily="34" charset="77"/>
              </a:rPr>
              <a:t>4</a:t>
            </a:r>
            <a:endParaRPr lang="en-US" sz="4400" b="1" dirty="0">
              <a:latin typeface="FAUSans Office" panose="020B0504010101010104" pitchFamily="34" charset="77"/>
              <a:cs typeface="FAUSans Office" panose="020B0504010101010104" pitchFamily="34" charset="7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844F7-75A9-A770-E76D-EE3933B1F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C7465-0AE0-2CDA-22E6-2885E5DEE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Orientation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953AC1-C971-F220-30BE-4A02115709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4"/>
            <a:ext cx="11583166" cy="4948211"/>
          </a:xfrm>
        </p:spPr>
        <p:txBody>
          <a:bodyPr/>
          <a:lstStyle/>
          <a:p>
            <a:pPr marL="0" indent="0">
              <a:buNone/>
            </a:pPr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What we have learned so far …</a:t>
            </a:r>
          </a:p>
          <a:p>
            <a:r>
              <a:rPr lang="en-US"/>
              <a:t>Reading concordances with (and without) the help of software tools</a:t>
            </a:r>
          </a:p>
          <a:p>
            <a:r>
              <a:rPr lang="en-US"/>
              <a:t>How to identify recurrent patterns and interpret them </a:t>
            </a:r>
          </a:p>
          <a:p>
            <a:r>
              <a:rPr lang="en-US"/>
              <a:t>Strategies and algorithms for organising concordance lines</a:t>
            </a:r>
          </a:p>
          <a:p>
            <a:pPr lvl="1"/>
            <a:endParaRPr lang="en-US"/>
          </a:p>
          <a:p>
            <a:pPr marL="0" indent="0">
              <a:buNone/>
            </a:pPr>
            <a:r>
              <a:rPr lang="en-US" b="1">
                <a:solidFill>
                  <a:schemeClr val="accent2">
                    <a:lumMod val="50000"/>
                  </a:schemeClr>
                </a:solidFill>
              </a:rPr>
              <a:t>What we're going to look at now …</a:t>
            </a:r>
            <a:endParaRPr lang="en-US"/>
          </a:p>
          <a:p>
            <a:r>
              <a:rPr lang="en-US"/>
              <a:t>A mathematical framework for reading concordances with algorithms</a:t>
            </a:r>
          </a:p>
          <a:p>
            <a:r>
              <a:rPr lang="en-US"/>
              <a:t>What further algorithms could be useful?</a:t>
            </a:r>
          </a:p>
          <a:p>
            <a:r>
              <a:rPr lang="en-US"/>
              <a:t>How can we document the concordance reading process?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1760A6-4FF3-0D57-816E-E156EB36C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1AEB33-9065-CB7C-6755-159762A94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2</a:t>
            </a:fld>
            <a:endParaRPr lang="en-GB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B4F2A6F-8CA2-018D-0E84-7465900D4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24 Sep 2026 | © RC21 Team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744BC-916B-3A5F-FA45-8EAC06088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4"/>
            <a:ext cx="11426616" cy="4969476"/>
          </a:xfrm>
        </p:spPr>
        <p:txBody>
          <a:bodyPr/>
          <a:lstStyle/>
          <a:p>
            <a:pPr marL="1069975" indent="-1069975">
              <a:buNone/>
            </a:pPr>
            <a:r>
              <a:rPr lang="en-US" sz="3200" b="1"/>
              <a:t>Goal:	</a:t>
            </a:r>
            <a:r>
              <a:rPr lang="en-US" sz="3200"/>
              <a:t>Develop mathematical framework for computational algorithms used to organise concordance lines in the concordance reading process.</a:t>
            </a:r>
          </a:p>
          <a:p>
            <a:pPr lvl="2"/>
            <a:endParaRPr lang="en-US"/>
          </a:p>
          <a:p>
            <a:r>
              <a:rPr lang="en-US"/>
              <a:t>Tightly connected to kwic-style display of concordance lines</a:t>
            </a:r>
          </a:p>
          <a:p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Limitation:</a:t>
            </a:r>
            <a:r>
              <a:rPr lang="en-US"/>
              <a:t> only algorithms that can be understood as a rearrangement of concordance lines ➞ makes generic UI possible</a:t>
            </a:r>
          </a:p>
          <a:p>
            <a:r>
              <a:rPr lang="en-US"/>
              <a:t>Focus on three main general strategies in current practice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6D0D12-EEC4-9A63-1424-66CCCC75C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Our goal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59E4B0-CF1A-4AD0-7D97-439D1D229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3</a:t>
            </a:fld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E74810-2DD1-D585-6951-91DCC7D972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24 Sep 2026 | © RC21 Team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7FD942-22C8-28CF-4F62-E0C8EEEF2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</p:spTree>
    <p:extLst>
      <p:ext uri="{BB962C8B-B14F-4D97-AF65-F5344CB8AC3E}">
        <p14:creationId xmlns:p14="http://schemas.microsoft.com/office/powerpoint/2010/main" val="38486906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ED5E338-5E8C-08CD-31DC-1FE835EA9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But why?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69B4AA-A384-43EF-9696-ED871EA796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/>
          </a:p>
          <a:p>
            <a:pPr marL="0" indent="0" algn="ctr">
              <a:buNone/>
            </a:pPr>
            <a:endParaRPr lang="en-US" sz="3200"/>
          </a:p>
          <a:p>
            <a:pPr marL="0" indent="0" algn="ctr">
              <a:buNone/>
            </a:pPr>
            <a:r>
              <a:rPr lang="en-US" sz="3200"/>
              <a:t>Why not just invent some really cool new algorithms</a:t>
            </a:r>
            <a:br>
              <a:rPr lang="en-US" sz="3200"/>
            </a:br>
            <a:r>
              <a:rPr lang="en-US" sz="3200"/>
              <a:t>and implement them in </a:t>
            </a:r>
            <a:r>
              <a:rPr lang="en-US" sz="3200">
                <a:solidFill>
                  <a:schemeClr val="accent1">
                    <a:lumMod val="50000"/>
                  </a:schemeClr>
                </a:solidFill>
              </a:rPr>
              <a:t>#FAUbox</a:t>
            </a:r>
            <a:r>
              <a:rPr lang="en-US" sz="3200"/>
              <a:t> or </a:t>
            </a:r>
            <a:r>
              <a:rPr lang="en-US" sz="3200">
                <a:solidFill>
                  <a:schemeClr val="accent2">
                    <a:lumMod val="50000"/>
                  </a:schemeClr>
                </a:solidFill>
              </a:rPr>
              <a:t>EverConc</a:t>
            </a:r>
            <a:r>
              <a:rPr lang="en-US" sz="3200"/>
              <a:t>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1F0094-C455-B0BC-D595-6CCDF34EC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4</a:t>
            </a:fld>
            <a:endParaRPr lang="en-GB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2A2ADE9-B3D0-2895-038B-056AA648A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24 Sep 2026 | © RC21 Team</a:t>
            </a:r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7077665-0EBC-8F65-8CD4-EE54F88EE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</p:spTree>
    <p:extLst>
      <p:ext uri="{BB962C8B-B14F-4D97-AF65-F5344CB8AC3E}">
        <p14:creationId xmlns:p14="http://schemas.microsoft.com/office/powerpoint/2010/main" val="20316685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9FD7F-5935-28DB-81D8-70CC92B85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But why?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9E945-1A51-2E60-018A-7370694BB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/>
              <a:t>Community needs general framework, not another app</a:t>
            </a:r>
          </a:p>
          <a:p>
            <a:pPr>
              <a:spcAft>
                <a:spcPts val="600"/>
              </a:spcAft>
            </a:pPr>
            <a:r>
              <a:rPr lang="en-US"/>
              <a:t>Make novel algorithms available in many (all) concordancers</a:t>
            </a:r>
          </a:p>
          <a:p>
            <a:pPr>
              <a:spcAft>
                <a:spcPts val="600"/>
              </a:spcAft>
            </a:pPr>
            <a:r>
              <a:rPr lang="en-US"/>
              <a:t>Specify precise semantics of algorithms</a:t>
            </a:r>
          </a:p>
          <a:p>
            <a:pPr>
              <a:spcAft>
                <a:spcPts val="600"/>
              </a:spcAft>
            </a:pPr>
            <a:r>
              <a:rPr lang="en-US"/>
              <a:t>Combining algorithms: limitations </a:t>
            </a:r>
          </a:p>
          <a:p>
            <a:pPr>
              <a:spcAft>
                <a:spcPts val="600"/>
              </a:spcAft>
            </a:pPr>
            <a:r>
              <a:rPr lang="en-US"/>
              <a:t>Consistent visualisation in UI</a:t>
            </a:r>
          </a:p>
          <a:p>
            <a:pPr>
              <a:spcAft>
                <a:spcPts val="600"/>
              </a:spcAft>
            </a:pPr>
            <a:r>
              <a:rPr lang="en-US"/>
              <a:t>Formal model of organising concordances</a:t>
            </a:r>
          </a:p>
          <a:p>
            <a:pPr>
              <a:spcAft>
                <a:spcPts val="600"/>
              </a:spcAft>
            </a:pPr>
            <a:r>
              <a:rPr lang="en-US"/>
              <a:t>Research documentation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3465F2-13FB-99DA-8457-886EBFE88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24 Sep 2026 | © RC21 Team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C34058-579E-7E06-9A7F-DB3812BF8A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E8AF91-1797-042B-97E7-2150224F4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66489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45668-0A4A-B092-2B68-A3708332A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Concordance reading strategies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3294D2-CC70-4C4C-1857-694778492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9EA951-463D-1BCA-36F4-7306380B3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6</a:t>
            </a:fld>
            <a:endParaRPr lang="en-GB"/>
          </a:p>
        </p:txBody>
      </p: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85D4AA58-C910-EADB-54EA-0D04FB7BE9C3}"/>
              </a:ext>
            </a:extLst>
          </p:cNvPr>
          <p:cNvGrpSpPr/>
          <p:nvPr/>
        </p:nvGrpSpPr>
        <p:grpSpPr>
          <a:xfrm>
            <a:off x="4342366" y="1357166"/>
            <a:ext cx="3507268" cy="1972838"/>
            <a:chOff x="4288971" y="1456994"/>
            <a:chExt cx="3614057" cy="2032907"/>
          </a:xfrm>
        </p:grpSpPr>
        <p:pic>
          <p:nvPicPr>
            <p:cNvPr id="7" name="Picture 6" descr="A black screen with a white border&#10;&#10;Description automatically generated">
              <a:extLst>
                <a:ext uri="{FF2B5EF4-FFF2-40B4-BE49-F238E27FC236}">
                  <a16:creationId xmlns:a16="http://schemas.microsoft.com/office/drawing/2014/main" id="{E52573CC-8039-0A28-8217-2AD778E7CB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288971" y="1456994"/>
              <a:ext cx="3614057" cy="2032907"/>
            </a:xfrm>
            <a:prstGeom prst="rect">
              <a:avLst/>
            </a:prstGeom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AAE74FF-B1FC-9D46-05E4-D20015D8B614}"/>
                </a:ext>
              </a:extLst>
            </p:cNvPr>
            <p:cNvGrpSpPr/>
            <p:nvPr/>
          </p:nvGrpSpPr>
          <p:grpSpPr>
            <a:xfrm>
              <a:off x="4648200" y="1644755"/>
              <a:ext cx="2895600" cy="75692"/>
              <a:chOff x="4639673" y="1649035"/>
              <a:chExt cx="2895600" cy="75692"/>
            </a:xfrm>
          </p:grpSpPr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5F5EE69B-2ED2-2C91-8E56-7DE573C926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39673" y="1679007"/>
                <a:ext cx="1329327" cy="0"/>
              </a:xfrm>
              <a:prstGeom prst="line">
                <a:avLst/>
              </a:prstGeom>
              <a:ln w="38100">
                <a:solidFill>
                  <a:srgbClr val="F8AABA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49B7FAF3-F93F-5F31-F16D-CF04586138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05946" y="1679007"/>
                <a:ext cx="1329327" cy="0"/>
              </a:xfrm>
              <a:prstGeom prst="line">
                <a:avLst/>
              </a:prstGeom>
              <a:ln w="38100">
                <a:solidFill>
                  <a:srgbClr val="F8AABA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F9756296-3789-8B62-FAEF-7D5D86086246}"/>
                  </a:ext>
                </a:extLst>
              </p:cNvPr>
              <p:cNvSpPr/>
              <p:nvPr/>
            </p:nvSpPr>
            <p:spPr>
              <a:xfrm>
                <a:off x="6045200" y="1649035"/>
                <a:ext cx="76584" cy="75692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A425426A-DA95-6031-3B86-5C3BDE2176EA}"/>
                </a:ext>
              </a:extLst>
            </p:cNvPr>
            <p:cNvGrpSpPr/>
            <p:nvPr/>
          </p:nvGrpSpPr>
          <p:grpSpPr>
            <a:xfrm>
              <a:off x="4648200" y="1801235"/>
              <a:ext cx="2895600" cy="75692"/>
              <a:chOff x="4639673" y="1649035"/>
              <a:chExt cx="2895600" cy="75692"/>
            </a:xfrm>
            <a:solidFill>
              <a:srgbClr val="CC0066"/>
            </a:solidFill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EEAFDA48-58D5-664B-69D7-C5133AA09D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39673" y="1679007"/>
                <a:ext cx="1329327" cy="0"/>
              </a:xfrm>
              <a:prstGeom prst="line">
                <a:avLst/>
              </a:prstGeom>
              <a:grpFill/>
              <a:ln w="38100">
                <a:solidFill>
                  <a:srgbClr val="CC006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62906A13-E8C2-BE53-E75F-7331A2ED80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05946" y="1679007"/>
                <a:ext cx="1329327" cy="0"/>
              </a:xfrm>
              <a:prstGeom prst="line">
                <a:avLst/>
              </a:prstGeom>
              <a:grpFill/>
              <a:ln w="38100">
                <a:solidFill>
                  <a:srgbClr val="CC006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0F119197-BCF0-F877-5817-DB814B61EEA1}"/>
                  </a:ext>
                </a:extLst>
              </p:cNvPr>
              <p:cNvSpPr/>
              <p:nvPr/>
            </p:nvSpPr>
            <p:spPr>
              <a:xfrm>
                <a:off x="6045200" y="1649035"/>
                <a:ext cx="76584" cy="75692"/>
              </a:xfrm>
              <a:prstGeom prst="ellipse">
                <a:avLst/>
              </a:prstGeom>
              <a:grpFill/>
              <a:ln>
                <a:solidFill>
                  <a:srgbClr val="CC006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0FA8AC1-55B9-1751-EC5D-64EE39DA617D}"/>
                </a:ext>
              </a:extLst>
            </p:cNvPr>
            <p:cNvGrpSpPr/>
            <p:nvPr/>
          </p:nvGrpSpPr>
          <p:grpSpPr>
            <a:xfrm>
              <a:off x="4648200" y="1957715"/>
              <a:ext cx="2895600" cy="75692"/>
              <a:chOff x="4639673" y="1649035"/>
              <a:chExt cx="2895600" cy="75692"/>
            </a:xfrm>
            <a:solidFill>
              <a:srgbClr val="FF3399"/>
            </a:solidFill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0EC68779-51C8-EB9E-5CA8-9C04DE86C73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39673" y="1679007"/>
                <a:ext cx="1329327" cy="0"/>
              </a:xfrm>
              <a:prstGeom prst="line">
                <a:avLst/>
              </a:prstGeom>
              <a:grpFill/>
              <a:ln w="38100">
                <a:solidFill>
                  <a:srgbClr val="FF339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6B554EBD-30EF-2CB0-006C-7056B77AED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05946" y="1679007"/>
                <a:ext cx="1329327" cy="0"/>
              </a:xfrm>
              <a:prstGeom prst="line">
                <a:avLst/>
              </a:prstGeom>
              <a:grpFill/>
              <a:ln w="38100">
                <a:solidFill>
                  <a:srgbClr val="FF339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EA16DDC3-E861-469C-83FC-2B53C4446DA7}"/>
                  </a:ext>
                </a:extLst>
              </p:cNvPr>
              <p:cNvSpPr/>
              <p:nvPr/>
            </p:nvSpPr>
            <p:spPr>
              <a:xfrm>
                <a:off x="6045200" y="1649035"/>
                <a:ext cx="76584" cy="75692"/>
              </a:xfrm>
              <a:prstGeom prst="ellipse">
                <a:avLst/>
              </a:prstGeom>
              <a:grpFill/>
              <a:ln>
                <a:solidFill>
                  <a:srgbClr val="FF339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CFF62D13-D868-499B-576D-9FB071D06AB8}"/>
                </a:ext>
              </a:extLst>
            </p:cNvPr>
            <p:cNvGrpSpPr/>
            <p:nvPr/>
          </p:nvGrpSpPr>
          <p:grpSpPr>
            <a:xfrm>
              <a:off x="4648200" y="2114195"/>
              <a:ext cx="2895600" cy="75692"/>
              <a:chOff x="4639673" y="1649035"/>
              <a:chExt cx="2895600" cy="75692"/>
            </a:xfrm>
            <a:solidFill>
              <a:srgbClr val="FF33CC"/>
            </a:solidFill>
          </p:grpSpPr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3ED2E783-F0FD-660B-D71C-0CC49BDD9F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39673" y="1679007"/>
                <a:ext cx="1329327" cy="0"/>
              </a:xfrm>
              <a:prstGeom prst="line">
                <a:avLst/>
              </a:prstGeom>
              <a:grpFill/>
              <a:ln w="38100">
                <a:solidFill>
                  <a:srgbClr val="FF33CC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25775C35-D802-D6CF-8638-D0DBF8BF01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05946" y="1679007"/>
                <a:ext cx="1329327" cy="0"/>
              </a:xfrm>
              <a:prstGeom prst="line">
                <a:avLst/>
              </a:prstGeom>
              <a:grpFill/>
              <a:ln w="38100">
                <a:solidFill>
                  <a:srgbClr val="FF33CC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1E3C12E5-71F3-978E-42D0-58B281F8905A}"/>
                  </a:ext>
                </a:extLst>
              </p:cNvPr>
              <p:cNvSpPr/>
              <p:nvPr/>
            </p:nvSpPr>
            <p:spPr>
              <a:xfrm>
                <a:off x="6045200" y="1649035"/>
                <a:ext cx="76584" cy="75692"/>
              </a:xfrm>
              <a:prstGeom prst="ellipse">
                <a:avLst/>
              </a:prstGeom>
              <a:grpFill/>
              <a:ln>
                <a:solidFill>
                  <a:srgbClr val="FF33C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32B663A-AF4C-317E-4E26-CD1D08C23CD2}"/>
                </a:ext>
              </a:extLst>
            </p:cNvPr>
            <p:cNvGrpSpPr/>
            <p:nvPr/>
          </p:nvGrpSpPr>
          <p:grpSpPr>
            <a:xfrm>
              <a:off x="4648200" y="2270675"/>
              <a:ext cx="2895600" cy="75692"/>
              <a:chOff x="4639673" y="1649035"/>
              <a:chExt cx="2895600" cy="75692"/>
            </a:xfrm>
            <a:solidFill>
              <a:srgbClr val="FBD4DC"/>
            </a:solidFill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A97620EF-396F-655F-B9F4-44CFCC7FF8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39673" y="1679007"/>
                <a:ext cx="1329327" cy="0"/>
              </a:xfrm>
              <a:prstGeom prst="line">
                <a:avLst/>
              </a:prstGeom>
              <a:grpFill/>
              <a:ln w="38100">
                <a:solidFill>
                  <a:srgbClr val="FBD4DC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FE4154D4-7D52-0352-78C4-62B2BFD6DC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05946" y="1679007"/>
                <a:ext cx="1329327" cy="0"/>
              </a:xfrm>
              <a:prstGeom prst="line">
                <a:avLst/>
              </a:prstGeom>
              <a:grpFill/>
              <a:ln w="38100">
                <a:solidFill>
                  <a:srgbClr val="FBD4DC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A1577A09-248B-43CC-6249-6C2ED3BF7C5E}"/>
                  </a:ext>
                </a:extLst>
              </p:cNvPr>
              <p:cNvSpPr/>
              <p:nvPr/>
            </p:nvSpPr>
            <p:spPr>
              <a:xfrm>
                <a:off x="6045200" y="1649035"/>
                <a:ext cx="76584" cy="75692"/>
              </a:xfrm>
              <a:prstGeom prst="ellipse">
                <a:avLst/>
              </a:prstGeom>
              <a:grpFill/>
              <a:ln>
                <a:solidFill>
                  <a:srgbClr val="FBD4D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52D54101-CB28-D24E-1C12-674A77207E92}"/>
                </a:ext>
              </a:extLst>
            </p:cNvPr>
            <p:cNvGrpSpPr/>
            <p:nvPr/>
          </p:nvGrpSpPr>
          <p:grpSpPr>
            <a:xfrm>
              <a:off x="4648200" y="2427155"/>
              <a:ext cx="2895600" cy="75692"/>
              <a:chOff x="4639673" y="1649035"/>
              <a:chExt cx="2895600" cy="75692"/>
            </a:xfrm>
            <a:solidFill>
              <a:schemeClr val="accent2">
                <a:lumMod val="50000"/>
              </a:schemeClr>
            </a:solidFill>
          </p:grpSpPr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56EA5091-049A-7502-5FB0-D08E93CEC90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39673" y="1679007"/>
                <a:ext cx="1329327" cy="0"/>
              </a:xfrm>
              <a:prstGeom prst="line">
                <a:avLst/>
              </a:prstGeom>
              <a:grpFill/>
              <a:ln w="38100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FC1877F-383E-BA24-4364-17046117A3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05946" y="1679007"/>
                <a:ext cx="1329327" cy="0"/>
              </a:xfrm>
              <a:prstGeom prst="line">
                <a:avLst/>
              </a:prstGeom>
              <a:grpFill/>
              <a:ln w="38100"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8CE0190B-F6EB-B4B3-1ED4-BE8DF627115D}"/>
                  </a:ext>
                </a:extLst>
              </p:cNvPr>
              <p:cNvSpPr/>
              <p:nvPr/>
            </p:nvSpPr>
            <p:spPr>
              <a:xfrm>
                <a:off x="6045200" y="1649035"/>
                <a:ext cx="76584" cy="75692"/>
              </a:xfrm>
              <a:prstGeom prst="ellipse">
                <a:avLst/>
              </a:prstGeom>
              <a:grpFill/>
              <a:ln>
                <a:solidFill>
                  <a:schemeClr val="accent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F22FA28-7E99-5D98-FAA9-86BCBC2F78D9}"/>
                </a:ext>
              </a:extLst>
            </p:cNvPr>
            <p:cNvGrpSpPr/>
            <p:nvPr/>
          </p:nvGrpSpPr>
          <p:grpSpPr>
            <a:xfrm>
              <a:off x="4648200" y="2583635"/>
              <a:ext cx="2895600" cy="75692"/>
              <a:chOff x="4639673" y="1649035"/>
              <a:chExt cx="2895600" cy="75692"/>
            </a:xfrm>
            <a:solidFill>
              <a:srgbClr val="FFCCFF"/>
            </a:solidFill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1408CEBA-DFA6-C29B-BEC9-B34EE87F0A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39673" y="1679007"/>
                <a:ext cx="1329327" cy="0"/>
              </a:xfrm>
              <a:prstGeom prst="line">
                <a:avLst/>
              </a:prstGeom>
              <a:grpFill/>
              <a:ln w="38100">
                <a:solidFill>
                  <a:srgbClr val="FFCC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E30CC6D7-A79A-BE22-12C9-92D5083215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05946" y="1679007"/>
                <a:ext cx="1329327" cy="0"/>
              </a:xfrm>
              <a:prstGeom prst="line">
                <a:avLst/>
              </a:prstGeom>
              <a:grpFill/>
              <a:ln w="38100">
                <a:solidFill>
                  <a:srgbClr val="FFCC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EDAA8166-40A9-40BB-56E3-9BEB82AEBD52}"/>
                  </a:ext>
                </a:extLst>
              </p:cNvPr>
              <p:cNvSpPr/>
              <p:nvPr/>
            </p:nvSpPr>
            <p:spPr>
              <a:xfrm>
                <a:off x="6045200" y="1649035"/>
                <a:ext cx="76584" cy="75692"/>
              </a:xfrm>
              <a:prstGeom prst="ellipse">
                <a:avLst/>
              </a:prstGeom>
              <a:grpFill/>
              <a:ln>
                <a:solidFill>
                  <a:srgbClr val="FFCC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E6EC1C8-E3C2-37B1-D05F-34F040F8AE94}"/>
                </a:ext>
              </a:extLst>
            </p:cNvPr>
            <p:cNvGrpSpPr/>
            <p:nvPr/>
          </p:nvGrpSpPr>
          <p:grpSpPr>
            <a:xfrm>
              <a:off x="4648200" y="2740115"/>
              <a:ext cx="2895600" cy="75692"/>
              <a:chOff x="4639673" y="1649035"/>
              <a:chExt cx="2895600" cy="75692"/>
            </a:xfrm>
            <a:solidFill>
              <a:schemeClr val="accent2">
                <a:lumMod val="25000"/>
              </a:schemeClr>
            </a:solidFill>
          </p:grpSpPr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52980FDD-60D6-E5D9-20F6-3A411A46C5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39673" y="1679007"/>
                <a:ext cx="1329327" cy="0"/>
              </a:xfrm>
              <a:prstGeom prst="line">
                <a:avLst/>
              </a:prstGeom>
              <a:grpFill/>
              <a:ln w="38100">
                <a:solidFill>
                  <a:schemeClr val="accent2">
                    <a:lumMod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88D38F75-C097-291F-A73F-2F717EFDAA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05946" y="1679007"/>
                <a:ext cx="1329327" cy="0"/>
              </a:xfrm>
              <a:prstGeom prst="line">
                <a:avLst/>
              </a:prstGeom>
              <a:grpFill/>
              <a:ln w="38100">
                <a:solidFill>
                  <a:schemeClr val="accent2">
                    <a:lumMod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762E9A0F-BC3F-20C9-47CB-E2AA5D71D082}"/>
                  </a:ext>
                </a:extLst>
              </p:cNvPr>
              <p:cNvSpPr/>
              <p:nvPr/>
            </p:nvSpPr>
            <p:spPr>
              <a:xfrm>
                <a:off x="6045200" y="1649035"/>
                <a:ext cx="76584" cy="75692"/>
              </a:xfrm>
              <a:prstGeom prst="ellipse">
                <a:avLst/>
              </a:prstGeom>
              <a:grpFill/>
              <a:ln>
                <a:solidFill>
                  <a:schemeClr val="accent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4ABB6550-0953-6A08-F79A-EA15D4F60E9E}"/>
                </a:ext>
              </a:extLst>
            </p:cNvPr>
            <p:cNvGrpSpPr/>
            <p:nvPr/>
          </p:nvGrpSpPr>
          <p:grpSpPr>
            <a:xfrm>
              <a:off x="4648200" y="2896595"/>
              <a:ext cx="2895600" cy="75692"/>
              <a:chOff x="4639673" y="1649035"/>
              <a:chExt cx="2895600" cy="75692"/>
            </a:xfrm>
            <a:solidFill>
              <a:srgbClr val="FF99CC"/>
            </a:solidFill>
          </p:grpSpPr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C4ED8FB2-D317-60C3-7390-EE780E06AA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39673" y="1679007"/>
                <a:ext cx="1329327" cy="0"/>
              </a:xfrm>
              <a:prstGeom prst="line">
                <a:avLst/>
              </a:prstGeom>
              <a:grpFill/>
              <a:ln w="38100">
                <a:solidFill>
                  <a:srgbClr val="FF99CC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E3532D1E-543B-280A-CE8E-1039A7CCFB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05946" y="1679007"/>
                <a:ext cx="1329327" cy="0"/>
              </a:xfrm>
              <a:prstGeom prst="line">
                <a:avLst/>
              </a:prstGeom>
              <a:grpFill/>
              <a:ln w="38100">
                <a:solidFill>
                  <a:srgbClr val="FF99CC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74723D78-D334-EB14-C5B2-4D5D99C80DCA}"/>
                  </a:ext>
                </a:extLst>
              </p:cNvPr>
              <p:cNvSpPr/>
              <p:nvPr/>
            </p:nvSpPr>
            <p:spPr>
              <a:xfrm>
                <a:off x="6045200" y="1649035"/>
                <a:ext cx="76584" cy="75692"/>
              </a:xfrm>
              <a:prstGeom prst="ellipse">
                <a:avLst/>
              </a:prstGeom>
              <a:grpFill/>
              <a:ln>
                <a:solidFill>
                  <a:srgbClr val="FF99C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B646B32F-4B93-1A0C-3591-81DC70AEC0C3}"/>
                </a:ext>
              </a:extLst>
            </p:cNvPr>
            <p:cNvGrpSpPr/>
            <p:nvPr/>
          </p:nvGrpSpPr>
          <p:grpSpPr>
            <a:xfrm>
              <a:off x="4648200" y="3053079"/>
              <a:ext cx="2895600" cy="75692"/>
              <a:chOff x="4639673" y="1649035"/>
              <a:chExt cx="2895600" cy="75692"/>
            </a:xfrm>
            <a:solidFill>
              <a:schemeClr val="accent2">
                <a:lumMod val="90000"/>
              </a:schemeClr>
            </a:solidFill>
          </p:grpSpPr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AB403146-B342-3019-AD1F-B69034B7A8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39673" y="1679007"/>
                <a:ext cx="1329327" cy="0"/>
              </a:xfrm>
              <a:prstGeom prst="line">
                <a:avLst/>
              </a:prstGeom>
              <a:grpFill/>
              <a:ln w="38100">
                <a:solidFill>
                  <a:schemeClr val="accent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1EBDC38F-D3F4-2B47-DDAA-F87ABF5C81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05946" y="1679007"/>
                <a:ext cx="1329327" cy="0"/>
              </a:xfrm>
              <a:prstGeom prst="line">
                <a:avLst/>
              </a:prstGeom>
              <a:grpFill/>
              <a:ln w="38100">
                <a:solidFill>
                  <a:schemeClr val="accent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F3BAA6E0-B6DC-4A57-61B9-48456B96FE37}"/>
                  </a:ext>
                </a:extLst>
              </p:cNvPr>
              <p:cNvSpPr/>
              <p:nvPr/>
            </p:nvSpPr>
            <p:spPr>
              <a:xfrm>
                <a:off x="6045200" y="1649035"/>
                <a:ext cx="76584" cy="75692"/>
              </a:xfrm>
              <a:prstGeom prst="ellipse">
                <a:avLst/>
              </a:prstGeom>
              <a:grpFill/>
              <a:ln>
                <a:solidFill>
                  <a:schemeClr val="accent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353E575E-F0C0-F732-7E28-C267BD6290EA}"/>
              </a:ext>
            </a:extLst>
          </p:cNvPr>
          <p:cNvGrpSpPr/>
          <p:nvPr/>
        </p:nvGrpSpPr>
        <p:grpSpPr>
          <a:xfrm>
            <a:off x="4251725" y="3330006"/>
            <a:ext cx="3691940" cy="3134722"/>
            <a:chOff x="4251725" y="3330006"/>
            <a:chExt cx="3691940" cy="3134722"/>
          </a:xfrm>
        </p:grpSpPr>
        <p:sp>
          <p:nvSpPr>
            <p:cNvPr id="79" name="Rounded Rectangle 17">
              <a:extLst>
                <a:ext uri="{FF2B5EF4-FFF2-40B4-BE49-F238E27FC236}">
                  <a16:creationId xmlns:a16="http://schemas.microsoft.com/office/drawing/2014/main" id="{A1A8BC1E-B5A9-111A-D22E-9972EA8AC09A}"/>
                </a:ext>
              </a:extLst>
            </p:cNvPr>
            <p:cNvSpPr/>
            <p:nvPr/>
          </p:nvSpPr>
          <p:spPr>
            <a:xfrm>
              <a:off x="4251725" y="5440084"/>
              <a:ext cx="3691940" cy="1024644"/>
            </a:xfrm>
            <a:prstGeom prst="roundRect">
              <a:avLst/>
            </a:prstGeom>
            <a:ln w="25400"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3200" dirty="0">
                  <a:solidFill>
                    <a:schemeClr val="accent2">
                      <a:lumMod val="50000"/>
                    </a:schemeClr>
                  </a:solidFill>
                  <a:latin typeface="FAUSans Office" panose="020B0504010101010104" pitchFamily="34" charset="77"/>
                  <a:cs typeface="FAUSans Office" panose="020B0504010101010104" pitchFamily="34" charset="77"/>
                </a:rPr>
                <a:t>Ordering</a:t>
              </a:r>
            </a:p>
            <a:p>
              <a:pPr algn="ctr"/>
              <a:r>
                <a:rPr lang="en-US" sz="3200" dirty="0">
                  <a:solidFill>
                    <a:schemeClr val="accent1">
                      <a:lumMod val="50000"/>
                    </a:schemeClr>
                  </a:solidFill>
                  <a:latin typeface="FAUSans Office" panose="020B0504010101010104" pitchFamily="34" charset="77"/>
                  <a:cs typeface="FAUSans Office" panose="020B0504010101010104" pitchFamily="34" charset="77"/>
                </a:rPr>
                <a:t>Sorting</a:t>
              </a:r>
              <a:r>
                <a:rPr lang="en-US" sz="3200" dirty="0">
                  <a:solidFill>
                    <a:schemeClr val="tx1"/>
                  </a:solidFill>
                  <a:latin typeface="FAUSans Office" panose="020B0504010101010104" pitchFamily="34" charset="77"/>
                  <a:cs typeface="FAUSans Office" panose="020B0504010101010104" pitchFamily="34" charset="77"/>
                </a:rPr>
                <a:t> / </a:t>
              </a:r>
              <a:r>
                <a:rPr lang="en-US" sz="3200" dirty="0">
                  <a:solidFill>
                    <a:schemeClr val="accent1">
                      <a:lumMod val="50000"/>
                    </a:schemeClr>
                  </a:solidFill>
                  <a:latin typeface="FAUSans Office" panose="020B0504010101010104" pitchFamily="34" charset="77"/>
                  <a:cs typeface="FAUSans Office" panose="020B0504010101010104" pitchFamily="34" charset="77"/>
                </a:rPr>
                <a:t>Ranking</a:t>
              </a:r>
              <a:endParaRPr lang="en-US" sz="3200" dirty="0">
                <a:solidFill>
                  <a:schemeClr val="tx1"/>
                </a:solidFill>
                <a:latin typeface="FAUSans Office" panose="020B0504010101010104" pitchFamily="34" charset="77"/>
                <a:cs typeface="FAUSans Office" panose="020B0504010101010104" pitchFamily="34" charset="77"/>
              </a:endParaRPr>
            </a:p>
          </p:txBody>
        </p:sp>
        <p:grpSp>
          <p:nvGrpSpPr>
            <p:cNvPr id="169" name="Group 168">
              <a:extLst>
                <a:ext uri="{FF2B5EF4-FFF2-40B4-BE49-F238E27FC236}">
                  <a16:creationId xmlns:a16="http://schemas.microsoft.com/office/drawing/2014/main" id="{824D4138-7939-E13B-C087-BBB4F4031C3A}"/>
                </a:ext>
              </a:extLst>
            </p:cNvPr>
            <p:cNvGrpSpPr/>
            <p:nvPr/>
          </p:nvGrpSpPr>
          <p:grpSpPr>
            <a:xfrm>
              <a:off x="4342366" y="3330006"/>
              <a:ext cx="3507268" cy="2170825"/>
              <a:chOff x="4342366" y="3330006"/>
              <a:chExt cx="3507268" cy="2170825"/>
            </a:xfrm>
          </p:grpSpPr>
          <p:grpSp>
            <p:nvGrpSpPr>
              <p:cNvPr id="161" name="Group 160">
                <a:extLst>
                  <a:ext uri="{FF2B5EF4-FFF2-40B4-BE49-F238E27FC236}">
                    <a16:creationId xmlns:a16="http://schemas.microsoft.com/office/drawing/2014/main" id="{4149A408-F433-70C0-311D-EB0A5D8DACB7}"/>
                  </a:ext>
                </a:extLst>
              </p:cNvPr>
              <p:cNvGrpSpPr/>
              <p:nvPr/>
            </p:nvGrpSpPr>
            <p:grpSpPr>
              <a:xfrm>
                <a:off x="4342366" y="3527993"/>
                <a:ext cx="3507268" cy="1972838"/>
                <a:chOff x="4290153" y="3748625"/>
                <a:chExt cx="3614057" cy="2032907"/>
              </a:xfrm>
            </p:grpSpPr>
            <p:pic>
              <p:nvPicPr>
                <p:cNvPr id="78" name="Picture 77" descr="A black screen with a white border&#10;&#10;Description automatically generated">
                  <a:extLst>
                    <a:ext uri="{FF2B5EF4-FFF2-40B4-BE49-F238E27FC236}">
                      <a16:creationId xmlns:a16="http://schemas.microsoft.com/office/drawing/2014/main" id="{277ADD2D-BCA5-076B-CF11-EC8C91B18B9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290153" y="3748625"/>
                  <a:ext cx="3614057" cy="2032907"/>
                </a:xfrm>
                <a:prstGeom prst="rect">
                  <a:avLst/>
                </a:prstGeom>
              </p:spPr>
            </p:pic>
            <p:grpSp>
              <p:nvGrpSpPr>
                <p:cNvPr id="80" name="Group 79">
                  <a:extLst>
                    <a:ext uri="{FF2B5EF4-FFF2-40B4-BE49-F238E27FC236}">
                      <a16:creationId xmlns:a16="http://schemas.microsoft.com/office/drawing/2014/main" id="{79761DF0-6FDE-E0F8-1A28-5E2EFBCCC87E}"/>
                    </a:ext>
                  </a:extLst>
                </p:cNvPr>
                <p:cNvGrpSpPr/>
                <p:nvPr/>
              </p:nvGrpSpPr>
              <p:grpSpPr>
                <a:xfrm>
                  <a:off x="4647600" y="3941823"/>
                  <a:ext cx="2895600" cy="75692"/>
                  <a:chOff x="4639673" y="1649035"/>
                  <a:chExt cx="2895600" cy="75692"/>
                </a:xfrm>
                <a:solidFill>
                  <a:schemeClr val="accent2">
                    <a:lumMod val="25000"/>
                  </a:schemeClr>
                </a:solidFill>
              </p:grpSpPr>
              <p:cxnSp>
                <p:nvCxnSpPr>
                  <p:cNvPr id="118" name="Straight Connector 117">
                    <a:extLst>
                      <a:ext uri="{FF2B5EF4-FFF2-40B4-BE49-F238E27FC236}">
                        <a16:creationId xmlns:a16="http://schemas.microsoft.com/office/drawing/2014/main" id="{C05281D4-960D-59ED-BA44-CC543D8EE1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639673" y="1679007"/>
                    <a:ext cx="1329327" cy="0"/>
                  </a:xfrm>
                  <a:prstGeom prst="line">
                    <a:avLst/>
                  </a:prstGeom>
                  <a:grpFill/>
                  <a:ln w="38100">
                    <a:solidFill>
                      <a:schemeClr val="accent2">
                        <a:lumMod val="2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E0E30A5E-C5C9-30E2-6603-041569AD0CD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205946" y="1679007"/>
                    <a:ext cx="1329327" cy="0"/>
                  </a:xfrm>
                  <a:prstGeom prst="line">
                    <a:avLst/>
                  </a:prstGeom>
                  <a:grpFill/>
                  <a:ln w="38100">
                    <a:solidFill>
                      <a:schemeClr val="accent2">
                        <a:lumMod val="2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20" name="Oval 119">
                    <a:extLst>
                      <a:ext uri="{FF2B5EF4-FFF2-40B4-BE49-F238E27FC236}">
                        <a16:creationId xmlns:a16="http://schemas.microsoft.com/office/drawing/2014/main" id="{5B3552C6-A906-0975-B3D6-02A3F34C51E0}"/>
                      </a:ext>
                    </a:extLst>
                  </p:cNvPr>
                  <p:cNvSpPr/>
                  <p:nvPr/>
                </p:nvSpPr>
                <p:spPr>
                  <a:xfrm>
                    <a:off x="6045200" y="1649035"/>
                    <a:ext cx="76584" cy="75692"/>
                  </a:xfrm>
                  <a:prstGeom prst="ellipse">
                    <a:avLst/>
                  </a:prstGeom>
                  <a:grpFill/>
                  <a:ln>
                    <a:solidFill>
                      <a:schemeClr val="accent2">
                        <a:lumMod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81" name="Group 80">
                  <a:extLst>
                    <a:ext uri="{FF2B5EF4-FFF2-40B4-BE49-F238E27FC236}">
                      <a16:creationId xmlns:a16="http://schemas.microsoft.com/office/drawing/2014/main" id="{B7DDC966-D926-FE09-3936-72F08F9CD6E0}"/>
                    </a:ext>
                  </a:extLst>
                </p:cNvPr>
                <p:cNvGrpSpPr/>
                <p:nvPr/>
              </p:nvGrpSpPr>
              <p:grpSpPr>
                <a:xfrm>
                  <a:off x="4647600" y="4096022"/>
                  <a:ext cx="2895600" cy="75692"/>
                  <a:chOff x="4639673" y="1649035"/>
                  <a:chExt cx="2895600" cy="75692"/>
                </a:xfrm>
                <a:solidFill>
                  <a:schemeClr val="accent2">
                    <a:lumMod val="50000"/>
                  </a:schemeClr>
                </a:solidFill>
              </p:grpSpPr>
              <p:cxnSp>
                <p:nvCxnSpPr>
                  <p:cNvPr id="115" name="Straight Connector 114">
                    <a:extLst>
                      <a:ext uri="{FF2B5EF4-FFF2-40B4-BE49-F238E27FC236}">
                        <a16:creationId xmlns:a16="http://schemas.microsoft.com/office/drawing/2014/main" id="{90E7B30F-0D51-6035-2604-3B2D4C56FD3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639673" y="1679007"/>
                    <a:ext cx="1329327" cy="0"/>
                  </a:xfrm>
                  <a:prstGeom prst="line">
                    <a:avLst/>
                  </a:prstGeom>
                  <a:grpFill/>
                  <a:ln w="38100">
                    <a:solidFill>
                      <a:schemeClr val="accent2">
                        <a:lumMod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6" name="Straight Connector 115">
                    <a:extLst>
                      <a:ext uri="{FF2B5EF4-FFF2-40B4-BE49-F238E27FC236}">
                        <a16:creationId xmlns:a16="http://schemas.microsoft.com/office/drawing/2014/main" id="{D933F6E3-27A8-B381-8E74-1D364A60B4E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205946" y="1679007"/>
                    <a:ext cx="1329327" cy="0"/>
                  </a:xfrm>
                  <a:prstGeom prst="line">
                    <a:avLst/>
                  </a:prstGeom>
                  <a:grpFill/>
                  <a:ln w="38100">
                    <a:solidFill>
                      <a:schemeClr val="accent2">
                        <a:lumMod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17" name="Oval 116">
                    <a:extLst>
                      <a:ext uri="{FF2B5EF4-FFF2-40B4-BE49-F238E27FC236}">
                        <a16:creationId xmlns:a16="http://schemas.microsoft.com/office/drawing/2014/main" id="{27842D9B-B7E2-2B5E-E66F-D12AB4120FB6}"/>
                      </a:ext>
                    </a:extLst>
                  </p:cNvPr>
                  <p:cNvSpPr/>
                  <p:nvPr/>
                </p:nvSpPr>
                <p:spPr>
                  <a:xfrm>
                    <a:off x="6045200" y="1649035"/>
                    <a:ext cx="76584" cy="75692"/>
                  </a:xfrm>
                  <a:prstGeom prst="ellipse">
                    <a:avLst/>
                  </a:prstGeom>
                  <a:grpFill/>
                  <a:ln>
                    <a:solidFill>
                      <a:schemeClr val="accent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82" name="Group 81">
                  <a:extLst>
                    <a:ext uri="{FF2B5EF4-FFF2-40B4-BE49-F238E27FC236}">
                      <a16:creationId xmlns:a16="http://schemas.microsoft.com/office/drawing/2014/main" id="{B440AA3A-077E-3875-97A9-21D227FF06E0}"/>
                    </a:ext>
                  </a:extLst>
                </p:cNvPr>
                <p:cNvGrpSpPr/>
                <p:nvPr/>
              </p:nvGrpSpPr>
              <p:grpSpPr>
                <a:xfrm>
                  <a:off x="4647600" y="4250221"/>
                  <a:ext cx="2895600" cy="75692"/>
                  <a:chOff x="4639673" y="1649035"/>
                  <a:chExt cx="2895600" cy="75692"/>
                </a:xfrm>
                <a:solidFill>
                  <a:srgbClr val="CC0066"/>
                </a:solidFill>
              </p:grpSpPr>
              <p:cxnSp>
                <p:nvCxnSpPr>
                  <p:cNvPr id="112" name="Straight Connector 111">
                    <a:extLst>
                      <a:ext uri="{FF2B5EF4-FFF2-40B4-BE49-F238E27FC236}">
                        <a16:creationId xmlns:a16="http://schemas.microsoft.com/office/drawing/2014/main" id="{C6E9675F-CD10-6590-E01E-670E1A098C8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639673" y="1679007"/>
                    <a:ext cx="1329327" cy="0"/>
                  </a:xfrm>
                  <a:prstGeom prst="line">
                    <a:avLst/>
                  </a:prstGeom>
                  <a:grpFill/>
                  <a:ln w="38100">
                    <a:solidFill>
                      <a:srgbClr val="CC0066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3" name="Straight Connector 112">
                    <a:extLst>
                      <a:ext uri="{FF2B5EF4-FFF2-40B4-BE49-F238E27FC236}">
                        <a16:creationId xmlns:a16="http://schemas.microsoft.com/office/drawing/2014/main" id="{14F1CFD2-C6D2-B861-920C-F8C08EDF229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205946" y="1679007"/>
                    <a:ext cx="1329327" cy="0"/>
                  </a:xfrm>
                  <a:prstGeom prst="line">
                    <a:avLst/>
                  </a:prstGeom>
                  <a:grpFill/>
                  <a:ln w="38100">
                    <a:solidFill>
                      <a:srgbClr val="CC0066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14" name="Oval 113">
                    <a:extLst>
                      <a:ext uri="{FF2B5EF4-FFF2-40B4-BE49-F238E27FC236}">
                        <a16:creationId xmlns:a16="http://schemas.microsoft.com/office/drawing/2014/main" id="{04CF65F5-BFF5-01AB-F619-1056AA48F123}"/>
                      </a:ext>
                    </a:extLst>
                  </p:cNvPr>
                  <p:cNvSpPr/>
                  <p:nvPr/>
                </p:nvSpPr>
                <p:spPr>
                  <a:xfrm>
                    <a:off x="6045200" y="1649035"/>
                    <a:ext cx="76584" cy="75692"/>
                  </a:xfrm>
                  <a:prstGeom prst="ellipse">
                    <a:avLst/>
                  </a:prstGeom>
                  <a:grpFill/>
                  <a:ln>
                    <a:solidFill>
                      <a:srgbClr val="CC006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83" name="Group 82">
                  <a:extLst>
                    <a:ext uri="{FF2B5EF4-FFF2-40B4-BE49-F238E27FC236}">
                      <a16:creationId xmlns:a16="http://schemas.microsoft.com/office/drawing/2014/main" id="{D57C1B53-994F-F4BC-3090-00BA00B1FE8F}"/>
                    </a:ext>
                  </a:extLst>
                </p:cNvPr>
                <p:cNvGrpSpPr/>
                <p:nvPr/>
              </p:nvGrpSpPr>
              <p:grpSpPr>
                <a:xfrm>
                  <a:off x="4647600" y="4404420"/>
                  <a:ext cx="2895600" cy="75692"/>
                  <a:chOff x="4639673" y="1649035"/>
                  <a:chExt cx="2895600" cy="75692"/>
                </a:xfrm>
                <a:solidFill>
                  <a:srgbClr val="FF3399"/>
                </a:solidFill>
              </p:grpSpPr>
              <p:cxnSp>
                <p:nvCxnSpPr>
                  <p:cNvPr id="109" name="Straight Connector 108">
                    <a:extLst>
                      <a:ext uri="{FF2B5EF4-FFF2-40B4-BE49-F238E27FC236}">
                        <a16:creationId xmlns:a16="http://schemas.microsoft.com/office/drawing/2014/main" id="{11EFE93B-E8CE-2599-0F9A-811CA5AEBF9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639673" y="1679007"/>
                    <a:ext cx="1329327" cy="0"/>
                  </a:xfrm>
                  <a:prstGeom prst="line">
                    <a:avLst/>
                  </a:prstGeom>
                  <a:grpFill/>
                  <a:ln w="38100">
                    <a:solidFill>
                      <a:srgbClr val="FF3399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0" name="Straight Connector 109">
                    <a:extLst>
                      <a:ext uri="{FF2B5EF4-FFF2-40B4-BE49-F238E27FC236}">
                        <a16:creationId xmlns:a16="http://schemas.microsoft.com/office/drawing/2014/main" id="{9E9AD625-E4CC-4084-4C69-A358CB460D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205946" y="1679007"/>
                    <a:ext cx="1329327" cy="0"/>
                  </a:xfrm>
                  <a:prstGeom prst="line">
                    <a:avLst/>
                  </a:prstGeom>
                  <a:grpFill/>
                  <a:ln w="38100">
                    <a:solidFill>
                      <a:srgbClr val="FF3399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11" name="Oval 110">
                    <a:extLst>
                      <a:ext uri="{FF2B5EF4-FFF2-40B4-BE49-F238E27FC236}">
                        <a16:creationId xmlns:a16="http://schemas.microsoft.com/office/drawing/2014/main" id="{F36935B3-C050-57FA-F579-A9ABB339345D}"/>
                      </a:ext>
                    </a:extLst>
                  </p:cNvPr>
                  <p:cNvSpPr/>
                  <p:nvPr/>
                </p:nvSpPr>
                <p:spPr>
                  <a:xfrm>
                    <a:off x="6045200" y="1649035"/>
                    <a:ext cx="76584" cy="75692"/>
                  </a:xfrm>
                  <a:prstGeom prst="ellipse">
                    <a:avLst/>
                  </a:prstGeom>
                  <a:grpFill/>
                  <a:ln>
                    <a:solidFill>
                      <a:srgbClr val="FF3399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94B87D98-3915-3569-C7CE-23541C3F0A36}"/>
                    </a:ext>
                  </a:extLst>
                </p:cNvPr>
                <p:cNvGrpSpPr/>
                <p:nvPr/>
              </p:nvGrpSpPr>
              <p:grpSpPr>
                <a:xfrm>
                  <a:off x="4647600" y="4558619"/>
                  <a:ext cx="2895600" cy="75692"/>
                  <a:chOff x="4639673" y="1649035"/>
                  <a:chExt cx="2895600" cy="75692"/>
                </a:xfrm>
                <a:solidFill>
                  <a:srgbClr val="FF33CC"/>
                </a:solidFill>
              </p:grpSpPr>
              <p:cxnSp>
                <p:nvCxnSpPr>
                  <p:cNvPr id="106" name="Straight Connector 105">
                    <a:extLst>
                      <a:ext uri="{FF2B5EF4-FFF2-40B4-BE49-F238E27FC236}">
                        <a16:creationId xmlns:a16="http://schemas.microsoft.com/office/drawing/2014/main" id="{21484231-ED56-A582-2F08-D189BD484B5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639673" y="1679007"/>
                    <a:ext cx="1329327" cy="0"/>
                  </a:xfrm>
                  <a:prstGeom prst="line">
                    <a:avLst/>
                  </a:prstGeom>
                  <a:grpFill/>
                  <a:ln w="38100">
                    <a:solidFill>
                      <a:srgbClr val="FF33C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7" name="Straight Connector 106">
                    <a:extLst>
                      <a:ext uri="{FF2B5EF4-FFF2-40B4-BE49-F238E27FC236}">
                        <a16:creationId xmlns:a16="http://schemas.microsoft.com/office/drawing/2014/main" id="{827B144F-F4F3-8982-03F6-4D26EEF08FA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205946" y="1679007"/>
                    <a:ext cx="1329327" cy="0"/>
                  </a:xfrm>
                  <a:prstGeom prst="line">
                    <a:avLst/>
                  </a:prstGeom>
                  <a:grpFill/>
                  <a:ln w="38100">
                    <a:solidFill>
                      <a:srgbClr val="FF33C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08" name="Oval 107">
                    <a:extLst>
                      <a:ext uri="{FF2B5EF4-FFF2-40B4-BE49-F238E27FC236}">
                        <a16:creationId xmlns:a16="http://schemas.microsoft.com/office/drawing/2014/main" id="{BAEFA5BD-C370-ABA1-7898-DF81901CF107}"/>
                      </a:ext>
                    </a:extLst>
                  </p:cNvPr>
                  <p:cNvSpPr/>
                  <p:nvPr/>
                </p:nvSpPr>
                <p:spPr>
                  <a:xfrm>
                    <a:off x="6045200" y="1649035"/>
                    <a:ext cx="76584" cy="75692"/>
                  </a:xfrm>
                  <a:prstGeom prst="ellipse">
                    <a:avLst/>
                  </a:prstGeom>
                  <a:grpFill/>
                  <a:ln>
                    <a:solidFill>
                      <a:srgbClr val="FF33CC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4FA0E297-C555-265A-2576-85C535EA6E49}"/>
                    </a:ext>
                  </a:extLst>
                </p:cNvPr>
                <p:cNvGrpSpPr/>
                <p:nvPr/>
              </p:nvGrpSpPr>
              <p:grpSpPr>
                <a:xfrm>
                  <a:off x="4647600" y="4712818"/>
                  <a:ext cx="2895600" cy="75692"/>
                  <a:chOff x="4639673" y="1649035"/>
                  <a:chExt cx="2895600" cy="75692"/>
                </a:xfrm>
                <a:solidFill>
                  <a:srgbClr val="FF99CC"/>
                </a:solidFill>
              </p:grpSpPr>
              <p:cxnSp>
                <p:nvCxnSpPr>
                  <p:cNvPr id="103" name="Straight Connector 102">
                    <a:extLst>
                      <a:ext uri="{FF2B5EF4-FFF2-40B4-BE49-F238E27FC236}">
                        <a16:creationId xmlns:a16="http://schemas.microsoft.com/office/drawing/2014/main" id="{F751146F-AE0D-10EC-285E-CCE7D4AA7B8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639673" y="1679007"/>
                    <a:ext cx="1329327" cy="0"/>
                  </a:xfrm>
                  <a:prstGeom prst="line">
                    <a:avLst/>
                  </a:prstGeom>
                  <a:grpFill/>
                  <a:ln w="38100">
                    <a:solidFill>
                      <a:srgbClr val="FF99C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Straight Connector 103">
                    <a:extLst>
                      <a:ext uri="{FF2B5EF4-FFF2-40B4-BE49-F238E27FC236}">
                        <a16:creationId xmlns:a16="http://schemas.microsoft.com/office/drawing/2014/main" id="{BB25B595-3730-37D5-E286-229BCD18AC9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205946" y="1679007"/>
                    <a:ext cx="1329327" cy="0"/>
                  </a:xfrm>
                  <a:prstGeom prst="line">
                    <a:avLst/>
                  </a:prstGeom>
                  <a:grpFill/>
                  <a:ln w="38100">
                    <a:solidFill>
                      <a:srgbClr val="FF99C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05" name="Oval 104">
                    <a:extLst>
                      <a:ext uri="{FF2B5EF4-FFF2-40B4-BE49-F238E27FC236}">
                        <a16:creationId xmlns:a16="http://schemas.microsoft.com/office/drawing/2014/main" id="{962BF487-79AA-9D54-106A-75BD723092B4}"/>
                      </a:ext>
                    </a:extLst>
                  </p:cNvPr>
                  <p:cNvSpPr/>
                  <p:nvPr/>
                </p:nvSpPr>
                <p:spPr>
                  <a:xfrm>
                    <a:off x="6045200" y="1649035"/>
                    <a:ext cx="76584" cy="75692"/>
                  </a:xfrm>
                  <a:prstGeom prst="ellipse">
                    <a:avLst/>
                  </a:prstGeom>
                  <a:grpFill/>
                  <a:ln>
                    <a:solidFill>
                      <a:srgbClr val="FF99CC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86" name="Group 85">
                  <a:extLst>
                    <a:ext uri="{FF2B5EF4-FFF2-40B4-BE49-F238E27FC236}">
                      <a16:creationId xmlns:a16="http://schemas.microsoft.com/office/drawing/2014/main" id="{4FAE5EC0-E9FB-7E08-75C6-C174E614C5ED}"/>
                    </a:ext>
                  </a:extLst>
                </p:cNvPr>
                <p:cNvGrpSpPr/>
                <p:nvPr/>
              </p:nvGrpSpPr>
              <p:grpSpPr>
                <a:xfrm>
                  <a:off x="4647600" y="4867017"/>
                  <a:ext cx="2895600" cy="75692"/>
                  <a:chOff x="4639673" y="1649035"/>
                  <a:chExt cx="2895600" cy="75692"/>
                </a:xfrm>
                <a:solidFill>
                  <a:schemeClr val="accent2">
                    <a:lumMod val="90000"/>
                  </a:schemeClr>
                </a:solidFill>
              </p:grpSpPr>
              <p:cxnSp>
                <p:nvCxnSpPr>
                  <p:cNvPr id="100" name="Straight Connector 99">
                    <a:extLst>
                      <a:ext uri="{FF2B5EF4-FFF2-40B4-BE49-F238E27FC236}">
                        <a16:creationId xmlns:a16="http://schemas.microsoft.com/office/drawing/2014/main" id="{27F22ACD-89C2-91FE-45A7-1C4BD0C161E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639673" y="1679007"/>
                    <a:ext cx="1329327" cy="0"/>
                  </a:xfrm>
                  <a:prstGeom prst="line">
                    <a:avLst/>
                  </a:prstGeom>
                  <a:grpFill/>
                  <a:ln w="38100">
                    <a:solidFill>
                      <a:schemeClr val="accent2">
                        <a:lumMod val="9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1" name="Straight Connector 100">
                    <a:extLst>
                      <a:ext uri="{FF2B5EF4-FFF2-40B4-BE49-F238E27FC236}">
                        <a16:creationId xmlns:a16="http://schemas.microsoft.com/office/drawing/2014/main" id="{3F66AF77-3F76-906D-C13A-17F0104DAAB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205946" y="1679007"/>
                    <a:ext cx="1329327" cy="0"/>
                  </a:xfrm>
                  <a:prstGeom prst="line">
                    <a:avLst/>
                  </a:prstGeom>
                  <a:grpFill/>
                  <a:ln w="38100">
                    <a:solidFill>
                      <a:schemeClr val="accent2">
                        <a:lumMod val="9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02" name="Oval 101">
                    <a:extLst>
                      <a:ext uri="{FF2B5EF4-FFF2-40B4-BE49-F238E27FC236}">
                        <a16:creationId xmlns:a16="http://schemas.microsoft.com/office/drawing/2014/main" id="{BBF81EDB-632A-0BD1-0917-4B2611D032A9}"/>
                      </a:ext>
                    </a:extLst>
                  </p:cNvPr>
                  <p:cNvSpPr/>
                  <p:nvPr/>
                </p:nvSpPr>
                <p:spPr>
                  <a:xfrm>
                    <a:off x="6045200" y="1649035"/>
                    <a:ext cx="76584" cy="75692"/>
                  </a:xfrm>
                  <a:prstGeom prst="ellipse">
                    <a:avLst/>
                  </a:prstGeom>
                  <a:grpFill/>
                  <a:ln>
                    <a:solidFill>
                      <a:schemeClr val="accent2">
                        <a:lumMod val="9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87" name="Group 86">
                  <a:extLst>
                    <a:ext uri="{FF2B5EF4-FFF2-40B4-BE49-F238E27FC236}">
                      <a16:creationId xmlns:a16="http://schemas.microsoft.com/office/drawing/2014/main" id="{5D753F26-92CE-062D-43A6-084141DEE9FE}"/>
                    </a:ext>
                  </a:extLst>
                </p:cNvPr>
                <p:cNvGrpSpPr/>
                <p:nvPr/>
              </p:nvGrpSpPr>
              <p:grpSpPr>
                <a:xfrm>
                  <a:off x="4647600" y="5021216"/>
                  <a:ext cx="2895600" cy="75692"/>
                  <a:chOff x="4639673" y="1649035"/>
                  <a:chExt cx="2895600" cy="75692"/>
                </a:xfrm>
              </p:grpSpPr>
              <p:cxnSp>
                <p:nvCxnSpPr>
                  <p:cNvPr id="97" name="Straight Connector 96">
                    <a:extLst>
                      <a:ext uri="{FF2B5EF4-FFF2-40B4-BE49-F238E27FC236}">
                        <a16:creationId xmlns:a16="http://schemas.microsoft.com/office/drawing/2014/main" id="{84707819-9568-B38F-4E03-25EB864867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639673" y="1679007"/>
                    <a:ext cx="1329327" cy="0"/>
                  </a:xfrm>
                  <a:prstGeom prst="line">
                    <a:avLst/>
                  </a:prstGeom>
                  <a:ln w="38100">
                    <a:solidFill>
                      <a:srgbClr val="F8AABA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8" name="Straight Connector 97">
                    <a:extLst>
                      <a:ext uri="{FF2B5EF4-FFF2-40B4-BE49-F238E27FC236}">
                        <a16:creationId xmlns:a16="http://schemas.microsoft.com/office/drawing/2014/main" id="{8C242460-D261-CEF1-BEC4-77990CF62DF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205946" y="1679007"/>
                    <a:ext cx="1329327" cy="0"/>
                  </a:xfrm>
                  <a:prstGeom prst="line">
                    <a:avLst/>
                  </a:prstGeom>
                  <a:ln w="38100">
                    <a:solidFill>
                      <a:srgbClr val="F8AABA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9" name="Oval 98">
                    <a:extLst>
                      <a:ext uri="{FF2B5EF4-FFF2-40B4-BE49-F238E27FC236}">
                        <a16:creationId xmlns:a16="http://schemas.microsoft.com/office/drawing/2014/main" id="{06C34810-3B9D-7715-928B-BB906CA65C13}"/>
                      </a:ext>
                    </a:extLst>
                  </p:cNvPr>
                  <p:cNvSpPr/>
                  <p:nvPr/>
                </p:nvSpPr>
                <p:spPr>
                  <a:xfrm>
                    <a:off x="6045200" y="1649035"/>
                    <a:ext cx="76584" cy="75692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88" name="Group 87">
                  <a:extLst>
                    <a:ext uri="{FF2B5EF4-FFF2-40B4-BE49-F238E27FC236}">
                      <a16:creationId xmlns:a16="http://schemas.microsoft.com/office/drawing/2014/main" id="{EA79B25B-611E-0511-4E87-363C6A48F5AB}"/>
                    </a:ext>
                  </a:extLst>
                </p:cNvPr>
                <p:cNvGrpSpPr/>
                <p:nvPr/>
              </p:nvGrpSpPr>
              <p:grpSpPr>
                <a:xfrm>
                  <a:off x="4647600" y="5175415"/>
                  <a:ext cx="2895600" cy="75692"/>
                  <a:chOff x="4639673" y="1649035"/>
                  <a:chExt cx="2895600" cy="75692"/>
                </a:xfrm>
                <a:solidFill>
                  <a:srgbClr val="FBD4DC"/>
                </a:solidFill>
              </p:grpSpPr>
              <p:cxnSp>
                <p:nvCxnSpPr>
                  <p:cNvPr id="94" name="Straight Connector 93">
                    <a:extLst>
                      <a:ext uri="{FF2B5EF4-FFF2-40B4-BE49-F238E27FC236}">
                        <a16:creationId xmlns:a16="http://schemas.microsoft.com/office/drawing/2014/main" id="{18B2D459-56E3-5D81-FDC2-E0FF3D8182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639673" y="1679007"/>
                    <a:ext cx="1329327" cy="0"/>
                  </a:xfrm>
                  <a:prstGeom prst="line">
                    <a:avLst/>
                  </a:prstGeom>
                  <a:grpFill/>
                  <a:ln w="38100">
                    <a:solidFill>
                      <a:srgbClr val="FBD4D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5" name="Straight Connector 94">
                    <a:extLst>
                      <a:ext uri="{FF2B5EF4-FFF2-40B4-BE49-F238E27FC236}">
                        <a16:creationId xmlns:a16="http://schemas.microsoft.com/office/drawing/2014/main" id="{250ABBF4-3D04-71F5-CD4C-8752390C168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205946" y="1679007"/>
                    <a:ext cx="1329327" cy="0"/>
                  </a:xfrm>
                  <a:prstGeom prst="line">
                    <a:avLst/>
                  </a:prstGeom>
                  <a:grpFill/>
                  <a:ln w="38100">
                    <a:solidFill>
                      <a:srgbClr val="FBD4D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6" name="Oval 95">
                    <a:extLst>
                      <a:ext uri="{FF2B5EF4-FFF2-40B4-BE49-F238E27FC236}">
                        <a16:creationId xmlns:a16="http://schemas.microsoft.com/office/drawing/2014/main" id="{8EEDE1ED-7516-2782-A01C-C7CA7889175B}"/>
                      </a:ext>
                    </a:extLst>
                  </p:cNvPr>
                  <p:cNvSpPr/>
                  <p:nvPr/>
                </p:nvSpPr>
                <p:spPr>
                  <a:xfrm>
                    <a:off x="6045200" y="1649035"/>
                    <a:ext cx="76584" cy="75692"/>
                  </a:xfrm>
                  <a:prstGeom prst="ellipse">
                    <a:avLst/>
                  </a:prstGeom>
                  <a:grpFill/>
                  <a:ln>
                    <a:solidFill>
                      <a:srgbClr val="FBD4DC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89" name="Group 88">
                  <a:extLst>
                    <a:ext uri="{FF2B5EF4-FFF2-40B4-BE49-F238E27FC236}">
                      <a16:creationId xmlns:a16="http://schemas.microsoft.com/office/drawing/2014/main" id="{50E06847-B430-E440-1111-985A42F0A689}"/>
                    </a:ext>
                  </a:extLst>
                </p:cNvPr>
                <p:cNvGrpSpPr/>
                <p:nvPr/>
              </p:nvGrpSpPr>
              <p:grpSpPr>
                <a:xfrm>
                  <a:off x="4647600" y="5329615"/>
                  <a:ext cx="2895600" cy="75692"/>
                  <a:chOff x="4639673" y="1649035"/>
                  <a:chExt cx="2895600" cy="75692"/>
                </a:xfrm>
                <a:solidFill>
                  <a:srgbClr val="FFCCFF"/>
                </a:solidFill>
              </p:grpSpPr>
              <p:cxnSp>
                <p:nvCxnSpPr>
                  <p:cNvPr id="91" name="Straight Connector 90">
                    <a:extLst>
                      <a:ext uri="{FF2B5EF4-FFF2-40B4-BE49-F238E27FC236}">
                        <a16:creationId xmlns:a16="http://schemas.microsoft.com/office/drawing/2014/main" id="{0EA3C9F3-003A-8DEB-C9A7-980A2EAE5DE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639673" y="1679007"/>
                    <a:ext cx="1329327" cy="0"/>
                  </a:xfrm>
                  <a:prstGeom prst="line">
                    <a:avLst/>
                  </a:prstGeom>
                  <a:grpFill/>
                  <a:ln w="38100">
                    <a:solidFill>
                      <a:srgbClr val="FFCCFF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2" name="Straight Connector 91">
                    <a:extLst>
                      <a:ext uri="{FF2B5EF4-FFF2-40B4-BE49-F238E27FC236}">
                        <a16:creationId xmlns:a16="http://schemas.microsoft.com/office/drawing/2014/main" id="{1F904368-65D6-6D1C-4F09-B864B1FC349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205946" y="1679007"/>
                    <a:ext cx="1329327" cy="0"/>
                  </a:xfrm>
                  <a:prstGeom prst="line">
                    <a:avLst/>
                  </a:prstGeom>
                  <a:grpFill/>
                  <a:ln w="38100">
                    <a:solidFill>
                      <a:srgbClr val="FFCCFF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3" name="Oval 92">
                    <a:extLst>
                      <a:ext uri="{FF2B5EF4-FFF2-40B4-BE49-F238E27FC236}">
                        <a16:creationId xmlns:a16="http://schemas.microsoft.com/office/drawing/2014/main" id="{F209E4F4-F563-7A46-6F77-89DFCBFD5372}"/>
                      </a:ext>
                    </a:extLst>
                  </p:cNvPr>
                  <p:cNvSpPr/>
                  <p:nvPr/>
                </p:nvSpPr>
                <p:spPr>
                  <a:xfrm>
                    <a:off x="6045200" y="1649035"/>
                    <a:ext cx="76584" cy="75692"/>
                  </a:xfrm>
                  <a:prstGeom prst="ellipse">
                    <a:avLst/>
                  </a:prstGeom>
                  <a:grpFill/>
                  <a:ln>
                    <a:solidFill>
                      <a:srgbClr val="FFCCFF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</p:grpSp>
          <p:sp>
            <p:nvSpPr>
              <p:cNvPr id="90" name="Arrow: Right 123">
                <a:extLst>
                  <a:ext uri="{FF2B5EF4-FFF2-40B4-BE49-F238E27FC236}">
                    <a16:creationId xmlns:a16="http://schemas.microsoft.com/office/drawing/2014/main" id="{67A6A1CD-C5C9-7550-1B88-CD5D85C35EC4}"/>
                  </a:ext>
                </a:extLst>
              </p:cNvPr>
              <p:cNvSpPr/>
              <p:nvPr/>
            </p:nvSpPr>
            <p:spPr>
              <a:xfrm rot="5400000">
                <a:off x="5786777" y="3459220"/>
                <a:ext cx="601392" cy="342964"/>
              </a:xfrm>
              <a:prstGeom prst="rightArrow">
                <a:avLst/>
              </a:prstGeom>
              <a:solidFill>
                <a:srgbClr val="FBD4DC"/>
              </a:solidFill>
              <a:ln w="28575">
                <a:solidFill>
                  <a:srgbClr val="FF339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</p:grp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ACB22EC4-05E8-BC84-2313-12C494DA1725}"/>
              </a:ext>
            </a:extLst>
          </p:cNvPr>
          <p:cNvGrpSpPr/>
          <p:nvPr/>
        </p:nvGrpSpPr>
        <p:grpSpPr>
          <a:xfrm>
            <a:off x="7737987" y="3380275"/>
            <a:ext cx="4454013" cy="3091271"/>
            <a:chOff x="7737987" y="3380275"/>
            <a:chExt cx="4454013" cy="3091271"/>
          </a:xfrm>
        </p:grpSpPr>
        <p:sp>
          <p:nvSpPr>
            <p:cNvPr id="123" name="Rounded Rectangle 17">
              <a:extLst>
                <a:ext uri="{FF2B5EF4-FFF2-40B4-BE49-F238E27FC236}">
                  <a16:creationId xmlns:a16="http://schemas.microsoft.com/office/drawing/2014/main" id="{8BC2A4EC-AC34-1749-C5F4-1A62CCAEE859}"/>
                </a:ext>
              </a:extLst>
            </p:cNvPr>
            <p:cNvSpPr/>
            <p:nvPr/>
          </p:nvSpPr>
          <p:spPr>
            <a:xfrm>
              <a:off x="7737987" y="5443817"/>
              <a:ext cx="4454013" cy="1027729"/>
            </a:xfrm>
            <a:prstGeom prst="roundRect">
              <a:avLst/>
            </a:prstGeom>
            <a:ln w="25400"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3200" dirty="0">
                  <a:solidFill>
                    <a:schemeClr val="accent2">
                      <a:lumMod val="50000"/>
                    </a:schemeClr>
                  </a:solidFill>
                  <a:latin typeface="FAUSans Office" panose="020B0504010101010104" pitchFamily="34" charset="77"/>
                  <a:cs typeface="FAUSans Office" panose="020B0504010101010104" pitchFamily="34" charset="77"/>
                </a:rPr>
                <a:t>Grouping</a:t>
              </a:r>
            </a:p>
            <a:p>
              <a:pPr algn="ctr"/>
              <a:r>
                <a:rPr lang="en-US" sz="3200" dirty="0">
                  <a:solidFill>
                    <a:schemeClr val="accent1">
                      <a:lumMod val="50000"/>
                    </a:schemeClr>
                  </a:solidFill>
                  <a:latin typeface="FAUSans Office" panose="020B0504010101010104" pitchFamily="34" charset="77"/>
                  <a:cs typeface="FAUSans Office" panose="020B0504010101010104" pitchFamily="34" charset="77"/>
                </a:rPr>
                <a:t>Partitioning</a:t>
              </a:r>
              <a:r>
                <a:rPr lang="en-US" sz="3200" dirty="0">
                  <a:solidFill>
                    <a:schemeClr val="tx1"/>
                  </a:solidFill>
                  <a:latin typeface="FAUSans Office" panose="020B0504010101010104" pitchFamily="34" charset="77"/>
                  <a:cs typeface="FAUSans Office" panose="020B0504010101010104" pitchFamily="34" charset="77"/>
                </a:rPr>
                <a:t>/</a:t>
              </a:r>
              <a:r>
                <a:rPr lang="en-US" sz="3200" dirty="0">
                  <a:solidFill>
                    <a:schemeClr val="accent1">
                      <a:lumMod val="50000"/>
                    </a:schemeClr>
                  </a:solidFill>
                  <a:latin typeface="FAUSans Office" panose="020B0504010101010104" pitchFamily="34" charset="77"/>
                  <a:cs typeface="FAUSans Office" panose="020B0504010101010104" pitchFamily="34" charset="77"/>
                </a:rPr>
                <a:t>Clustering</a:t>
              </a:r>
            </a:p>
          </p:txBody>
        </p:sp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E3ECC05C-426A-8BF3-2ACA-D24E5513AE88}"/>
                </a:ext>
              </a:extLst>
            </p:cNvPr>
            <p:cNvGrpSpPr/>
            <p:nvPr/>
          </p:nvGrpSpPr>
          <p:grpSpPr>
            <a:xfrm>
              <a:off x="8301653" y="3527993"/>
              <a:ext cx="3507268" cy="1972838"/>
              <a:chOff x="8301653" y="3527993"/>
              <a:chExt cx="3507268" cy="1972838"/>
            </a:xfrm>
          </p:grpSpPr>
          <p:pic>
            <p:nvPicPr>
              <p:cNvPr id="122" name="Picture 121" descr="A black screen with a white border&#10;&#10;Description automatically generated">
                <a:extLst>
                  <a:ext uri="{FF2B5EF4-FFF2-40B4-BE49-F238E27FC236}">
                    <a16:creationId xmlns:a16="http://schemas.microsoft.com/office/drawing/2014/main" id="{2DE7D40F-058D-97C8-C1FF-4B8E01C49E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301653" y="3527993"/>
                <a:ext cx="3507268" cy="1972838"/>
              </a:xfrm>
              <a:prstGeom prst="rect">
                <a:avLst/>
              </a:prstGeom>
            </p:spPr>
          </p:pic>
          <p:grpSp>
            <p:nvGrpSpPr>
              <p:cNvPr id="125" name="Group 124">
                <a:extLst>
                  <a:ext uri="{FF2B5EF4-FFF2-40B4-BE49-F238E27FC236}">
                    <a16:creationId xmlns:a16="http://schemas.microsoft.com/office/drawing/2014/main" id="{28C0D834-2BA7-15E1-2232-B84DD04FCE09}"/>
                  </a:ext>
                </a:extLst>
              </p:cNvPr>
              <p:cNvGrpSpPr/>
              <p:nvPr/>
            </p:nvGrpSpPr>
            <p:grpSpPr>
              <a:xfrm>
                <a:off x="8666677" y="3705221"/>
                <a:ext cx="2810040" cy="73455"/>
                <a:chOff x="4639673" y="1649035"/>
                <a:chExt cx="2895600" cy="75692"/>
              </a:xfrm>
            </p:grpSpPr>
            <p:cxnSp>
              <p:nvCxnSpPr>
                <p:cNvPr id="154" name="Straight Connector 153">
                  <a:extLst>
                    <a:ext uri="{FF2B5EF4-FFF2-40B4-BE49-F238E27FC236}">
                      <a16:creationId xmlns:a16="http://schemas.microsoft.com/office/drawing/2014/main" id="{CC8DB0D7-6029-D3FB-3AA0-F6875CD8B3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ln w="38100">
                  <a:solidFill>
                    <a:srgbClr val="F8AABA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5" name="Straight Connector 154">
                  <a:extLst>
                    <a:ext uri="{FF2B5EF4-FFF2-40B4-BE49-F238E27FC236}">
                      <a16:creationId xmlns:a16="http://schemas.microsoft.com/office/drawing/2014/main" id="{BEFC1EF2-0308-7953-3B3C-ABD5BA43C3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ln w="38100">
                  <a:solidFill>
                    <a:srgbClr val="F8AABA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CE0EA4CD-023C-06BA-6B6E-22BB954D126F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52214EB2-E786-8389-028D-B72725FD171E}"/>
                  </a:ext>
                </a:extLst>
              </p:cNvPr>
              <p:cNvGrpSpPr/>
              <p:nvPr/>
            </p:nvGrpSpPr>
            <p:grpSpPr>
              <a:xfrm>
                <a:off x="8666677" y="3857077"/>
                <a:ext cx="2810040" cy="73455"/>
                <a:chOff x="4639673" y="1649035"/>
                <a:chExt cx="2895600" cy="75692"/>
              </a:xfrm>
              <a:solidFill>
                <a:srgbClr val="CC0066"/>
              </a:solidFill>
            </p:grpSpPr>
            <p:cxnSp>
              <p:nvCxnSpPr>
                <p:cNvPr id="151" name="Straight Connector 150">
                  <a:extLst>
                    <a:ext uri="{FF2B5EF4-FFF2-40B4-BE49-F238E27FC236}">
                      <a16:creationId xmlns:a16="http://schemas.microsoft.com/office/drawing/2014/main" id="{E3B5A047-7F59-1348-1801-7FAF8FB099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CC00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2" name="Straight Connector 151">
                  <a:extLst>
                    <a:ext uri="{FF2B5EF4-FFF2-40B4-BE49-F238E27FC236}">
                      <a16:creationId xmlns:a16="http://schemas.microsoft.com/office/drawing/2014/main" id="{374D9D38-879F-D2E1-2205-B56FE2FC89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CC00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53" name="Oval 152">
                  <a:extLst>
                    <a:ext uri="{FF2B5EF4-FFF2-40B4-BE49-F238E27FC236}">
                      <a16:creationId xmlns:a16="http://schemas.microsoft.com/office/drawing/2014/main" id="{3823F569-EB2F-6678-622E-F348C86BF8AB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rgbClr val="CC006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0F7A0659-292B-9E0A-1B5D-2FB3A68BFD3B}"/>
                  </a:ext>
                </a:extLst>
              </p:cNvPr>
              <p:cNvGrpSpPr/>
              <p:nvPr/>
            </p:nvGrpSpPr>
            <p:grpSpPr>
              <a:xfrm>
                <a:off x="8666677" y="4160790"/>
                <a:ext cx="2810040" cy="73455"/>
                <a:chOff x="4639673" y="1649035"/>
                <a:chExt cx="2895600" cy="75692"/>
              </a:xfrm>
              <a:solidFill>
                <a:srgbClr val="FF33CC"/>
              </a:solidFill>
            </p:grpSpPr>
            <p:cxnSp>
              <p:nvCxnSpPr>
                <p:cNvPr id="148" name="Straight Connector 147">
                  <a:extLst>
                    <a:ext uri="{FF2B5EF4-FFF2-40B4-BE49-F238E27FC236}">
                      <a16:creationId xmlns:a16="http://schemas.microsoft.com/office/drawing/2014/main" id="{8BBE2C56-883A-E52C-6798-FFCC4B3EAB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33C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9" name="Straight Connector 148">
                  <a:extLst>
                    <a:ext uri="{FF2B5EF4-FFF2-40B4-BE49-F238E27FC236}">
                      <a16:creationId xmlns:a16="http://schemas.microsoft.com/office/drawing/2014/main" id="{8AB7EBF0-54B8-00F4-BCE5-0C7191C69B0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33C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50" name="Oval 149">
                  <a:extLst>
                    <a:ext uri="{FF2B5EF4-FFF2-40B4-BE49-F238E27FC236}">
                      <a16:creationId xmlns:a16="http://schemas.microsoft.com/office/drawing/2014/main" id="{1BA877EE-CCE0-C988-2613-F65EBE443258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rgbClr val="FF33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28" name="Group 127">
                <a:extLst>
                  <a:ext uri="{FF2B5EF4-FFF2-40B4-BE49-F238E27FC236}">
                    <a16:creationId xmlns:a16="http://schemas.microsoft.com/office/drawing/2014/main" id="{A7D85D68-62FC-FD04-7D14-9BDF93C0E635}"/>
                  </a:ext>
                </a:extLst>
              </p:cNvPr>
              <p:cNvGrpSpPr/>
              <p:nvPr/>
            </p:nvGrpSpPr>
            <p:grpSpPr>
              <a:xfrm>
                <a:off x="8666677" y="4312646"/>
                <a:ext cx="2810040" cy="73455"/>
                <a:chOff x="4639673" y="1649035"/>
                <a:chExt cx="2895600" cy="75692"/>
              </a:xfrm>
              <a:solidFill>
                <a:srgbClr val="FBD4DC"/>
              </a:solidFill>
            </p:grpSpPr>
            <p:cxnSp>
              <p:nvCxnSpPr>
                <p:cNvPr id="145" name="Straight Connector 144">
                  <a:extLst>
                    <a:ext uri="{FF2B5EF4-FFF2-40B4-BE49-F238E27FC236}">
                      <a16:creationId xmlns:a16="http://schemas.microsoft.com/office/drawing/2014/main" id="{4024C01E-0547-F06A-C957-328CDBA4BE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BD4D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" name="Straight Connector 145">
                  <a:extLst>
                    <a:ext uri="{FF2B5EF4-FFF2-40B4-BE49-F238E27FC236}">
                      <a16:creationId xmlns:a16="http://schemas.microsoft.com/office/drawing/2014/main" id="{725D62BC-5F8A-6F9F-E20C-9E2733562F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BD4D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47" name="Oval 146">
                  <a:extLst>
                    <a:ext uri="{FF2B5EF4-FFF2-40B4-BE49-F238E27FC236}">
                      <a16:creationId xmlns:a16="http://schemas.microsoft.com/office/drawing/2014/main" id="{4A364E61-86B2-E5DF-D6F7-69D01C004C3D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rgbClr val="FBD4D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29" name="Group 128">
                <a:extLst>
                  <a:ext uri="{FF2B5EF4-FFF2-40B4-BE49-F238E27FC236}">
                    <a16:creationId xmlns:a16="http://schemas.microsoft.com/office/drawing/2014/main" id="{3CCB3D0C-D81D-42FB-7D0B-761A3D63723C}"/>
                  </a:ext>
                </a:extLst>
              </p:cNvPr>
              <p:cNvGrpSpPr/>
              <p:nvPr/>
            </p:nvGrpSpPr>
            <p:grpSpPr>
              <a:xfrm>
                <a:off x="8666677" y="4464502"/>
                <a:ext cx="2810040" cy="73455"/>
                <a:chOff x="4639673" y="1649035"/>
                <a:chExt cx="2895600" cy="75692"/>
              </a:xfrm>
              <a:solidFill>
                <a:schemeClr val="accent2">
                  <a:lumMod val="50000"/>
                </a:schemeClr>
              </a:solidFill>
            </p:grpSpPr>
            <p:cxnSp>
              <p:nvCxnSpPr>
                <p:cNvPr id="142" name="Straight Connector 141">
                  <a:extLst>
                    <a:ext uri="{FF2B5EF4-FFF2-40B4-BE49-F238E27FC236}">
                      <a16:creationId xmlns:a16="http://schemas.microsoft.com/office/drawing/2014/main" id="{1560D86E-11F5-4E4D-0CFD-1D745E5AC0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" name="Straight Connector 142">
                  <a:extLst>
                    <a:ext uri="{FF2B5EF4-FFF2-40B4-BE49-F238E27FC236}">
                      <a16:creationId xmlns:a16="http://schemas.microsoft.com/office/drawing/2014/main" id="{8FCDBB7A-CAEC-389D-774E-AF3E38F38D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44" name="Oval 143">
                  <a:extLst>
                    <a:ext uri="{FF2B5EF4-FFF2-40B4-BE49-F238E27FC236}">
                      <a16:creationId xmlns:a16="http://schemas.microsoft.com/office/drawing/2014/main" id="{FADE6CC5-7CF2-BA33-A7E7-AC60AE448E5A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30" name="Group 129">
                <a:extLst>
                  <a:ext uri="{FF2B5EF4-FFF2-40B4-BE49-F238E27FC236}">
                    <a16:creationId xmlns:a16="http://schemas.microsoft.com/office/drawing/2014/main" id="{6F8A7E2F-FD14-241A-F9BE-6013A5DC6192}"/>
                  </a:ext>
                </a:extLst>
              </p:cNvPr>
              <p:cNvGrpSpPr/>
              <p:nvPr/>
            </p:nvGrpSpPr>
            <p:grpSpPr>
              <a:xfrm>
                <a:off x="8666677" y="4768215"/>
                <a:ext cx="2810040" cy="73455"/>
                <a:chOff x="4639673" y="1649035"/>
                <a:chExt cx="2895600" cy="75692"/>
              </a:xfrm>
              <a:solidFill>
                <a:schemeClr val="accent2">
                  <a:lumMod val="25000"/>
                </a:schemeClr>
              </a:solidFill>
            </p:grpSpPr>
            <p:cxnSp>
              <p:nvCxnSpPr>
                <p:cNvPr id="139" name="Straight Connector 138">
                  <a:extLst>
                    <a:ext uri="{FF2B5EF4-FFF2-40B4-BE49-F238E27FC236}">
                      <a16:creationId xmlns:a16="http://schemas.microsoft.com/office/drawing/2014/main" id="{35F18CC6-C252-5F6B-E548-1862A46480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" name="Straight Connector 139">
                  <a:extLst>
                    <a:ext uri="{FF2B5EF4-FFF2-40B4-BE49-F238E27FC236}">
                      <a16:creationId xmlns:a16="http://schemas.microsoft.com/office/drawing/2014/main" id="{E0ED56C0-9514-EE68-3A3F-B6694C4A82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41" name="Oval 140">
                  <a:extLst>
                    <a:ext uri="{FF2B5EF4-FFF2-40B4-BE49-F238E27FC236}">
                      <a16:creationId xmlns:a16="http://schemas.microsoft.com/office/drawing/2014/main" id="{232DDB4A-D906-F198-5793-004DF607630C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chemeClr val="accent2">
                      <a:lumMod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31" name="Group 130">
                <a:extLst>
                  <a:ext uri="{FF2B5EF4-FFF2-40B4-BE49-F238E27FC236}">
                    <a16:creationId xmlns:a16="http://schemas.microsoft.com/office/drawing/2014/main" id="{9D33A5B4-385B-5951-78BE-B2F44FF64D15}"/>
                  </a:ext>
                </a:extLst>
              </p:cNvPr>
              <p:cNvGrpSpPr/>
              <p:nvPr/>
            </p:nvGrpSpPr>
            <p:grpSpPr>
              <a:xfrm>
                <a:off x="8666677" y="4920071"/>
                <a:ext cx="2810040" cy="73455"/>
                <a:chOff x="4639673" y="1649035"/>
                <a:chExt cx="2895600" cy="75692"/>
              </a:xfrm>
              <a:solidFill>
                <a:srgbClr val="FF99CC"/>
              </a:solidFill>
            </p:grpSpPr>
            <p:cxnSp>
              <p:nvCxnSpPr>
                <p:cNvPr id="136" name="Straight Connector 135">
                  <a:extLst>
                    <a:ext uri="{FF2B5EF4-FFF2-40B4-BE49-F238E27FC236}">
                      <a16:creationId xmlns:a16="http://schemas.microsoft.com/office/drawing/2014/main" id="{69A34726-4CA6-580B-577A-58B7A1145D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99C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7" name="Straight Connector 136">
                  <a:extLst>
                    <a:ext uri="{FF2B5EF4-FFF2-40B4-BE49-F238E27FC236}">
                      <a16:creationId xmlns:a16="http://schemas.microsoft.com/office/drawing/2014/main" id="{8AE33268-A5E8-34DB-10D8-362AD74CA5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99C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8" name="Oval 137">
                  <a:extLst>
                    <a:ext uri="{FF2B5EF4-FFF2-40B4-BE49-F238E27FC236}">
                      <a16:creationId xmlns:a16="http://schemas.microsoft.com/office/drawing/2014/main" id="{B800E625-B138-738A-59AE-A46CC6678567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rgbClr val="FF99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32" name="Group 131">
                <a:extLst>
                  <a:ext uri="{FF2B5EF4-FFF2-40B4-BE49-F238E27FC236}">
                    <a16:creationId xmlns:a16="http://schemas.microsoft.com/office/drawing/2014/main" id="{08082FCB-A977-3637-1501-6939E3ECFC86}"/>
                  </a:ext>
                </a:extLst>
              </p:cNvPr>
              <p:cNvGrpSpPr/>
              <p:nvPr/>
            </p:nvGrpSpPr>
            <p:grpSpPr>
              <a:xfrm>
                <a:off x="8666677" y="5071931"/>
                <a:ext cx="2810040" cy="73455"/>
                <a:chOff x="4639673" y="1649035"/>
                <a:chExt cx="2895600" cy="75692"/>
              </a:xfrm>
              <a:solidFill>
                <a:schemeClr val="accent2">
                  <a:lumMod val="90000"/>
                </a:schemeClr>
              </a:solidFill>
            </p:grpSpPr>
            <p:cxnSp>
              <p:nvCxnSpPr>
                <p:cNvPr id="133" name="Straight Connector 132">
                  <a:extLst>
                    <a:ext uri="{FF2B5EF4-FFF2-40B4-BE49-F238E27FC236}">
                      <a16:creationId xmlns:a16="http://schemas.microsoft.com/office/drawing/2014/main" id="{F610B6F9-5F73-3B42-6D68-DD24A787977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9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4" name="Straight Connector 133">
                  <a:extLst>
                    <a:ext uri="{FF2B5EF4-FFF2-40B4-BE49-F238E27FC236}">
                      <a16:creationId xmlns:a16="http://schemas.microsoft.com/office/drawing/2014/main" id="{593A1CD4-D0AB-F4E3-9879-1F275126644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9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5" name="Oval 134">
                  <a:extLst>
                    <a:ext uri="{FF2B5EF4-FFF2-40B4-BE49-F238E27FC236}">
                      <a16:creationId xmlns:a16="http://schemas.microsoft.com/office/drawing/2014/main" id="{69A1A70A-3690-6607-05EA-8FC575375BDD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chemeClr val="accent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sp>
          <p:nvSpPr>
            <p:cNvPr id="124" name="Arrow: Right 122">
              <a:extLst>
                <a:ext uri="{FF2B5EF4-FFF2-40B4-BE49-F238E27FC236}">
                  <a16:creationId xmlns:a16="http://schemas.microsoft.com/office/drawing/2014/main" id="{302CB6E3-65B8-B487-9771-663CC94E9965}"/>
                </a:ext>
              </a:extLst>
            </p:cNvPr>
            <p:cNvSpPr/>
            <p:nvPr/>
          </p:nvSpPr>
          <p:spPr>
            <a:xfrm rot="1603675">
              <a:off x="7935479" y="3380275"/>
              <a:ext cx="797236" cy="342964"/>
            </a:xfrm>
            <a:prstGeom prst="rightArrow">
              <a:avLst/>
            </a:prstGeom>
            <a:solidFill>
              <a:srgbClr val="FBD4DC"/>
            </a:solidFill>
            <a:ln w="28575">
              <a:solidFill>
                <a:srgbClr val="FF339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F76B47F6-8E6E-712C-458A-06AEF7287F30}"/>
              </a:ext>
            </a:extLst>
          </p:cNvPr>
          <p:cNvGrpSpPr/>
          <p:nvPr/>
        </p:nvGrpSpPr>
        <p:grpSpPr>
          <a:xfrm>
            <a:off x="264215" y="3361577"/>
            <a:ext cx="3937652" cy="3106235"/>
            <a:chOff x="264215" y="3361577"/>
            <a:chExt cx="3937652" cy="3106235"/>
          </a:xfrm>
        </p:grpSpPr>
        <p:sp>
          <p:nvSpPr>
            <p:cNvPr id="75" name="Rounded Rectangle 17">
              <a:extLst>
                <a:ext uri="{FF2B5EF4-FFF2-40B4-BE49-F238E27FC236}">
                  <a16:creationId xmlns:a16="http://schemas.microsoft.com/office/drawing/2014/main" id="{D1EEC500-155B-69D1-78BF-F0ACB7C51201}"/>
                </a:ext>
              </a:extLst>
            </p:cNvPr>
            <p:cNvSpPr/>
            <p:nvPr/>
          </p:nvSpPr>
          <p:spPr>
            <a:xfrm>
              <a:off x="355930" y="5440084"/>
              <a:ext cx="3323838" cy="1027728"/>
            </a:xfrm>
            <a:prstGeom prst="roundRect">
              <a:avLst/>
            </a:prstGeom>
            <a:ln w="25400"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3200" dirty="0">
                  <a:solidFill>
                    <a:schemeClr val="accent2">
                      <a:lumMod val="50000"/>
                    </a:schemeClr>
                  </a:solidFill>
                  <a:latin typeface="FAUSans Office" panose="020B0504010101010104" pitchFamily="34" charset="77"/>
                  <a:cs typeface="FAUSans Office" panose="020B0504010101010104" pitchFamily="34" charset="77"/>
                </a:rPr>
                <a:t>Selecting</a:t>
              </a:r>
            </a:p>
          </p:txBody>
        </p:sp>
        <p:grpSp>
          <p:nvGrpSpPr>
            <p:cNvPr id="168" name="Group 167">
              <a:extLst>
                <a:ext uri="{FF2B5EF4-FFF2-40B4-BE49-F238E27FC236}">
                  <a16:creationId xmlns:a16="http://schemas.microsoft.com/office/drawing/2014/main" id="{10437C31-01BF-48E6-0AA8-B7628E27B87B}"/>
                </a:ext>
              </a:extLst>
            </p:cNvPr>
            <p:cNvGrpSpPr/>
            <p:nvPr/>
          </p:nvGrpSpPr>
          <p:grpSpPr>
            <a:xfrm>
              <a:off x="264215" y="3361577"/>
              <a:ext cx="3937652" cy="2139255"/>
              <a:chOff x="264215" y="3361577"/>
              <a:chExt cx="3937652" cy="2139255"/>
            </a:xfrm>
          </p:grpSpPr>
          <p:grpSp>
            <p:nvGrpSpPr>
              <p:cNvPr id="165" name="Group 164">
                <a:extLst>
                  <a:ext uri="{FF2B5EF4-FFF2-40B4-BE49-F238E27FC236}">
                    <a16:creationId xmlns:a16="http://schemas.microsoft.com/office/drawing/2014/main" id="{703681A2-04EC-DFED-6EF0-B381405F4849}"/>
                  </a:ext>
                </a:extLst>
              </p:cNvPr>
              <p:cNvGrpSpPr/>
              <p:nvPr/>
            </p:nvGrpSpPr>
            <p:grpSpPr>
              <a:xfrm>
                <a:off x="264215" y="3527992"/>
                <a:ext cx="3507268" cy="1972840"/>
                <a:chOff x="319695" y="3661457"/>
                <a:chExt cx="3507268" cy="1972840"/>
              </a:xfrm>
            </p:grpSpPr>
            <p:pic>
              <p:nvPicPr>
                <p:cNvPr id="74" name="Picture 73" descr="A black screen with a white border&#10;&#10;Description automatically generated">
                  <a:extLst>
                    <a:ext uri="{FF2B5EF4-FFF2-40B4-BE49-F238E27FC236}">
                      <a16:creationId xmlns:a16="http://schemas.microsoft.com/office/drawing/2014/main" id="{6F85481C-4001-3F2B-8F14-D1AA2ACEA1F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319695" y="3661457"/>
                  <a:ext cx="3507268" cy="1972840"/>
                </a:xfrm>
                <a:prstGeom prst="rect">
                  <a:avLst/>
                </a:prstGeom>
              </p:spPr>
            </p:pic>
            <p:grpSp>
              <p:nvGrpSpPr>
                <p:cNvPr id="50" name="Group 49">
                  <a:extLst>
                    <a:ext uri="{FF2B5EF4-FFF2-40B4-BE49-F238E27FC236}">
                      <a16:creationId xmlns:a16="http://schemas.microsoft.com/office/drawing/2014/main" id="{8F9F72D0-24FE-C682-A3C9-3F02BE64F89B}"/>
                    </a:ext>
                  </a:extLst>
                </p:cNvPr>
                <p:cNvGrpSpPr/>
                <p:nvPr/>
              </p:nvGrpSpPr>
              <p:grpSpPr>
                <a:xfrm>
                  <a:off x="659337" y="3873184"/>
                  <a:ext cx="2810040" cy="73455"/>
                  <a:chOff x="4639673" y="1649035"/>
                  <a:chExt cx="2895600" cy="75692"/>
                </a:xfrm>
              </p:grpSpPr>
              <p:cxnSp>
                <p:nvCxnSpPr>
                  <p:cNvPr id="71" name="Straight Connector 70">
                    <a:extLst>
                      <a:ext uri="{FF2B5EF4-FFF2-40B4-BE49-F238E27FC236}">
                        <a16:creationId xmlns:a16="http://schemas.microsoft.com/office/drawing/2014/main" id="{F5C39899-A985-2CE7-3A41-5832E64D45E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639673" y="1679007"/>
                    <a:ext cx="1329327" cy="0"/>
                  </a:xfrm>
                  <a:prstGeom prst="line">
                    <a:avLst/>
                  </a:prstGeom>
                  <a:ln w="38100">
                    <a:solidFill>
                      <a:srgbClr val="F8AABA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2" name="Straight Connector 71">
                    <a:extLst>
                      <a:ext uri="{FF2B5EF4-FFF2-40B4-BE49-F238E27FC236}">
                        <a16:creationId xmlns:a16="http://schemas.microsoft.com/office/drawing/2014/main" id="{E896F00F-3A1D-659B-C0D1-52B01BAA7AE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205946" y="1679007"/>
                    <a:ext cx="1329327" cy="0"/>
                  </a:xfrm>
                  <a:prstGeom prst="line">
                    <a:avLst/>
                  </a:prstGeom>
                  <a:ln w="38100">
                    <a:solidFill>
                      <a:srgbClr val="F8AABA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73" name="Oval 72">
                    <a:extLst>
                      <a:ext uri="{FF2B5EF4-FFF2-40B4-BE49-F238E27FC236}">
                        <a16:creationId xmlns:a16="http://schemas.microsoft.com/office/drawing/2014/main" id="{E8BED100-4531-1F51-DB1D-0FDCA9986FE2}"/>
                      </a:ext>
                    </a:extLst>
                  </p:cNvPr>
                  <p:cNvSpPr/>
                  <p:nvPr/>
                </p:nvSpPr>
                <p:spPr>
                  <a:xfrm>
                    <a:off x="6045200" y="1649035"/>
                    <a:ext cx="76584" cy="75692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51" name="Group 50">
                  <a:extLst>
                    <a:ext uri="{FF2B5EF4-FFF2-40B4-BE49-F238E27FC236}">
                      <a16:creationId xmlns:a16="http://schemas.microsoft.com/office/drawing/2014/main" id="{BD0DAE8B-6302-75AA-A555-A17CEAECD24B}"/>
                    </a:ext>
                  </a:extLst>
                </p:cNvPr>
                <p:cNvGrpSpPr/>
                <p:nvPr/>
              </p:nvGrpSpPr>
              <p:grpSpPr>
                <a:xfrm>
                  <a:off x="659337" y="4025036"/>
                  <a:ext cx="2810040" cy="73455"/>
                  <a:chOff x="4639673" y="1649035"/>
                  <a:chExt cx="2895600" cy="75692"/>
                </a:xfrm>
                <a:solidFill>
                  <a:srgbClr val="CC0066"/>
                </a:solidFill>
              </p:grpSpPr>
              <p:cxnSp>
                <p:nvCxnSpPr>
                  <p:cNvPr id="68" name="Straight Connector 67">
                    <a:extLst>
                      <a:ext uri="{FF2B5EF4-FFF2-40B4-BE49-F238E27FC236}">
                        <a16:creationId xmlns:a16="http://schemas.microsoft.com/office/drawing/2014/main" id="{9606CB0C-9F77-E02B-A0F4-085B3D4ACF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639673" y="1679007"/>
                    <a:ext cx="1329327" cy="0"/>
                  </a:xfrm>
                  <a:prstGeom prst="line">
                    <a:avLst/>
                  </a:prstGeom>
                  <a:grpFill/>
                  <a:ln w="38100">
                    <a:solidFill>
                      <a:srgbClr val="CC0066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9" name="Straight Connector 68">
                    <a:extLst>
                      <a:ext uri="{FF2B5EF4-FFF2-40B4-BE49-F238E27FC236}">
                        <a16:creationId xmlns:a16="http://schemas.microsoft.com/office/drawing/2014/main" id="{2DF8222F-06D0-8D61-8BF6-9943738731B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205946" y="1679007"/>
                    <a:ext cx="1329327" cy="0"/>
                  </a:xfrm>
                  <a:prstGeom prst="line">
                    <a:avLst/>
                  </a:prstGeom>
                  <a:grpFill/>
                  <a:ln w="38100">
                    <a:solidFill>
                      <a:srgbClr val="CC0066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70" name="Oval 69">
                    <a:extLst>
                      <a:ext uri="{FF2B5EF4-FFF2-40B4-BE49-F238E27FC236}">
                        <a16:creationId xmlns:a16="http://schemas.microsoft.com/office/drawing/2014/main" id="{6313DE5B-8BE5-26A6-65F7-F1B3ABBDD14A}"/>
                      </a:ext>
                    </a:extLst>
                  </p:cNvPr>
                  <p:cNvSpPr/>
                  <p:nvPr/>
                </p:nvSpPr>
                <p:spPr>
                  <a:xfrm>
                    <a:off x="6045200" y="1649035"/>
                    <a:ext cx="76584" cy="75692"/>
                  </a:xfrm>
                  <a:prstGeom prst="ellipse">
                    <a:avLst/>
                  </a:prstGeom>
                  <a:grpFill/>
                  <a:ln>
                    <a:solidFill>
                      <a:srgbClr val="CC006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B8901D89-83F5-966E-3172-1E597D8E9A05}"/>
                    </a:ext>
                  </a:extLst>
                </p:cNvPr>
                <p:cNvGrpSpPr/>
                <p:nvPr/>
              </p:nvGrpSpPr>
              <p:grpSpPr>
                <a:xfrm>
                  <a:off x="659337" y="4176895"/>
                  <a:ext cx="2810040" cy="73455"/>
                  <a:chOff x="4639673" y="1649035"/>
                  <a:chExt cx="2895600" cy="75692"/>
                </a:xfrm>
                <a:solidFill>
                  <a:srgbClr val="FF3399"/>
                </a:solidFill>
              </p:grpSpPr>
              <p:cxnSp>
                <p:nvCxnSpPr>
                  <p:cNvPr id="65" name="Straight Connector 64">
                    <a:extLst>
                      <a:ext uri="{FF2B5EF4-FFF2-40B4-BE49-F238E27FC236}">
                        <a16:creationId xmlns:a16="http://schemas.microsoft.com/office/drawing/2014/main" id="{9068D3CA-EB3E-AD28-4F07-2C12A63DBD2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639673" y="1679007"/>
                    <a:ext cx="1329327" cy="0"/>
                  </a:xfrm>
                  <a:prstGeom prst="line">
                    <a:avLst/>
                  </a:prstGeom>
                  <a:grpFill/>
                  <a:ln w="38100">
                    <a:solidFill>
                      <a:srgbClr val="FF3399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6" name="Straight Connector 65">
                    <a:extLst>
                      <a:ext uri="{FF2B5EF4-FFF2-40B4-BE49-F238E27FC236}">
                        <a16:creationId xmlns:a16="http://schemas.microsoft.com/office/drawing/2014/main" id="{DE4A7A78-AD79-477E-0131-2FBEF67F9D5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205946" y="1679007"/>
                    <a:ext cx="1329327" cy="0"/>
                  </a:xfrm>
                  <a:prstGeom prst="line">
                    <a:avLst/>
                  </a:prstGeom>
                  <a:grpFill/>
                  <a:ln w="38100">
                    <a:solidFill>
                      <a:srgbClr val="FF3399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67" name="Oval 66">
                    <a:extLst>
                      <a:ext uri="{FF2B5EF4-FFF2-40B4-BE49-F238E27FC236}">
                        <a16:creationId xmlns:a16="http://schemas.microsoft.com/office/drawing/2014/main" id="{86035724-8E7D-483A-CA14-BCE16CFA45B3}"/>
                      </a:ext>
                    </a:extLst>
                  </p:cNvPr>
                  <p:cNvSpPr/>
                  <p:nvPr/>
                </p:nvSpPr>
                <p:spPr>
                  <a:xfrm>
                    <a:off x="6045200" y="1649035"/>
                    <a:ext cx="76584" cy="75692"/>
                  </a:xfrm>
                  <a:prstGeom prst="ellipse">
                    <a:avLst/>
                  </a:prstGeom>
                  <a:grpFill/>
                  <a:ln>
                    <a:solidFill>
                      <a:srgbClr val="FF3399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53" name="Group 52">
                  <a:extLst>
                    <a:ext uri="{FF2B5EF4-FFF2-40B4-BE49-F238E27FC236}">
                      <a16:creationId xmlns:a16="http://schemas.microsoft.com/office/drawing/2014/main" id="{767C40E9-E3D9-D8D5-9D1D-CA987335AD9A}"/>
                    </a:ext>
                  </a:extLst>
                </p:cNvPr>
                <p:cNvGrpSpPr/>
                <p:nvPr/>
              </p:nvGrpSpPr>
              <p:grpSpPr>
                <a:xfrm>
                  <a:off x="659337" y="4328749"/>
                  <a:ext cx="2810040" cy="73455"/>
                  <a:chOff x="4639673" y="1649035"/>
                  <a:chExt cx="2895600" cy="75692"/>
                </a:xfrm>
                <a:solidFill>
                  <a:srgbClr val="FF33CC"/>
                </a:solidFill>
              </p:grpSpPr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FD4A423E-A217-BA70-E235-E3869133ECC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639673" y="1679007"/>
                    <a:ext cx="1329327" cy="0"/>
                  </a:xfrm>
                  <a:prstGeom prst="line">
                    <a:avLst/>
                  </a:prstGeom>
                  <a:grpFill/>
                  <a:ln w="38100">
                    <a:solidFill>
                      <a:srgbClr val="FF33C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3" name="Straight Connector 62">
                    <a:extLst>
                      <a:ext uri="{FF2B5EF4-FFF2-40B4-BE49-F238E27FC236}">
                        <a16:creationId xmlns:a16="http://schemas.microsoft.com/office/drawing/2014/main" id="{E11DF862-4966-0CE7-1508-7EF6E32E20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205946" y="1679007"/>
                    <a:ext cx="1329327" cy="0"/>
                  </a:xfrm>
                  <a:prstGeom prst="line">
                    <a:avLst/>
                  </a:prstGeom>
                  <a:grpFill/>
                  <a:ln w="38100">
                    <a:solidFill>
                      <a:srgbClr val="FF33C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64" name="Oval 63">
                    <a:extLst>
                      <a:ext uri="{FF2B5EF4-FFF2-40B4-BE49-F238E27FC236}">
                        <a16:creationId xmlns:a16="http://schemas.microsoft.com/office/drawing/2014/main" id="{2CDD853D-5E84-3D49-FB60-F021C54EA58E}"/>
                      </a:ext>
                    </a:extLst>
                  </p:cNvPr>
                  <p:cNvSpPr/>
                  <p:nvPr/>
                </p:nvSpPr>
                <p:spPr>
                  <a:xfrm>
                    <a:off x="6045200" y="1649035"/>
                    <a:ext cx="76584" cy="75692"/>
                  </a:xfrm>
                  <a:prstGeom prst="ellipse">
                    <a:avLst/>
                  </a:prstGeom>
                  <a:grpFill/>
                  <a:ln>
                    <a:solidFill>
                      <a:srgbClr val="FF33CC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54" name="Group 53">
                  <a:extLst>
                    <a:ext uri="{FF2B5EF4-FFF2-40B4-BE49-F238E27FC236}">
                      <a16:creationId xmlns:a16="http://schemas.microsoft.com/office/drawing/2014/main" id="{608F76D1-78DF-94B1-B0F6-43A5AB32DB2A}"/>
                    </a:ext>
                  </a:extLst>
                </p:cNvPr>
                <p:cNvGrpSpPr/>
                <p:nvPr/>
              </p:nvGrpSpPr>
              <p:grpSpPr>
                <a:xfrm>
                  <a:off x="659337" y="4480599"/>
                  <a:ext cx="2810040" cy="73455"/>
                  <a:chOff x="4639673" y="1649035"/>
                  <a:chExt cx="2895600" cy="75692"/>
                </a:xfrm>
                <a:solidFill>
                  <a:srgbClr val="FBD4DC"/>
                </a:solidFill>
              </p:grpSpPr>
              <p:cxnSp>
                <p:nvCxnSpPr>
                  <p:cNvPr id="59" name="Straight Connector 58">
                    <a:extLst>
                      <a:ext uri="{FF2B5EF4-FFF2-40B4-BE49-F238E27FC236}">
                        <a16:creationId xmlns:a16="http://schemas.microsoft.com/office/drawing/2014/main" id="{43EB1869-6B2F-50B9-540F-54620064AF3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639673" y="1679007"/>
                    <a:ext cx="1329327" cy="0"/>
                  </a:xfrm>
                  <a:prstGeom prst="line">
                    <a:avLst/>
                  </a:prstGeom>
                  <a:grpFill/>
                  <a:ln w="38100">
                    <a:solidFill>
                      <a:srgbClr val="FBD4D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" name="Straight Connector 59">
                    <a:extLst>
                      <a:ext uri="{FF2B5EF4-FFF2-40B4-BE49-F238E27FC236}">
                        <a16:creationId xmlns:a16="http://schemas.microsoft.com/office/drawing/2014/main" id="{40EC9AD8-A5CF-ADD9-485D-32FC29614D1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205946" y="1679007"/>
                    <a:ext cx="1329327" cy="0"/>
                  </a:xfrm>
                  <a:prstGeom prst="line">
                    <a:avLst/>
                  </a:prstGeom>
                  <a:grpFill/>
                  <a:ln w="38100">
                    <a:solidFill>
                      <a:srgbClr val="FBD4D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61" name="Oval 60">
                    <a:extLst>
                      <a:ext uri="{FF2B5EF4-FFF2-40B4-BE49-F238E27FC236}">
                        <a16:creationId xmlns:a16="http://schemas.microsoft.com/office/drawing/2014/main" id="{7F896ED0-CF56-FAA5-D22A-CDC8A6255B7E}"/>
                      </a:ext>
                    </a:extLst>
                  </p:cNvPr>
                  <p:cNvSpPr/>
                  <p:nvPr/>
                </p:nvSpPr>
                <p:spPr>
                  <a:xfrm>
                    <a:off x="6045200" y="1649035"/>
                    <a:ext cx="76584" cy="75692"/>
                  </a:xfrm>
                  <a:prstGeom prst="ellipse">
                    <a:avLst/>
                  </a:prstGeom>
                  <a:grpFill/>
                  <a:ln>
                    <a:solidFill>
                      <a:srgbClr val="FBD4DC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CD36E0FD-669D-9824-5E96-4437E6854C40}"/>
                    </a:ext>
                  </a:extLst>
                </p:cNvPr>
                <p:cNvGrpSpPr/>
                <p:nvPr/>
              </p:nvGrpSpPr>
              <p:grpSpPr>
                <a:xfrm>
                  <a:off x="659337" y="4632426"/>
                  <a:ext cx="2810040" cy="73455"/>
                  <a:chOff x="4639673" y="1649035"/>
                  <a:chExt cx="2895600" cy="75692"/>
                </a:xfrm>
                <a:solidFill>
                  <a:schemeClr val="accent2">
                    <a:lumMod val="50000"/>
                  </a:schemeClr>
                </a:solidFill>
              </p:grpSpPr>
              <p:cxnSp>
                <p:nvCxnSpPr>
                  <p:cNvPr id="56" name="Straight Connector 55">
                    <a:extLst>
                      <a:ext uri="{FF2B5EF4-FFF2-40B4-BE49-F238E27FC236}">
                        <a16:creationId xmlns:a16="http://schemas.microsoft.com/office/drawing/2014/main" id="{DC21093D-4304-97EE-B6BC-6D20B8871B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639673" y="1679007"/>
                    <a:ext cx="1329327" cy="0"/>
                  </a:xfrm>
                  <a:prstGeom prst="line">
                    <a:avLst/>
                  </a:prstGeom>
                  <a:grpFill/>
                  <a:ln w="38100">
                    <a:solidFill>
                      <a:schemeClr val="accent2">
                        <a:lumMod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" name="Straight Connector 56">
                    <a:extLst>
                      <a:ext uri="{FF2B5EF4-FFF2-40B4-BE49-F238E27FC236}">
                        <a16:creationId xmlns:a16="http://schemas.microsoft.com/office/drawing/2014/main" id="{6A3E0C80-4E72-E362-1708-8808F61711F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205946" y="1679007"/>
                    <a:ext cx="1329327" cy="0"/>
                  </a:xfrm>
                  <a:prstGeom prst="line">
                    <a:avLst/>
                  </a:prstGeom>
                  <a:grpFill/>
                  <a:ln w="38100">
                    <a:solidFill>
                      <a:schemeClr val="accent2">
                        <a:lumMod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8" name="Oval 57">
                    <a:extLst>
                      <a:ext uri="{FF2B5EF4-FFF2-40B4-BE49-F238E27FC236}">
                        <a16:creationId xmlns:a16="http://schemas.microsoft.com/office/drawing/2014/main" id="{289F5D9E-5B1D-C8A6-885C-635A0960F1F5}"/>
                      </a:ext>
                    </a:extLst>
                  </p:cNvPr>
                  <p:cNvSpPr/>
                  <p:nvPr/>
                </p:nvSpPr>
                <p:spPr>
                  <a:xfrm>
                    <a:off x="6045200" y="1649035"/>
                    <a:ext cx="76584" cy="75692"/>
                  </a:xfrm>
                  <a:prstGeom prst="ellipse">
                    <a:avLst/>
                  </a:prstGeom>
                  <a:grpFill/>
                  <a:ln>
                    <a:solidFill>
                      <a:schemeClr val="accent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</p:grpSp>
          <p:sp>
            <p:nvSpPr>
              <p:cNvPr id="76" name="Arrow: Right 121">
                <a:extLst>
                  <a:ext uri="{FF2B5EF4-FFF2-40B4-BE49-F238E27FC236}">
                    <a16:creationId xmlns:a16="http://schemas.microsoft.com/office/drawing/2014/main" id="{0250CBD2-9A90-74EF-16CB-E1B20117968D}"/>
                  </a:ext>
                </a:extLst>
              </p:cNvPr>
              <p:cNvSpPr/>
              <p:nvPr/>
            </p:nvSpPr>
            <p:spPr>
              <a:xfrm rot="8907511">
                <a:off x="3341099" y="3361577"/>
                <a:ext cx="860768" cy="332831"/>
              </a:xfrm>
              <a:prstGeom prst="rightArrow">
                <a:avLst/>
              </a:prstGeom>
              <a:solidFill>
                <a:srgbClr val="FBD4DC"/>
              </a:solidFill>
              <a:ln w="28575">
                <a:solidFill>
                  <a:srgbClr val="FF339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A81C50-D39C-8CD0-470F-B9C3A0B44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24 Sep 2026 | © RC21 Team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468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4856E-E7BA-162D-C7A4-9DB8D35FB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From strategies to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E38EC-2933-2DD2-29D9-E846B4C058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4"/>
            <a:ext cx="11426616" cy="5176598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Selecting</a:t>
            </a:r>
          </a:p>
          <a:p>
            <a:pPr lvl="1"/>
            <a:r>
              <a:rPr lang="en-US"/>
              <a:t>“zoom in” on a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subset</a:t>
            </a:r>
            <a:r>
              <a:rPr lang="en-US"/>
              <a:t> of the concordance lines</a:t>
            </a:r>
          </a:p>
          <a:p>
            <a:pPr lvl="1"/>
            <a:r>
              <a:rPr lang="en-US"/>
              <a:t>either focus on specific pattern or discard unwanted lines</a:t>
            </a:r>
          </a:p>
          <a:p>
            <a:pPr marL="514350" indent="-514350">
              <a:buFont typeface="+mj-lt"/>
              <a:buAutoNum type="arabicPeriod"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Ordering</a:t>
            </a:r>
          </a:p>
          <a:p>
            <a:pPr lvl="1"/>
            <a:r>
              <a:rPr lang="en-US"/>
              <a:t>change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sequential ordering</a:t>
            </a:r>
            <a:r>
              <a:rPr lang="en-US"/>
              <a:t> of concordance lines in the display</a:t>
            </a:r>
          </a:p>
          <a:p>
            <a:pPr lvl="1"/>
            <a:r>
              <a:rPr lang="en-US"/>
              <a:t>may want to combine multiple ordering criteria to break ties</a:t>
            </a:r>
          </a:p>
          <a:p>
            <a:pPr lvl="1"/>
            <a:endParaRPr lang="en-US"/>
          </a:p>
          <a:p>
            <a:pPr marL="514350" indent="-514350">
              <a:buFont typeface="+mj-lt"/>
              <a:buAutoNum type="arabicPeriod"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Grouping</a:t>
            </a:r>
          </a:p>
          <a:p>
            <a:pPr lvl="1"/>
            <a:r>
              <a:rPr lang="en-US"/>
              <a:t>form groups of related concordance lines</a:t>
            </a:r>
          </a:p>
          <a:p>
            <a:pPr lvl="1"/>
            <a:r>
              <a:rPr lang="en-US"/>
              <a:t>requires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structured kwic display</a:t>
            </a:r>
            <a:r>
              <a:rPr lang="en-US"/>
              <a:t> in UI</a:t>
            </a:r>
          </a:p>
          <a:p>
            <a:pPr lvl="1"/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0FDDDC6-9C88-BA43-0C1E-FC2BA23CD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7</a:t>
            </a:fld>
            <a:endParaRPr lang="en-GB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2FAF2BAC-2790-DC68-5C2F-26E4E275F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24 Sep 2026 | © RC21 Team</a:t>
            </a:r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B3E9AFD7-4669-ECC2-640F-A66EBC961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</p:spTree>
    <p:extLst>
      <p:ext uri="{BB962C8B-B14F-4D97-AF65-F5344CB8AC3E}">
        <p14:creationId xmlns:p14="http://schemas.microsoft.com/office/powerpoint/2010/main" val="3580645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4856E-E7BA-162D-C7A4-9DB8D35FB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From strategies to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E38EC-2933-2DD2-29D9-E846B4C058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4"/>
            <a:ext cx="11426616" cy="5176598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Selecting</a:t>
            </a:r>
          </a:p>
          <a:p>
            <a:pPr lvl="1"/>
            <a:r>
              <a:rPr lang="en-US"/>
              <a:t>“zoom in” on a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subset</a:t>
            </a:r>
            <a:r>
              <a:rPr lang="en-US"/>
              <a:t> of the concordance lines</a:t>
            </a:r>
          </a:p>
          <a:p>
            <a:pPr lvl="1"/>
            <a:r>
              <a:rPr lang="en-US"/>
              <a:t>either focus on specific pattern or discard unwanted lines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Ordering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Sorting</a:t>
            </a:r>
            <a:r>
              <a:rPr lang="en-US"/>
              <a:t>: reorder lines based on pairwise comparison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Ranking</a:t>
            </a:r>
            <a:r>
              <a:rPr lang="en-US"/>
              <a:t>: reorder lines based on preference score</a:t>
            </a:r>
          </a:p>
          <a:p>
            <a:pPr lvl="1"/>
            <a:r>
              <a:rPr lang="en-US"/>
              <a:t>combine multiple Sorting and Ranking algorithms to break ties</a:t>
            </a:r>
          </a:p>
          <a:p>
            <a:pPr marL="514350" indent="-514350">
              <a:buFont typeface="+mj-lt"/>
              <a:buAutoNum type="arabicPeriod"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Grouping</a:t>
            </a:r>
          </a:p>
          <a:p>
            <a:pPr lvl="1"/>
            <a:r>
              <a:rPr lang="en-US"/>
              <a:t>form groups of related concordance lines</a:t>
            </a:r>
          </a:p>
          <a:p>
            <a:pPr lvl="1"/>
            <a:r>
              <a:rPr lang="en-US"/>
              <a:t>requires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structured kwic display</a:t>
            </a:r>
            <a:r>
              <a:rPr lang="en-US"/>
              <a:t> in UI</a:t>
            </a:r>
          </a:p>
          <a:p>
            <a:pPr lvl="1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6271C1-C4C7-945E-1246-64F4F4D8F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8</a:t>
            </a:fld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61379F-B698-5C9C-D1CF-78F1D2EA3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24 Sep 2026 | © RC21 Team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7904BB-9A22-564A-BA28-4645D4A54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</p:spTree>
    <p:extLst>
      <p:ext uri="{BB962C8B-B14F-4D97-AF65-F5344CB8AC3E}">
        <p14:creationId xmlns:p14="http://schemas.microsoft.com/office/powerpoint/2010/main" val="25553543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4856E-E7BA-162D-C7A4-9DB8D35FB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From strategies to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E38EC-2933-2DD2-29D9-E846B4C058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4"/>
            <a:ext cx="11426616" cy="5176598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Selecting</a:t>
            </a:r>
          </a:p>
          <a:p>
            <a:pPr lvl="1"/>
            <a:r>
              <a:rPr lang="en-US"/>
              <a:t>“zoom in” on a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subset</a:t>
            </a:r>
            <a:r>
              <a:rPr lang="en-US"/>
              <a:t> of the concordance lines</a:t>
            </a:r>
          </a:p>
          <a:p>
            <a:pPr lvl="1"/>
            <a:r>
              <a:rPr lang="en-US"/>
              <a:t>either focus on specific pattern or discard unwanted lines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Ordering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Sorting</a:t>
            </a:r>
            <a:r>
              <a:rPr lang="en-US"/>
              <a:t>: reorder lines based on pairwise comparison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Ranking</a:t>
            </a:r>
            <a:r>
              <a:rPr lang="en-US"/>
              <a:t>: reorder lines based on preference score</a:t>
            </a:r>
          </a:p>
          <a:p>
            <a:pPr lvl="1"/>
            <a:r>
              <a:rPr lang="en-US"/>
              <a:t>combine multiple Sorting and Ranking algorithms to break ties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Grouping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Partitioning</a:t>
            </a:r>
            <a:r>
              <a:rPr lang="en-US"/>
              <a:t>: groups based on common property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Clustering</a:t>
            </a:r>
            <a:r>
              <a:rPr lang="en-US">
                <a:sym typeface="Wingdings" pitchFamily="2" charset="2"/>
              </a:rPr>
              <a:t>: (nested</a:t>
            </a:r>
            <a:r>
              <a:rPr lang="en-US"/>
              <a:t>) groups based on pairwise similarity</a:t>
            </a:r>
          </a:p>
          <a:p>
            <a:pPr lvl="1"/>
            <a:r>
              <a:rPr lang="en-US"/>
              <a:t>requires structured kwic display in UI</a:t>
            </a:r>
          </a:p>
          <a:p>
            <a:pPr lvl="1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FD45C5-1798-6D8A-F96C-40AFEA820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9</a:t>
            </a:fld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7BFAFD-261C-A1BB-4D67-8A39E88BA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24 Sep 2026 | © RC21 Team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FDB342-4CA9-70DD-5DAC-BDC38F602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</p:spTree>
    <p:extLst>
      <p:ext uri="{BB962C8B-B14F-4D97-AF65-F5344CB8AC3E}">
        <p14:creationId xmlns:p14="http://schemas.microsoft.com/office/powerpoint/2010/main" val="31614140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4856E-E7BA-162D-C7A4-9DB8D35FB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Combining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E38EC-2933-2DD2-29D9-E846B4C058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4"/>
            <a:ext cx="11426616" cy="5176598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Selecting</a:t>
            </a:r>
          </a:p>
          <a:p>
            <a:pPr lvl="1"/>
            <a:r>
              <a:rPr lang="en-US"/>
              <a:t>“zoom in” on a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subset</a:t>
            </a:r>
            <a:r>
              <a:rPr lang="en-US"/>
              <a:t> of the concordance lines</a:t>
            </a:r>
          </a:p>
          <a:p>
            <a:pPr lvl="1"/>
            <a:r>
              <a:rPr lang="en-US"/>
              <a:t>either focus on specific pattern or discard unwanted lines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Ordering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Sorting</a:t>
            </a:r>
            <a:r>
              <a:rPr lang="en-US"/>
              <a:t>: reorder lines based on pairwise comparison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Ranking</a:t>
            </a:r>
            <a:r>
              <a:rPr lang="en-US"/>
              <a:t>: reorder lines based on preference score</a:t>
            </a:r>
          </a:p>
          <a:p>
            <a:pPr lvl="1"/>
            <a:r>
              <a:rPr lang="en-US"/>
              <a:t>combine multiple Sorting and Ranking algorithms to break ties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Grouping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Partitioning</a:t>
            </a:r>
            <a:r>
              <a:rPr lang="en-US"/>
              <a:t>: groups based on common property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Clustering</a:t>
            </a:r>
            <a:r>
              <a:rPr lang="en-US">
                <a:sym typeface="Wingdings" pitchFamily="2" charset="2"/>
              </a:rPr>
              <a:t>: (nested</a:t>
            </a:r>
            <a:r>
              <a:rPr lang="en-US"/>
              <a:t>) groups based on pairwise similarity</a:t>
            </a:r>
          </a:p>
          <a:p>
            <a:pPr lvl="1"/>
            <a:r>
              <a:rPr lang="en-US"/>
              <a:t>requires structured kwic display in UI</a:t>
            </a:r>
          </a:p>
          <a:p>
            <a:pPr lvl="1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402A460-CE7A-A3D7-320E-F9C54CB767C8}"/>
              </a:ext>
            </a:extLst>
          </p:cNvPr>
          <p:cNvGrpSpPr/>
          <p:nvPr/>
        </p:nvGrpSpPr>
        <p:grpSpPr>
          <a:xfrm>
            <a:off x="10218099" y="1288029"/>
            <a:ext cx="1179206" cy="1749056"/>
            <a:chOff x="10259568" y="1242309"/>
            <a:chExt cx="1179206" cy="1749056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E670474E-A761-AF6C-F70E-F77433C0F09E}"/>
                </a:ext>
              </a:extLst>
            </p:cNvPr>
            <p:cNvSpPr/>
            <p:nvPr/>
          </p:nvSpPr>
          <p:spPr>
            <a:xfrm>
              <a:off x="10259568" y="1463040"/>
              <a:ext cx="338328" cy="1307592"/>
            </a:xfrm>
            <a:prstGeom prst="rightBrace">
              <a:avLst>
                <a:gd name="adj1" fmla="val 32657"/>
                <a:gd name="adj2" fmla="val 50000"/>
              </a:avLst>
            </a:prstGeom>
            <a:ln w="50800">
              <a:solidFill>
                <a:schemeClr val="accent1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4AE2667-A13A-9BCD-77FF-7D752B6D02A0}"/>
                </a:ext>
              </a:extLst>
            </p:cNvPr>
            <p:cNvSpPr txBox="1"/>
            <p:nvPr/>
          </p:nvSpPr>
          <p:spPr>
            <a:xfrm rot="5400000">
              <a:off x="10241081" y="1793671"/>
              <a:ext cx="174905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accent1">
                      <a:lumMod val="50000"/>
                    </a:schemeClr>
                  </a:solidFill>
                  <a:latin typeface="FAUSans Office" panose="020B0504010101010104" pitchFamily="34" charset="77"/>
                  <a:cs typeface="FAUSans Office" panose="020B0504010101010104" pitchFamily="34" charset="77"/>
                </a:rPr>
                <a:t>subset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E7B580F6-47BA-F1D4-4215-1CC98B726D08}"/>
              </a:ext>
            </a:extLst>
          </p:cNvPr>
          <p:cNvGrpSpPr/>
          <p:nvPr/>
        </p:nvGrpSpPr>
        <p:grpSpPr>
          <a:xfrm>
            <a:off x="10218099" y="2978542"/>
            <a:ext cx="1179205" cy="3559417"/>
            <a:chOff x="10259568" y="3005974"/>
            <a:chExt cx="1179205" cy="3559417"/>
          </a:xfrm>
        </p:grpSpPr>
        <p:sp>
          <p:nvSpPr>
            <p:cNvPr id="8" name="Right Brace 7">
              <a:extLst>
                <a:ext uri="{FF2B5EF4-FFF2-40B4-BE49-F238E27FC236}">
                  <a16:creationId xmlns:a16="http://schemas.microsoft.com/office/drawing/2014/main" id="{C01B5587-A182-93F7-2771-0CC70F5DB545}"/>
                </a:ext>
              </a:extLst>
            </p:cNvPr>
            <p:cNvSpPr/>
            <p:nvPr/>
          </p:nvSpPr>
          <p:spPr>
            <a:xfrm>
              <a:off x="10259568" y="3005974"/>
              <a:ext cx="338328" cy="3559417"/>
            </a:xfrm>
            <a:prstGeom prst="rightBrace">
              <a:avLst>
                <a:gd name="adj1" fmla="val 32657"/>
                <a:gd name="adj2" fmla="val 50000"/>
              </a:avLst>
            </a:prstGeom>
            <a:ln w="508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EB01BA9-75D9-CD61-4BA9-A5B5A2B5A4AF}"/>
                </a:ext>
              </a:extLst>
            </p:cNvPr>
            <p:cNvSpPr txBox="1"/>
            <p:nvPr/>
          </p:nvSpPr>
          <p:spPr>
            <a:xfrm rot="5400000">
              <a:off x="9477308" y="4462518"/>
              <a:ext cx="32766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accent2">
                      <a:lumMod val="50000"/>
                    </a:schemeClr>
                  </a:solidFill>
                  <a:latin typeface="FAUSans Office" panose="020B0504010101010104" pitchFamily="34" charset="77"/>
                  <a:cs typeface="FAUSans Office" panose="020B0504010101010104" pitchFamily="34" charset="77"/>
                </a:rPr>
                <a:t>arrangement</a:t>
              </a:r>
            </a:p>
          </p:txBody>
        </p:sp>
      </p:grp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5F670C1-E7AF-8132-DA92-82A97C17D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10</a:t>
            </a:fld>
            <a:endParaRPr lang="en-GB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485AC40A-AEC3-7242-C18D-DC4843ABA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24 Sep 2026 | © RC21 Team</a:t>
            </a:r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87D4E861-647B-CCE5-A107-A38ED30EB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</p:spTree>
    <p:extLst>
      <p:ext uri="{BB962C8B-B14F-4D97-AF65-F5344CB8AC3E}">
        <p14:creationId xmlns:p14="http://schemas.microsoft.com/office/powerpoint/2010/main" val="464567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34D82-2528-0664-6E74-9AD89E5F9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067504" cy="1208315"/>
          </a:xfrm>
        </p:spPr>
        <p:txBody>
          <a:bodyPr>
            <a:normAutofit fontScale="90000"/>
          </a:bodyPr>
          <a:lstStyle/>
          <a:p>
            <a:r>
              <a:rPr lang="en-US" dirty="0"/>
              <a:t>Methodology: a reading procedure (Sinclair 2003)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7CC8A1-423B-5231-3900-CCBD4A8E5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0064" y="6540965"/>
            <a:ext cx="5071872" cy="317035"/>
          </a:xfrm>
        </p:spPr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2F3293-7C47-DC6C-D172-69A0BEFAF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11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AD912C-1FAE-66C1-40C8-2BF0A27BA3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749" y="1420691"/>
            <a:ext cx="10254502" cy="495884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D05669F-E0F5-056D-3F56-55F54127C087}"/>
              </a:ext>
            </a:extLst>
          </p:cNvPr>
          <p:cNvSpPr/>
          <p:nvPr/>
        </p:nvSpPr>
        <p:spPr>
          <a:xfrm>
            <a:off x="1073889" y="1868895"/>
            <a:ext cx="1850064" cy="2532984"/>
          </a:xfrm>
          <a:prstGeom prst="rect">
            <a:avLst/>
          </a:prstGeom>
          <a:noFill/>
          <a:ln w="508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DF340540-D40D-25E1-CA6D-33535523B3CB}"/>
              </a:ext>
            </a:extLst>
          </p:cNvPr>
          <p:cNvCxnSpPr>
            <a:cxnSpLocks/>
          </p:cNvCxnSpPr>
          <p:nvPr/>
        </p:nvCxnSpPr>
        <p:spPr>
          <a:xfrm rot="10800000">
            <a:off x="1020726" y="2021785"/>
            <a:ext cx="106325" cy="2592000"/>
          </a:xfrm>
          <a:prstGeom prst="bentConnector3">
            <a:avLst>
              <a:gd name="adj1" fmla="val 555002"/>
            </a:avLst>
          </a:prstGeom>
          <a:ln w="44450">
            <a:solidFill>
              <a:schemeClr val="accent3">
                <a:lumMod val="50000"/>
              </a:schemeClr>
            </a:solidFill>
            <a:tailEnd type="arrow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3" name="Date Placeholder 5">
            <a:extLst>
              <a:ext uri="{FF2B5EF4-FFF2-40B4-BE49-F238E27FC236}">
                <a16:creationId xmlns:a16="http://schemas.microsoft.com/office/drawing/2014/main" id="{E5F04863-2A6A-DEEB-96B0-B70F69C4698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40966"/>
            <a:ext cx="2743200" cy="317032"/>
          </a:xfrm>
        </p:spPr>
        <p:txBody>
          <a:bodyPr/>
          <a:lstStyle/>
          <a:p>
            <a:r>
              <a:rPr lang="en-GB" dirty="0"/>
              <a:t>24 Sep 2026 | © RC21 Team</a:t>
            </a:r>
            <a:endParaRPr lang="en-US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5228869-B461-4B09-415C-026EB761CCBB}"/>
              </a:ext>
            </a:extLst>
          </p:cNvPr>
          <p:cNvGrpSpPr/>
          <p:nvPr/>
        </p:nvGrpSpPr>
        <p:grpSpPr>
          <a:xfrm>
            <a:off x="493776" y="4786494"/>
            <a:ext cx="2697480" cy="685998"/>
            <a:chOff x="493776" y="4786494"/>
            <a:chExt cx="2697480" cy="68599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119BD6E-786E-6547-AF72-44E7DC7DE58C}"/>
                </a:ext>
              </a:extLst>
            </p:cNvPr>
            <p:cNvSpPr txBox="1"/>
            <p:nvPr/>
          </p:nvSpPr>
          <p:spPr>
            <a:xfrm>
              <a:off x="493776" y="4826161"/>
              <a:ext cx="162667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accent1">
                      <a:lumMod val="50000"/>
                    </a:schemeClr>
                  </a:solidFill>
                  <a:latin typeface="FAUSans Office" panose="020B0504010101010104" pitchFamily="34" charset="77"/>
                  <a:cs typeface="FAUSans Office" panose="020B0504010101010104" pitchFamily="34" charset="77"/>
                </a:rPr>
                <a:t>subset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5E8C0C3-433E-A1E7-D9F9-85098CE15DF3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 flipV="1">
              <a:off x="2120452" y="4786494"/>
              <a:ext cx="1070804" cy="362833"/>
            </a:xfrm>
            <a:prstGeom prst="straightConnector1">
              <a:avLst/>
            </a:prstGeom>
            <a:ln w="4445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DB55009-60B3-82D6-E335-FB245F16411A}"/>
              </a:ext>
            </a:extLst>
          </p:cNvPr>
          <p:cNvGrpSpPr/>
          <p:nvPr/>
        </p:nvGrpSpPr>
        <p:grpSpPr>
          <a:xfrm>
            <a:off x="6044184" y="885149"/>
            <a:ext cx="4700016" cy="989371"/>
            <a:chOff x="6044184" y="885149"/>
            <a:chExt cx="4700016" cy="989371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39795C8-FD22-0D55-82B4-B05DD9B95BDD}"/>
                </a:ext>
              </a:extLst>
            </p:cNvPr>
            <p:cNvSpPr txBox="1"/>
            <p:nvPr/>
          </p:nvSpPr>
          <p:spPr>
            <a:xfrm>
              <a:off x="7773169" y="885149"/>
              <a:ext cx="297103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accent2">
                      <a:lumMod val="50000"/>
                    </a:schemeClr>
                  </a:solidFill>
                  <a:latin typeface="FAUSans Office" panose="020B0504010101010104" pitchFamily="34" charset="77"/>
                  <a:cs typeface="FAUSans Office" panose="020B0504010101010104" pitchFamily="34" charset="77"/>
                </a:rPr>
                <a:t>arrangement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E84F6F0-A51D-D616-0A9C-23F0C08C416F}"/>
                </a:ext>
              </a:extLst>
            </p:cNvPr>
            <p:cNvCxnSpPr>
              <a:cxnSpLocks/>
              <a:stCxn id="19" idx="1"/>
            </p:cNvCxnSpPr>
            <p:nvPr/>
          </p:nvCxnSpPr>
          <p:spPr>
            <a:xfrm flipH="1">
              <a:off x="6044184" y="1208315"/>
              <a:ext cx="1728985" cy="666205"/>
            </a:xfrm>
            <a:prstGeom prst="straightConnector1">
              <a:avLst/>
            </a:prstGeom>
            <a:ln w="44450">
              <a:solidFill>
                <a:schemeClr val="accent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60465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7B85D-56F0-7CB0-B09F-A556C15E3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analysis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F89E1A-7383-C8BF-4C5C-0386F21B37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4"/>
            <a:ext cx="11426616" cy="4929710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Our model of concordance reading: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analysis tree</a:t>
            </a:r>
            <a:endParaRPr lang="en-US">
              <a:solidFill>
                <a:schemeClr val="accent1">
                  <a:lumMod val="50000"/>
                </a:schemeClr>
              </a:solidFill>
            </a:endParaRPr>
          </a:p>
          <a:p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Selecting</a:t>
            </a:r>
            <a:r>
              <a:rPr lang="en-US"/>
              <a:t> creates branches that “zoom in” on a subset of lines</a:t>
            </a:r>
            <a:br>
              <a:rPr lang="en-US"/>
            </a:br>
            <a:r>
              <a:rPr lang="en-US"/>
              <a:t>➞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subset node</a:t>
            </a:r>
            <a:endParaRPr lang="en-US"/>
          </a:p>
          <a:p>
            <a:pPr lvl="1"/>
            <a:r>
              <a:rPr lang="en-US"/>
              <a:t>investigate different patterns with each branch</a:t>
            </a:r>
          </a:p>
          <a:p>
            <a:pPr lvl="1"/>
            <a:r>
              <a:rPr lang="en-US"/>
              <a:t>turns history of operations into a hierarchical tree structure</a:t>
            </a:r>
          </a:p>
          <a:p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Ordering</a:t>
            </a:r>
            <a:r>
              <a:rPr lang="en-US"/>
              <a:t> and </a:t>
            </a: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Grouping</a:t>
            </a:r>
            <a:r>
              <a:rPr lang="en-US"/>
              <a:t> algorithms change how this subset is displayed to the analyst ➞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arrangement node</a:t>
            </a:r>
          </a:p>
          <a:p>
            <a:pPr lvl="1"/>
            <a:r>
              <a:rPr lang="en-US"/>
              <a:t>different arrangements of the same subset are siblings in the tree</a:t>
            </a:r>
          </a:p>
          <a:p>
            <a:pPr lvl="1"/>
            <a:r>
              <a:rPr lang="en-US"/>
              <a:t>default arrangement: original corpus order</a:t>
            </a:r>
          </a:p>
          <a:p>
            <a:r>
              <a:rPr lang="en-US"/>
              <a:t>Each node corresponds to a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concordance view</a:t>
            </a:r>
          </a:p>
          <a:p>
            <a:pPr lvl="1"/>
            <a:r>
              <a:rPr lang="en-US"/>
              <a:t>defined as subset of concordance lines + their arrangement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8BD4A-41FF-B8E3-2C8F-EAAD5A479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12</a:t>
            </a:fld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85416F-C42C-1EEB-1B0A-5321F0686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24 Sep 2026 | © RC21 Team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AC1388-B83A-26C0-477C-289B8982A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pic>
        <p:nvPicPr>
          <p:cNvPr id="10" name="Graphic 9" descr="Deciduous tree with solid fill">
            <a:extLst>
              <a:ext uri="{FF2B5EF4-FFF2-40B4-BE49-F238E27FC236}">
                <a16:creationId xmlns:a16="http://schemas.microsoft.com/office/drawing/2014/main" id="{7BDA6C9D-91ED-3AD1-4A1C-50B0DD1B3D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49466" y="562173"/>
            <a:ext cx="1208316" cy="120831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Graphic 8" descr="Deciduous tree with solid fill">
            <a:extLst>
              <a:ext uri="{FF2B5EF4-FFF2-40B4-BE49-F238E27FC236}">
                <a16:creationId xmlns:a16="http://schemas.microsoft.com/office/drawing/2014/main" id="{ED901046-E764-7495-4178-B87FB9D862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58312" y="138177"/>
            <a:ext cx="1724176" cy="172417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26229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B7CE9-B35A-C702-068E-C6A41FCFC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Combining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24F1C9-2F50-05A7-33F2-7FD04D3B1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Subset operations can either be nested or form different branches</a:t>
            </a:r>
          </a:p>
          <a:p>
            <a:pPr lvl="1"/>
            <a:r>
              <a:rPr lang="en-US"/>
              <a:t>consecutively narrow down to smaller subsets ➞ structure of tree</a:t>
            </a:r>
          </a:p>
          <a:p>
            <a:pPr lvl="1"/>
            <a:endParaRPr lang="en-US"/>
          </a:p>
          <a:p>
            <a:r>
              <a:rPr lang="en-US"/>
              <a:t>Arrangement operations form alternative views of a subset</a:t>
            </a:r>
          </a:p>
          <a:p>
            <a:pPr lvl="1"/>
            <a:r>
              <a:rPr lang="en-US"/>
              <a:t>consequence: can't “stack” multiple arrangements</a:t>
            </a:r>
          </a:p>
          <a:p>
            <a:pPr lvl="1"/>
            <a:r>
              <a:rPr lang="en-US"/>
              <a:t>combine sequence of </a:t>
            </a: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Ordering</a:t>
            </a:r>
            <a:r>
              <a:rPr lang="en-US"/>
              <a:t> algorithms as tie-breakers</a:t>
            </a:r>
          </a:p>
          <a:p>
            <a:pPr lvl="1"/>
            <a:r>
              <a:rPr lang="en-US"/>
              <a:t>multiple </a:t>
            </a: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Grouping</a:t>
            </a:r>
            <a:r>
              <a:rPr lang="en-US"/>
              <a:t> algorithms cannot (or should not) be combined</a:t>
            </a:r>
          </a:p>
          <a:p>
            <a:pPr lvl="1"/>
            <a:endParaRPr lang="en-US"/>
          </a:p>
          <a:p>
            <a:r>
              <a:rPr lang="en-US"/>
              <a:t>Arrangement node = ≤ 1 </a:t>
            </a: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Grouping</a:t>
            </a:r>
            <a:r>
              <a:rPr lang="en-US"/>
              <a:t> + sequence of </a:t>
            </a: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Ordering</a:t>
            </a:r>
            <a:r>
              <a:rPr lang="en-US"/>
              <a:t> algo's</a:t>
            </a:r>
          </a:p>
          <a:p>
            <a:pPr lvl="1"/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Grouping</a:t>
            </a:r>
            <a:r>
              <a:rPr lang="en-US"/>
              <a:t> determines main structure, </a:t>
            </a: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Ordering</a:t>
            </a:r>
            <a:r>
              <a:rPr lang="en-US"/>
              <a:t> applies within groups</a:t>
            </a:r>
          </a:p>
          <a:p>
            <a:pPr lvl="1"/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8C0B76-E858-114B-C9CB-AACDF17388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24 Sep 2026 | © RC21 Team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A81DD3-D4A0-C4A2-72D0-D457D0C57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FCF98-B070-A399-B29D-960AF6A0B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66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C4FF9-FD61-894E-CF1C-0E4D1CC7A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7123F20D-A80F-DA3C-3092-C16C7B2EAC8B}"/>
              </a:ext>
            </a:extLst>
          </p:cNvPr>
          <p:cNvGrpSpPr/>
          <p:nvPr/>
        </p:nvGrpSpPr>
        <p:grpSpPr>
          <a:xfrm>
            <a:off x="80375" y="153921"/>
            <a:ext cx="3586850" cy="360000"/>
            <a:chOff x="82196" y="115421"/>
            <a:chExt cx="3586850" cy="36000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93A90BAE-DD15-BF76-B07D-2FAF638C5743}"/>
                </a:ext>
              </a:extLst>
            </p:cNvPr>
            <p:cNvSpPr/>
            <p:nvPr/>
          </p:nvSpPr>
          <p:spPr>
            <a:xfrm>
              <a:off x="82196" y="115421"/>
              <a:ext cx="3586850" cy="360000"/>
            </a:xfrm>
            <a:prstGeom prst="roundRect">
              <a:avLst/>
            </a:prstGeom>
            <a:ln w="25400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DNOV-CWB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376E1CE5-A59F-14A4-2930-A54E0BF966E2}"/>
                </a:ext>
              </a:extLst>
            </p:cNvPr>
            <p:cNvSpPr/>
            <p:nvPr/>
          </p:nvSpPr>
          <p:spPr>
            <a:xfrm>
              <a:off x="82196" y="115421"/>
              <a:ext cx="864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Corpus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52CD18E-1982-E0D8-B0E2-B55CF9FAC231}"/>
              </a:ext>
            </a:extLst>
          </p:cNvPr>
          <p:cNvGrpSpPr/>
          <p:nvPr/>
        </p:nvGrpSpPr>
        <p:grpSpPr>
          <a:xfrm>
            <a:off x="4046200" y="153921"/>
            <a:ext cx="7920001" cy="360000"/>
            <a:chOff x="82196" y="115421"/>
            <a:chExt cx="3086427" cy="360000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7B4ED05A-A19C-AF51-615D-A2344E80EB8E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"eyes" %c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5C86C9FF-8C00-2D46-ACC1-A98A3C4EC7A2}"/>
                </a:ext>
              </a:extLst>
            </p:cNvPr>
            <p:cNvSpPr/>
            <p:nvPr/>
          </p:nvSpPr>
          <p:spPr>
            <a:xfrm>
              <a:off x="82196" y="115421"/>
              <a:ext cx="336701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Query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BE6C38DC-74C6-723A-CB92-ED687B3F4727}"/>
              </a:ext>
            </a:extLst>
          </p:cNvPr>
          <p:cNvSpPr/>
          <p:nvPr/>
        </p:nvSpPr>
        <p:spPr>
          <a:xfrm>
            <a:off x="0" y="633407"/>
            <a:ext cx="3780000" cy="6224593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C28AF7C-CBE2-6139-17F7-5F0F787583A2}"/>
              </a:ext>
            </a:extLst>
          </p:cNvPr>
          <p:cNvSpPr/>
          <p:nvPr/>
        </p:nvSpPr>
        <p:spPr>
          <a:xfrm>
            <a:off x="80375" y="718981"/>
            <a:ext cx="3586850" cy="360000"/>
          </a:xfrm>
          <a:prstGeom prst="roundRect">
            <a:avLst/>
          </a:prstGeom>
          <a:ln w="254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Analysis Tree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4AAB9">
                  <a:lumMod val="75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D6F72B-C308-2E48-6BC2-42BD47F04310}"/>
              </a:ext>
            </a:extLst>
          </p:cNvPr>
          <p:cNvSpPr txBox="1"/>
          <p:nvPr/>
        </p:nvSpPr>
        <p:spPr>
          <a:xfrm>
            <a:off x="80375" y="1198467"/>
            <a:ext cx="3586850" cy="55777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266700" marR="0" lvl="0" indent="-2667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89BBE9D-1191-2845-FEA5-E6032415AC96}"/>
              </a:ext>
            </a:extLst>
          </p:cNvPr>
          <p:cNvSpPr/>
          <p:nvPr/>
        </p:nvSpPr>
        <p:spPr>
          <a:xfrm>
            <a:off x="4046200" y="1112893"/>
            <a:ext cx="7920000" cy="432000"/>
          </a:xfrm>
          <a:prstGeom prst="roundRect">
            <a:avLst/>
          </a:prstGeom>
          <a:ln w="25400"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1919288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onsolas" panose="020B0609020204030204" pitchFamily="49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A949E8D-F371-BE66-E1E7-0D5B5541B17F}"/>
              </a:ext>
            </a:extLst>
          </p:cNvPr>
          <p:cNvGrpSpPr/>
          <p:nvPr/>
        </p:nvGrpSpPr>
        <p:grpSpPr>
          <a:xfrm>
            <a:off x="4046199" y="633407"/>
            <a:ext cx="7920001" cy="360000"/>
            <a:chOff x="82196" y="115421"/>
            <a:chExt cx="3086427" cy="360000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F4278D11-1C56-FAAB-1242-0A592771CB28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1919288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927C5DBC-D98A-12E5-83E9-62D41C90918A}"/>
                </a:ext>
              </a:extLst>
            </p:cNvPr>
            <p:cNvSpPr/>
            <p:nvPr/>
          </p:nvSpPr>
          <p:spPr>
            <a:xfrm>
              <a:off x="82196" y="115421"/>
              <a:ext cx="729519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Ins="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Partition / Cluster 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C0D7A1">
                      <a:lumMod val="20000"/>
                      <a:lumOff val="8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▼</a:t>
              </a:r>
            </a:p>
          </p:txBody>
        </p:sp>
      </p:grp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CCFB7943-7481-573A-58C5-EF2A47783B63}"/>
              </a:ext>
            </a:extLst>
          </p:cNvPr>
          <p:cNvSpPr/>
          <p:nvPr/>
        </p:nvSpPr>
        <p:spPr>
          <a:xfrm>
            <a:off x="4046199" y="1139268"/>
            <a:ext cx="385489" cy="360000"/>
          </a:xfrm>
          <a:prstGeom prst="roundRect">
            <a:avLst/>
          </a:prstGeom>
          <a:noFill/>
          <a:ln w="2540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9525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rPr>
              <a:t>⨁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11AED9A-6B79-734E-9276-D0F5C5C80EBD}"/>
              </a:ext>
            </a:extLst>
          </p:cNvPr>
          <p:cNvSpPr/>
          <p:nvPr/>
        </p:nvSpPr>
        <p:spPr>
          <a:xfrm>
            <a:off x="4044203" y="1664378"/>
            <a:ext cx="1763421" cy="360000"/>
          </a:xfrm>
          <a:prstGeom prst="round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Make selection ▼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ED08823A-FC2B-FAB2-DE5B-1CA5AC0068F6}"/>
              </a:ext>
            </a:extLst>
          </p:cNvPr>
          <p:cNvSpPr/>
          <p:nvPr/>
        </p:nvSpPr>
        <p:spPr>
          <a:xfrm>
            <a:off x="10644048" y="1672448"/>
            <a:ext cx="1322152" cy="360000"/>
          </a:xfrm>
          <a:prstGeom prst="round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🎔 Bookmark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69D8BA6-EDA9-8E8A-CCD9-3B0F47F53D78}"/>
              </a:ext>
            </a:extLst>
          </p:cNvPr>
          <p:cNvSpPr/>
          <p:nvPr/>
        </p:nvSpPr>
        <p:spPr>
          <a:xfrm>
            <a:off x="8836400" y="6450518"/>
            <a:ext cx="3129800" cy="253561"/>
          </a:xfrm>
          <a:prstGeom prst="roundRect">
            <a:avLst>
              <a:gd name="adj" fmla="val 50000"/>
            </a:avLst>
          </a:prstGeom>
          <a:ln>
            <a:noFill/>
          </a:ln>
          <a:effectLst>
            <a:innerShdw blurRad="50800" dist="25400" dir="15000000">
              <a:prstClr val="black">
                <a:alpha val="50000"/>
              </a:prstClr>
            </a:inn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images do not represent actual gameplay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F4C022-F522-B905-4690-91D0B9CD0D17}"/>
              </a:ext>
            </a:extLst>
          </p:cNvPr>
          <p:cNvSpPr txBox="1"/>
          <p:nvPr/>
        </p:nvSpPr>
        <p:spPr>
          <a:xfrm>
            <a:off x="4525579" y="3187107"/>
            <a:ext cx="6961239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Welcome to</a:t>
            </a:r>
            <a:br>
              <a:rPr kumimoji="0" lang="en-US" sz="3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en-US" sz="6600" b="1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90000"/>
                  </a:srgbClr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Candy</a:t>
            </a:r>
            <a:r>
              <a:rPr kumimoji="0" lang="en-US" sz="6600" b="1" i="0" u="none" strike="noStrike" kern="1200" cap="none" spc="0" normalizeH="0" baseline="0" noProof="0">
                <a:ln>
                  <a:noFill/>
                </a:ln>
                <a:solidFill>
                  <a:srgbClr val="54C5F3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Conc</a:t>
            </a:r>
            <a:endParaRPr kumimoji="0" lang="en-US" sz="3200" b="1" i="0" u="none" strike="noStrike" kern="1200" cap="none" spc="0" normalizeH="0" baseline="0" noProof="0">
              <a:ln>
                <a:noFill/>
              </a:ln>
              <a:solidFill>
                <a:srgbClr val="54C5F3"/>
              </a:solidFill>
              <a:effectLst/>
              <a:uLnTx/>
              <a:uFillTx/>
              <a:latin typeface="Candara" panose="020E0502030303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005233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CE7E2-7FDD-F1F1-4692-E08A55739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B2365092-D01B-3197-5CB4-CA74C1FC2AD8}"/>
              </a:ext>
            </a:extLst>
          </p:cNvPr>
          <p:cNvGrpSpPr/>
          <p:nvPr/>
        </p:nvGrpSpPr>
        <p:grpSpPr>
          <a:xfrm>
            <a:off x="80375" y="153921"/>
            <a:ext cx="3586850" cy="360000"/>
            <a:chOff x="82196" y="115421"/>
            <a:chExt cx="3586850" cy="36000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728A5183-11FA-5619-556D-84FB3873D9D4}"/>
                </a:ext>
              </a:extLst>
            </p:cNvPr>
            <p:cNvSpPr/>
            <p:nvPr/>
          </p:nvSpPr>
          <p:spPr>
            <a:xfrm>
              <a:off x="82196" y="115421"/>
              <a:ext cx="3586850" cy="360000"/>
            </a:xfrm>
            <a:prstGeom prst="roundRect">
              <a:avLst/>
            </a:prstGeom>
            <a:ln w="25400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DNOV-CWB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BCDC53EA-7B58-29F7-F251-9BC74E2A4B7E}"/>
                </a:ext>
              </a:extLst>
            </p:cNvPr>
            <p:cNvSpPr/>
            <p:nvPr/>
          </p:nvSpPr>
          <p:spPr>
            <a:xfrm>
              <a:off x="82196" y="115421"/>
              <a:ext cx="864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Corpus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135064E-35A4-44EE-0A67-F41F5F6C9862}"/>
              </a:ext>
            </a:extLst>
          </p:cNvPr>
          <p:cNvGrpSpPr/>
          <p:nvPr/>
        </p:nvGrpSpPr>
        <p:grpSpPr>
          <a:xfrm>
            <a:off x="4046200" y="153921"/>
            <a:ext cx="7920001" cy="360000"/>
            <a:chOff x="82196" y="115421"/>
            <a:chExt cx="3086427" cy="360000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C7C99EA8-58C5-A7AE-EA3A-308DAD9F4FAA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"eyes" %c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F1726FDE-8525-9131-EC4B-44E089573CB6}"/>
                </a:ext>
              </a:extLst>
            </p:cNvPr>
            <p:cNvSpPr/>
            <p:nvPr/>
          </p:nvSpPr>
          <p:spPr>
            <a:xfrm>
              <a:off x="82196" y="115421"/>
              <a:ext cx="336701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Query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86281FF-D736-1543-A39E-6B1165FCE930}"/>
              </a:ext>
            </a:extLst>
          </p:cNvPr>
          <p:cNvSpPr/>
          <p:nvPr/>
        </p:nvSpPr>
        <p:spPr>
          <a:xfrm>
            <a:off x="0" y="633407"/>
            <a:ext cx="3780000" cy="6224593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9E9FE00C-B354-31F7-2DD3-D6D6E5D785D6}"/>
              </a:ext>
            </a:extLst>
          </p:cNvPr>
          <p:cNvSpPr/>
          <p:nvPr/>
        </p:nvSpPr>
        <p:spPr>
          <a:xfrm>
            <a:off x="80375" y="718981"/>
            <a:ext cx="3586850" cy="360000"/>
          </a:xfrm>
          <a:prstGeom prst="roundRect">
            <a:avLst/>
          </a:prstGeom>
          <a:ln w="254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Analysis Tree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4AAB9">
                  <a:lumMod val="75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ADA2EC8-65C1-D7EA-E6BF-CB60FBDFED84}"/>
              </a:ext>
            </a:extLst>
          </p:cNvPr>
          <p:cNvSpPr txBox="1"/>
          <p:nvPr/>
        </p:nvSpPr>
        <p:spPr>
          <a:xfrm>
            <a:off x="80375" y="1198467"/>
            <a:ext cx="3586850" cy="55777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Query result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(4031)</a:t>
            </a:r>
          </a:p>
          <a:p>
            <a:pPr marL="266700" marR="0" lvl="0" indent="-2667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8C09832-6122-1DF4-439D-2AE81DAB95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1" b="751"/>
          <a:stretch/>
        </p:blipFill>
        <p:spPr>
          <a:xfrm>
            <a:off x="3865245" y="2109347"/>
            <a:ext cx="8326755" cy="4748653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B769165-525D-5B42-EF21-DD0FD891013B}"/>
              </a:ext>
            </a:extLst>
          </p:cNvPr>
          <p:cNvSpPr/>
          <p:nvPr/>
        </p:nvSpPr>
        <p:spPr>
          <a:xfrm>
            <a:off x="4046200" y="1112893"/>
            <a:ext cx="7920000" cy="432000"/>
          </a:xfrm>
          <a:prstGeom prst="roundRect">
            <a:avLst/>
          </a:prstGeom>
          <a:ln w="25400"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1919288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onsolas" panose="020B0609020204030204" pitchFamily="49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BA1DDB0-5441-EE2A-4743-31A3C138191B}"/>
              </a:ext>
            </a:extLst>
          </p:cNvPr>
          <p:cNvGrpSpPr/>
          <p:nvPr/>
        </p:nvGrpSpPr>
        <p:grpSpPr>
          <a:xfrm>
            <a:off x="4046199" y="633407"/>
            <a:ext cx="7920001" cy="360000"/>
            <a:chOff x="82196" y="115421"/>
            <a:chExt cx="3086427" cy="360000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BD2DD4E8-3ADC-E468-7F59-712F4E1E34D8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1919288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B34E7135-581D-99B6-536A-06E70814E2B1}"/>
                </a:ext>
              </a:extLst>
            </p:cNvPr>
            <p:cNvSpPr/>
            <p:nvPr/>
          </p:nvSpPr>
          <p:spPr>
            <a:xfrm>
              <a:off x="82196" y="115421"/>
              <a:ext cx="729519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Ins="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Partition / Cluster 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C0D7A1">
                      <a:lumMod val="20000"/>
                      <a:lumOff val="8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▼</a:t>
              </a:r>
            </a:p>
          </p:txBody>
        </p:sp>
      </p:grp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4D78B154-E777-CCA7-3157-FDCE551DCB12}"/>
              </a:ext>
            </a:extLst>
          </p:cNvPr>
          <p:cNvSpPr/>
          <p:nvPr/>
        </p:nvSpPr>
        <p:spPr>
          <a:xfrm>
            <a:off x="4046199" y="1139268"/>
            <a:ext cx="385489" cy="360000"/>
          </a:xfrm>
          <a:prstGeom prst="roundRect">
            <a:avLst/>
          </a:prstGeom>
          <a:noFill/>
          <a:ln w="2540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9525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rPr>
              <a:t>⨁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86515616-8067-A3C9-CCA8-8515E726EBF3}"/>
              </a:ext>
            </a:extLst>
          </p:cNvPr>
          <p:cNvSpPr/>
          <p:nvPr/>
        </p:nvSpPr>
        <p:spPr>
          <a:xfrm>
            <a:off x="4044203" y="1664378"/>
            <a:ext cx="1763421" cy="360000"/>
          </a:xfrm>
          <a:prstGeom prst="round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Make selection ▼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3EEF589F-595D-A0DD-32C3-C699DF4C1BFF}"/>
              </a:ext>
            </a:extLst>
          </p:cNvPr>
          <p:cNvSpPr/>
          <p:nvPr/>
        </p:nvSpPr>
        <p:spPr>
          <a:xfrm>
            <a:off x="10644048" y="1672448"/>
            <a:ext cx="1322152" cy="360000"/>
          </a:xfrm>
          <a:prstGeom prst="round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🎔 Bookmark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3F28AB-4B62-8A60-3BA7-200E2B7955AE}"/>
              </a:ext>
            </a:extLst>
          </p:cNvPr>
          <p:cNvGrpSpPr/>
          <p:nvPr/>
        </p:nvGrpSpPr>
        <p:grpSpPr>
          <a:xfrm>
            <a:off x="282959" y="537344"/>
            <a:ext cx="1435608" cy="664488"/>
            <a:chOff x="282959" y="537344"/>
            <a:chExt cx="1435608" cy="664488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7D598FBE-C5A9-6181-D7D5-8B1EF624EABD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>
              <a:off x="1000763" y="845121"/>
              <a:ext cx="186569" cy="356711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D86DAAA-260E-387B-CD81-465A603C4E1C}"/>
                </a:ext>
              </a:extLst>
            </p:cNvPr>
            <p:cNvSpPr txBox="1"/>
            <p:nvPr/>
          </p:nvSpPr>
          <p:spPr>
            <a:xfrm>
              <a:off x="282959" y="537344"/>
              <a:ext cx="1435608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root node</a:t>
              </a:r>
            </a:p>
          </p:txBody>
        </p:sp>
      </p:grp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E25537F-DB4B-DE6F-6347-187D3C472AA7}"/>
              </a:ext>
            </a:extLst>
          </p:cNvPr>
          <p:cNvSpPr/>
          <p:nvPr/>
        </p:nvSpPr>
        <p:spPr>
          <a:xfrm>
            <a:off x="8836400" y="6450518"/>
            <a:ext cx="3129800" cy="253561"/>
          </a:xfrm>
          <a:prstGeom prst="roundRect">
            <a:avLst>
              <a:gd name="adj" fmla="val 50000"/>
            </a:avLst>
          </a:prstGeom>
          <a:ln>
            <a:noFill/>
          </a:ln>
          <a:effectLst>
            <a:innerShdw blurRad="50800" dist="25400" dir="15000000">
              <a:prstClr val="black">
                <a:alpha val="50000"/>
              </a:prstClr>
            </a:inn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images do not represent actual gameplay</a:t>
            </a:r>
          </a:p>
        </p:txBody>
      </p:sp>
    </p:spTree>
    <p:extLst>
      <p:ext uri="{BB962C8B-B14F-4D97-AF65-F5344CB8AC3E}">
        <p14:creationId xmlns:p14="http://schemas.microsoft.com/office/powerpoint/2010/main" val="2737267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C4E33-184C-0841-E4EE-18161117C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10CA6009-DB23-DB38-7F3D-D090B9FC580C}"/>
              </a:ext>
            </a:extLst>
          </p:cNvPr>
          <p:cNvGrpSpPr/>
          <p:nvPr/>
        </p:nvGrpSpPr>
        <p:grpSpPr>
          <a:xfrm>
            <a:off x="80375" y="153921"/>
            <a:ext cx="3586850" cy="360000"/>
            <a:chOff x="82196" y="115421"/>
            <a:chExt cx="3586850" cy="36000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D3E1EB99-2FFB-1340-1E4A-DBF5EA6BC516}"/>
                </a:ext>
              </a:extLst>
            </p:cNvPr>
            <p:cNvSpPr/>
            <p:nvPr/>
          </p:nvSpPr>
          <p:spPr>
            <a:xfrm>
              <a:off x="82196" y="115421"/>
              <a:ext cx="3586850" cy="360000"/>
            </a:xfrm>
            <a:prstGeom prst="roundRect">
              <a:avLst/>
            </a:prstGeom>
            <a:ln w="25400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DNOV-CWB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96BFF207-6641-DC2B-13DF-9C2910544F86}"/>
                </a:ext>
              </a:extLst>
            </p:cNvPr>
            <p:cNvSpPr/>
            <p:nvPr/>
          </p:nvSpPr>
          <p:spPr>
            <a:xfrm>
              <a:off x="82196" y="115421"/>
              <a:ext cx="864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Corpus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6C37BE6-7876-8D8B-D1F8-9DE6C6E0F70D}"/>
              </a:ext>
            </a:extLst>
          </p:cNvPr>
          <p:cNvGrpSpPr/>
          <p:nvPr/>
        </p:nvGrpSpPr>
        <p:grpSpPr>
          <a:xfrm>
            <a:off x="4046200" y="153921"/>
            <a:ext cx="7920001" cy="360000"/>
            <a:chOff x="82196" y="115421"/>
            <a:chExt cx="3086427" cy="360000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F724D0D8-6D3E-FAA0-31E3-C49E38F66C07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"eyes" %c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5A83DE94-521F-DB61-4EEA-9BBF138A9109}"/>
                </a:ext>
              </a:extLst>
            </p:cNvPr>
            <p:cNvSpPr/>
            <p:nvPr/>
          </p:nvSpPr>
          <p:spPr>
            <a:xfrm>
              <a:off x="82196" y="115421"/>
              <a:ext cx="336701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Query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B1726F8-1AD9-617A-7272-61A6C5DA6D3F}"/>
              </a:ext>
            </a:extLst>
          </p:cNvPr>
          <p:cNvSpPr/>
          <p:nvPr/>
        </p:nvSpPr>
        <p:spPr>
          <a:xfrm>
            <a:off x="0" y="633407"/>
            <a:ext cx="3780000" cy="6224593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948CAB5D-69EF-82BE-17A3-D7868021A773}"/>
              </a:ext>
            </a:extLst>
          </p:cNvPr>
          <p:cNvSpPr/>
          <p:nvPr/>
        </p:nvSpPr>
        <p:spPr>
          <a:xfrm>
            <a:off x="80375" y="718981"/>
            <a:ext cx="3586850" cy="360000"/>
          </a:xfrm>
          <a:prstGeom prst="roundRect">
            <a:avLst/>
          </a:prstGeom>
          <a:ln w="254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Analysis Tree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4AAB9">
                  <a:lumMod val="75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E52103-3FE8-79AC-BF7B-94DF9A6B50C0}"/>
              </a:ext>
            </a:extLst>
          </p:cNvPr>
          <p:cNvSpPr txBox="1"/>
          <p:nvPr/>
        </p:nvSpPr>
        <p:spPr>
          <a:xfrm>
            <a:off x="80375" y="1198467"/>
            <a:ext cx="3586850" cy="55777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Query result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(4031)</a:t>
            </a:r>
          </a:p>
          <a:p>
            <a:pPr marL="185738" marR="0" lvl="0" indent="-18573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random</a:t>
            </a:r>
          </a:p>
          <a:p>
            <a:pPr marL="266700" marR="0" lvl="0" indent="-2667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1" name="Picture 20" descr="A screenshot of a computer&#10;&#10;Description automatically generated">
            <a:extLst>
              <a:ext uri="{FF2B5EF4-FFF2-40B4-BE49-F238E27FC236}">
                <a16:creationId xmlns:a16="http://schemas.microsoft.com/office/drawing/2014/main" id="{F5B8884F-FB7F-A2F5-BE3B-CF47953A5FE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7057"/>
          <a:stretch/>
        </p:blipFill>
        <p:spPr>
          <a:xfrm>
            <a:off x="3865245" y="2109347"/>
            <a:ext cx="8326755" cy="4748653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3860C9F-A1FE-C67B-7654-91EFB899D24C}"/>
              </a:ext>
            </a:extLst>
          </p:cNvPr>
          <p:cNvSpPr/>
          <p:nvPr/>
        </p:nvSpPr>
        <p:spPr>
          <a:xfrm>
            <a:off x="4046200" y="1112893"/>
            <a:ext cx="7920000" cy="432000"/>
          </a:xfrm>
          <a:prstGeom prst="roundRect">
            <a:avLst/>
          </a:prstGeom>
          <a:ln w="25400"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1919288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onsolas" panose="020B0609020204030204" pitchFamily="49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1373D5D-B080-92EB-6E76-8E368883465E}"/>
              </a:ext>
            </a:extLst>
          </p:cNvPr>
          <p:cNvGrpSpPr/>
          <p:nvPr/>
        </p:nvGrpSpPr>
        <p:grpSpPr>
          <a:xfrm>
            <a:off x="4046199" y="633407"/>
            <a:ext cx="7920001" cy="360000"/>
            <a:chOff x="82196" y="115421"/>
            <a:chExt cx="3086427" cy="360000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FC6926F1-EAC9-69B3-7F93-DF28028DFFD1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1919288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9087CC4D-4153-3759-89ED-01AC26A1766F}"/>
                </a:ext>
              </a:extLst>
            </p:cNvPr>
            <p:cNvSpPr/>
            <p:nvPr/>
          </p:nvSpPr>
          <p:spPr>
            <a:xfrm>
              <a:off x="82196" y="115421"/>
              <a:ext cx="729519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Ins="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Partition / Cluster 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C0D7A1">
                      <a:lumMod val="20000"/>
                      <a:lumOff val="8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▼</a:t>
              </a:r>
            </a:p>
          </p:txBody>
        </p:sp>
      </p:grp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42C7FC6C-E73A-8703-BDA8-9C6DAD3CCE31}"/>
              </a:ext>
            </a:extLst>
          </p:cNvPr>
          <p:cNvSpPr/>
          <p:nvPr/>
        </p:nvSpPr>
        <p:spPr>
          <a:xfrm>
            <a:off x="4044203" y="1664378"/>
            <a:ext cx="1763421" cy="360000"/>
          </a:xfrm>
          <a:prstGeom prst="round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Make selection ▼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219104F-F80F-F471-0EA2-E1CC077D1E7A}"/>
              </a:ext>
            </a:extLst>
          </p:cNvPr>
          <p:cNvGrpSpPr/>
          <p:nvPr/>
        </p:nvGrpSpPr>
        <p:grpSpPr>
          <a:xfrm>
            <a:off x="4087185" y="1148893"/>
            <a:ext cx="1562844" cy="360000"/>
            <a:chOff x="82196" y="115421"/>
            <a:chExt cx="1562844" cy="360000"/>
          </a:xfrm>
        </p:grpSpPr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13A64FD-6F7F-9DD2-EFCB-EA51DAC14FE4}"/>
                </a:ext>
              </a:extLst>
            </p:cNvPr>
            <p:cNvSpPr/>
            <p:nvPr/>
          </p:nvSpPr>
          <p:spPr>
            <a:xfrm>
              <a:off x="82197" y="115421"/>
              <a:ext cx="1562843" cy="360000"/>
            </a:xfrm>
            <a:prstGeom prst="roundRect">
              <a:avLst/>
            </a:prstGeom>
            <a:ln w="25400">
              <a:solidFill>
                <a:schemeClr val="accent3"/>
              </a:solidFill>
            </a:ln>
            <a:effectLst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Ins="0" rtlCol="0" anchor="b"/>
            <a:lstStyle/>
            <a:p>
              <a:pPr marL="53340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random  </a:t>
              </a:r>
              <a:r>
                <a:rPr kumimoji="0" lang="en-US" sz="1600" b="0" i="0" u="none" strike="noStrike" kern="1200" cap="none" spc="0" normalizeH="0" baseline="30000" noProof="0">
                  <a:ln>
                    <a:noFill/>
                  </a:ln>
                  <a:solidFill>
                    <a:srgbClr val="C0D7A1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❎</a:t>
              </a:r>
              <a:endParaRPr kumimoji="0" lang="en-US" sz="1800" b="0" i="0" u="none" strike="noStrike" kern="1200" cap="none" spc="0" normalizeH="0" baseline="3000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2A8873A0-4C7A-3E13-7181-02F083857ACC}"/>
                </a:ext>
              </a:extLst>
            </p:cNvPr>
            <p:cNvSpPr/>
            <p:nvPr/>
          </p:nvSpPr>
          <p:spPr>
            <a:xfrm>
              <a:off x="82196" y="115421"/>
              <a:ext cx="576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Sort</a:t>
              </a:r>
            </a:p>
          </p:txBody>
        </p:sp>
      </p:grp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40053E58-A117-73EE-575D-EBB867E5668E}"/>
              </a:ext>
            </a:extLst>
          </p:cNvPr>
          <p:cNvSpPr/>
          <p:nvPr/>
        </p:nvSpPr>
        <p:spPr>
          <a:xfrm>
            <a:off x="5650029" y="1139268"/>
            <a:ext cx="385489" cy="360000"/>
          </a:xfrm>
          <a:prstGeom prst="roundRect">
            <a:avLst/>
          </a:prstGeom>
          <a:noFill/>
          <a:ln w="2540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9525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rPr>
              <a:t>⨁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9B8241B-E791-344E-D05D-B8FA5479A07E}"/>
              </a:ext>
            </a:extLst>
          </p:cNvPr>
          <p:cNvSpPr/>
          <p:nvPr/>
        </p:nvSpPr>
        <p:spPr>
          <a:xfrm>
            <a:off x="10644048" y="1672448"/>
            <a:ext cx="1322152" cy="360000"/>
          </a:xfrm>
          <a:prstGeom prst="round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🎔 Bookmark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EE7572D-CFB8-ED2C-8CD6-50A13828B6B5}"/>
              </a:ext>
            </a:extLst>
          </p:cNvPr>
          <p:cNvSpPr/>
          <p:nvPr/>
        </p:nvSpPr>
        <p:spPr>
          <a:xfrm>
            <a:off x="8836400" y="6450518"/>
            <a:ext cx="3129800" cy="253561"/>
          </a:xfrm>
          <a:prstGeom prst="roundRect">
            <a:avLst>
              <a:gd name="adj" fmla="val 50000"/>
            </a:avLst>
          </a:prstGeom>
          <a:ln>
            <a:noFill/>
          </a:ln>
          <a:effectLst>
            <a:innerShdw blurRad="50800" dist="25400" dir="15000000">
              <a:prstClr val="black">
                <a:alpha val="50000"/>
              </a:prstClr>
            </a:inn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images do not represent actual gameplay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7069B09-18C5-E674-92D9-4EB75B3A24CF}"/>
              </a:ext>
            </a:extLst>
          </p:cNvPr>
          <p:cNvGrpSpPr/>
          <p:nvPr/>
        </p:nvGrpSpPr>
        <p:grpSpPr>
          <a:xfrm>
            <a:off x="1411815" y="1194875"/>
            <a:ext cx="2553731" cy="379514"/>
            <a:chOff x="1632111" y="1009699"/>
            <a:chExt cx="2553731" cy="379514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DFE9E56C-203D-A1E9-F430-63C09F5D87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32111" y="1225064"/>
              <a:ext cx="457200" cy="164149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1CB97BA-EEB6-13AC-E16B-08ADDE61955D}"/>
                </a:ext>
              </a:extLst>
            </p:cNvPr>
            <p:cNvSpPr txBox="1"/>
            <p:nvPr/>
          </p:nvSpPr>
          <p:spPr>
            <a:xfrm>
              <a:off x="2056452" y="1009699"/>
              <a:ext cx="2129390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arrangement node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2555904E-56B4-6089-4387-34F2FFA17FC9}"/>
              </a:ext>
            </a:extLst>
          </p:cNvPr>
          <p:cNvGrpSpPr/>
          <p:nvPr/>
        </p:nvGrpSpPr>
        <p:grpSpPr>
          <a:xfrm>
            <a:off x="282959" y="537344"/>
            <a:ext cx="1435608" cy="664488"/>
            <a:chOff x="282959" y="537344"/>
            <a:chExt cx="1435608" cy="664488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B55FE083-7C8A-C9C2-AFCA-CB04B3AE94B6}"/>
                </a:ext>
              </a:extLst>
            </p:cNvPr>
            <p:cNvCxnSpPr>
              <a:cxnSpLocks/>
              <a:stCxn id="17" idx="2"/>
            </p:cNvCxnSpPr>
            <p:nvPr/>
          </p:nvCxnSpPr>
          <p:spPr>
            <a:xfrm>
              <a:off x="1000763" y="845121"/>
              <a:ext cx="186569" cy="356711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E0C0003-92E5-8254-2118-BF9F3301F967}"/>
                </a:ext>
              </a:extLst>
            </p:cNvPr>
            <p:cNvSpPr txBox="1"/>
            <p:nvPr/>
          </p:nvSpPr>
          <p:spPr>
            <a:xfrm>
              <a:off x="282959" y="537344"/>
              <a:ext cx="1435608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root node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94326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7817C-81D8-F46B-F8C5-07C8EF732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5246FE00-BD6A-4069-D02D-C21393BF40EC}"/>
              </a:ext>
            </a:extLst>
          </p:cNvPr>
          <p:cNvGrpSpPr/>
          <p:nvPr/>
        </p:nvGrpSpPr>
        <p:grpSpPr>
          <a:xfrm>
            <a:off x="80375" y="153921"/>
            <a:ext cx="3586850" cy="360000"/>
            <a:chOff x="82196" y="115421"/>
            <a:chExt cx="3586850" cy="36000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5C333C2A-8CC1-A622-790F-9527F13979DB}"/>
                </a:ext>
              </a:extLst>
            </p:cNvPr>
            <p:cNvSpPr/>
            <p:nvPr/>
          </p:nvSpPr>
          <p:spPr>
            <a:xfrm>
              <a:off x="82196" y="115421"/>
              <a:ext cx="3586850" cy="360000"/>
            </a:xfrm>
            <a:prstGeom prst="roundRect">
              <a:avLst/>
            </a:prstGeom>
            <a:ln w="25400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DNOV-CWB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F0327DC-70FF-11DC-E686-6B12A82C35D6}"/>
                </a:ext>
              </a:extLst>
            </p:cNvPr>
            <p:cNvSpPr/>
            <p:nvPr/>
          </p:nvSpPr>
          <p:spPr>
            <a:xfrm>
              <a:off x="82196" y="115421"/>
              <a:ext cx="864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Corpus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0387AA6-F934-2A80-2FB8-BBBB9096E29F}"/>
              </a:ext>
            </a:extLst>
          </p:cNvPr>
          <p:cNvGrpSpPr/>
          <p:nvPr/>
        </p:nvGrpSpPr>
        <p:grpSpPr>
          <a:xfrm>
            <a:off x="4046200" y="153921"/>
            <a:ext cx="7920001" cy="360000"/>
            <a:chOff x="82196" y="115421"/>
            <a:chExt cx="3086427" cy="360000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A2E2818C-A939-DDD9-CFAE-BABB693220C4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"eyes" %c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40D2EF5E-98DF-3463-A8E4-78A4C06B603B}"/>
                </a:ext>
              </a:extLst>
            </p:cNvPr>
            <p:cNvSpPr/>
            <p:nvPr/>
          </p:nvSpPr>
          <p:spPr>
            <a:xfrm>
              <a:off x="82196" y="115421"/>
              <a:ext cx="336701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Query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6C303278-21DC-B74F-62A8-9A3BAC57472F}"/>
              </a:ext>
            </a:extLst>
          </p:cNvPr>
          <p:cNvSpPr/>
          <p:nvPr/>
        </p:nvSpPr>
        <p:spPr>
          <a:xfrm>
            <a:off x="0" y="633407"/>
            <a:ext cx="3780000" cy="6224593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633A8BE-A838-DEA4-6E97-0FFC9F63F495}"/>
              </a:ext>
            </a:extLst>
          </p:cNvPr>
          <p:cNvSpPr/>
          <p:nvPr/>
        </p:nvSpPr>
        <p:spPr>
          <a:xfrm>
            <a:off x="80375" y="718981"/>
            <a:ext cx="3586850" cy="360000"/>
          </a:xfrm>
          <a:prstGeom prst="roundRect">
            <a:avLst/>
          </a:prstGeom>
          <a:ln w="254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Analysis Tree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4AAB9">
                  <a:lumMod val="75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3F60BA-17C4-03E5-8C0E-1D0F0652AC5F}"/>
              </a:ext>
            </a:extLst>
          </p:cNvPr>
          <p:cNvSpPr txBox="1"/>
          <p:nvPr/>
        </p:nvSpPr>
        <p:spPr>
          <a:xfrm>
            <a:off x="80375" y="1198467"/>
            <a:ext cx="3586850" cy="55777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Query result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(4031)</a:t>
            </a:r>
          </a:p>
          <a:p>
            <a:pPr marL="185738" marR="0" lvl="0" indent="-18573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random</a:t>
            </a:r>
          </a:p>
          <a:p>
            <a:pPr marL="363538" marR="0" lvl="0" indent="-1778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select: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within suspension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(276)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570074E-EB2A-9456-339E-9E4F793E82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2" b="532"/>
          <a:stretch/>
        </p:blipFill>
        <p:spPr>
          <a:xfrm>
            <a:off x="3865245" y="2109347"/>
            <a:ext cx="8326755" cy="4748653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FAF8557-12E6-DA10-AE76-6D78CE59C4BB}"/>
              </a:ext>
            </a:extLst>
          </p:cNvPr>
          <p:cNvSpPr/>
          <p:nvPr/>
        </p:nvSpPr>
        <p:spPr>
          <a:xfrm>
            <a:off x="4046200" y="1112893"/>
            <a:ext cx="7920000" cy="432000"/>
          </a:xfrm>
          <a:prstGeom prst="roundRect">
            <a:avLst/>
          </a:prstGeom>
          <a:ln w="25400"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1919288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onsolas" panose="020B0609020204030204" pitchFamily="49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7AD18D1-2FFE-A45A-73BF-C8F7D3B34992}"/>
              </a:ext>
            </a:extLst>
          </p:cNvPr>
          <p:cNvGrpSpPr/>
          <p:nvPr/>
        </p:nvGrpSpPr>
        <p:grpSpPr>
          <a:xfrm>
            <a:off x="4046199" y="633407"/>
            <a:ext cx="7920001" cy="360000"/>
            <a:chOff x="82196" y="115421"/>
            <a:chExt cx="3086427" cy="360000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63AE24F5-8FDB-AF6F-DFDA-834FC759AFC3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1919288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B5FA809D-D6B2-B0D0-2C63-B737C87ABF43}"/>
                </a:ext>
              </a:extLst>
            </p:cNvPr>
            <p:cNvSpPr/>
            <p:nvPr/>
          </p:nvSpPr>
          <p:spPr>
            <a:xfrm>
              <a:off x="82196" y="115421"/>
              <a:ext cx="729519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Ins="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Partition / Cluster 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C0D7A1">
                      <a:lumMod val="20000"/>
                      <a:lumOff val="8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▼</a:t>
              </a:r>
            </a:p>
          </p:txBody>
        </p:sp>
      </p:grp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9AAE63A8-14F3-60CC-2249-84B7B9B7B63A}"/>
              </a:ext>
            </a:extLst>
          </p:cNvPr>
          <p:cNvSpPr/>
          <p:nvPr/>
        </p:nvSpPr>
        <p:spPr>
          <a:xfrm>
            <a:off x="4044203" y="1664378"/>
            <a:ext cx="1763421" cy="360000"/>
          </a:xfrm>
          <a:prstGeom prst="round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Make selection ▼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0C71E1F-3EE7-BEA9-83AE-4F7F990CD430}"/>
              </a:ext>
            </a:extLst>
          </p:cNvPr>
          <p:cNvGrpSpPr/>
          <p:nvPr/>
        </p:nvGrpSpPr>
        <p:grpSpPr>
          <a:xfrm>
            <a:off x="4087185" y="1148893"/>
            <a:ext cx="1562844" cy="360000"/>
            <a:chOff x="82196" y="115421"/>
            <a:chExt cx="1562844" cy="360000"/>
          </a:xfrm>
        </p:grpSpPr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4362A26-79B2-6F6B-8295-3412DD152C6E}"/>
                </a:ext>
              </a:extLst>
            </p:cNvPr>
            <p:cNvSpPr/>
            <p:nvPr/>
          </p:nvSpPr>
          <p:spPr>
            <a:xfrm>
              <a:off x="82197" y="115421"/>
              <a:ext cx="1562843" cy="360000"/>
            </a:xfrm>
            <a:prstGeom prst="roundRect">
              <a:avLst/>
            </a:prstGeom>
            <a:ln w="25400">
              <a:solidFill>
                <a:schemeClr val="accent3"/>
              </a:solidFill>
            </a:ln>
            <a:effectLst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Ins="0" rtlCol="0" anchor="b"/>
            <a:lstStyle/>
            <a:p>
              <a:pPr marL="53340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random  </a:t>
              </a:r>
              <a:r>
                <a:rPr kumimoji="0" lang="en-US" sz="1600" b="0" i="0" u="none" strike="noStrike" kern="1200" cap="none" spc="0" normalizeH="0" baseline="30000" noProof="0">
                  <a:ln>
                    <a:noFill/>
                  </a:ln>
                  <a:solidFill>
                    <a:srgbClr val="C0D7A1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❎</a:t>
              </a:r>
              <a:endParaRPr kumimoji="0" lang="en-US" sz="1800" b="0" i="0" u="none" strike="noStrike" kern="1200" cap="none" spc="0" normalizeH="0" baseline="3000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141FE410-D167-551B-028B-8DB9E901DCA0}"/>
                </a:ext>
              </a:extLst>
            </p:cNvPr>
            <p:cNvSpPr/>
            <p:nvPr/>
          </p:nvSpPr>
          <p:spPr>
            <a:xfrm>
              <a:off x="82196" y="115421"/>
              <a:ext cx="576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Sort</a:t>
              </a:r>
            </a:p>
          </p:txBody>
        </p:sp>
      </p:grp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365C39A-16B9-A769-B222-B5C7E1F4DC71}"/>
              </a:ext>
            </a:extLst>
          </p:cNvPr>
          <p:cNvSpPr/>
          <p:nvPr/>
        </p:nvSpPr>
        <p:spPr>
          <a:xfrm>
            <a:off x="5650029" y="1139268"/>
            <a:ext cx="385489" cy="360000"/>
          </a:xfrm>
          <a:prstGeom prst="roundRect">
            <a:avLst/>
          </a:prstGeom>
          <a:noFill/>
          <a:ln w="2540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9525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rPr>
              <a:t>⨁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13186C1-97B2-EB40-A0B9-E6867FD28ED8}"/>
              </a:ext>
            </a:extLst>
          </p:cNvPr>
          <p:cNvSpPr/>
          <p:nvPr/>
        </p:nvSpPr>
        <p:spPr>
          <a:xfrm>
            <a:off x="10644048" y="1672448"/>
            <a:ext cx="1322152" cy="360000"/>
          </a:xfrm>
          <a:prstGeom prst="round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🎔 Bookmark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A81ACD5-166C-CE7D-80F6-B01FD6405B35}"/>
              </a:ext>
            </a:extLst>
          </p:cNvPr>
          <p:cNvSpPr/>
          <p:nvPr/>
        </p:nvSpPr>
        <p:spPr>
          <a:xfrm>
            <a:off x="8836400" y="6450518"/>
            <a:ext cx="3129800" cy="253561"/>
          </a:xfrm>
          <a:prstGeom prst="roundRect">
            <a:avLst>
              <a:gd name="adj" fmla="val 50000"/>
            </a:avLst>
          </a:prstGeom>
          <a:ln>
            <a:noFill/>
          </a:ln>
          <a:effectLst>
            <a:innerShdw blurRad="50800" dist="25400" dir="15000000">
              <a:prstClr val="black">
                <a:alpha val="50000"/>
              </a:prstClr>
            </a:inn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images do not represent actual gameplay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5870E64-8478-2CFC-3F77-69DD9FB5F0DA}"/>
              </a:ext>
            </a:extLst>
          </p:cNvPr>
          <p:cNvGrpSpPr/>
          <p:nvPr/>
        </p:nvGrpSpPr>
        <p:grpSpPr>
          <a:xfrm>
            <a:off x="1411815" y="1194875"/>
            <a:ext cx="2553731" cy="379514"/>
            <a:chOff x="1632111" y="1009699"/>
            <a:chExt cx="2553731" cy="379514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A9F694AC-9979-0519-70B1-829B6A2C99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32111" y="1225064"/>
              <a:ext cx="457200" cy="164149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97ACB23-84E0-122C-5881-0DAF54DF8225}"/>
                </a:ext>
              </a:extLst>
            </p:cNvPr>
            <p:cNvSpPr txBox="1"/>
            <p:nvPr/>
          </p:nvSpPr>
          <p:spPr>
            <a:xfrm>
              <a:off x="2056452" y="1009699"/>
              <a:ext cx="2129390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arrangement node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333D329-9EAE-305A-59F5-09603E166AD3}"/>
              </a:ext>
            </a:extLst>
          </p:cNvPr>
          <p:cNvGrpSpPr/>
          <p:nvPr/>
        </p:nvGrpSpPr>
        <p:grpSpPr>
          <a:xfrm>
            <a:off x="282959" y="537344"/>
            <a:ext cx="1435608" cy="664488"/>
            <a:chOff x="282959" y="537344"/>
            <a:chExt cx="1435608" cy="664488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F6801D05-F558-4B0A-A22B-991CB7AAF3C7}"/>
                </a:ext>
              </a:extLst>
            </p:cNvPr>
            <p:cNvCxnSpPr>
              <a:cxnSpLocks/>
              <a:stCxn id="17" idx="2"/>
            </p:cNvCxnSpPr>
            <p:nvPr/>
          </p:nvCxnSpPr>
          <p:spPr>
            <a:xfrm>
              <a:off x="1000763" y="845121"/>
              <a:ext cx="186569" cy="356711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013EBFB-28D6-60E7-E941-B565D5B3FFB5}"/>
                </a:ext>
              </a:extLst>
            </p:cNvPr>
            <p:cNvSpPr txBox="1"/>
            <p:nvPr/>
          </p:nvSpPr>
          <p:spPr>
            <a:xfrm>
              <a:off x="282959" y="537344"/>
              <a:ext cx="1435608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root node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1F5DD13-9FD5-16DC-5001-B9C29C061E4D}"/>
              </a:ext>
            </a:extLst>
          </p:cNvPr>
          <p:cNvGrpSpPr/>
          <p:nvPr/>
        </p:nvGrpSpPr>
        <p:grpSpPr>
          <a:xfrm>
            <a:off x="2261419" y="1927123"/>
            <a:ext cx="1619370" cy="490001"/>
            <a:chOff x="2040210" y="822559"/>
            <a:chExt cx="1619370" cy="490001"/>
          </a:xfrm>
        </p:grpSpPr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0B4A099A-6EB0-A850-D1E6-1EDDAF96DB3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40210" y="822559"/>
              <a:ext cx="275304" cy="245806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287955A-9182-0B45-FC4A-1BCC0E3B198F}"/>
                </a:ext>
              </a:extLst>
            </p:cNvPr>
            <p:cNvSpPr txBox="1"/>
            <p:nvPr/>
          </p:nvSpPr>
          <p:spPr>
            <a:xfrm>
              <a:off x="2092118" y="1004783"/>
              <a:ext cx="1567462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subset node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00562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3A53D-7745-8006-DAA0-6842A3D44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A0326D72-A0E3-D786-1AA4-E6F9AD1BF657}"/>
              </a:ext>
            </a:extLst>
          </p:cNvPr>
          <p:cNvGrpSpPr/>
          <p:nvPr/>
        </p:nvGrpSpPr>
        <p:grpSpPr>
          <a:xfrm>
            <a:off x="80375" y="153921"/>
            <a:ext cx="3586850" cy="360000"/>
            <a:chOff x="82196" y="115421"/>
            <a:chExt cx="3586850" cy="36000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D2FEC18A-7756-EC54-E2A8-F32BE1BD3CD7}"/>
                </a:ext>
              </a:extLst>
            </p:cNvPr>
            <p:cNvSpPr/>
            <p:nvPr/>
          </p:nvSpPr>
          <p:spPr>
            <a:xfrm>
              <a:off x="82196" y="115421"/>
              <a:ext cx="3586850" cy="360000"/>
            </a:xfrm>
            <a:prstGeom prst="roundRect">
              <a:avLst/>
            </a:prstGeom>
            <a:ln w="25400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DNOV-CWB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DCD4C338-73F4-46AF-B9A2-9EAAA5EC1F0E}"/>
                </a:ext>
              </a:extLst>
            </p:cNvPr>
            <p:cNvSpPr/>
            <p:nvPr/>
          </p:nvSpPr>
          <p:spPr>
            <a:xfrm>
              <a:off x="82196" y="115421"/>
              <a:ext cx="864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Corpus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B802D50-E6E5-CAC8-AC33-93A9E5AFDB65}"/>
              </a:ext>
            </a:extLst>
          </p:cNvPr>
          <p:cNvGrpSpPr/>
          <p:nvPr/>
        </p:nvGrpSpPr>
        <p:grpSpPr>
          <a:xfrm>
            <a:off x="4046200" y="153921"/>
            <a:ext cx="7920001" cy="360000"/>
            <a:chOff x="82196" y="115421"/>
            <a:chExt cx="3086427" cy="360000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01EC697F-0579-5BEA-2341-865B243E4174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"eyes" %c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88649812-B2EF-D8FD-6078-A3EC5C475F19}"/>
                </a:ext>
              </a:extLst>
            </p:cNvPr>
            <p:cNvSpPr/>
            <p:nvPr/>
          </p:nvSpPr>
          <p:spPr>
            <a:xfrm>
              <a:off x="82196" y="115421"/>
              <a:ext cx="336701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Query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490804A5-EC31-4976-FFD0-419F6C37A511}"/>
              </a:ext>
            </a:extLst>
          </p:cNvPr>
          <p:cNvSpPr/>
          <p:nvPr/>
        </p:nvSpPr>
        <p:spPr>
          <a:xfrm>
            <a:off x="0" y="633407"/>
            <a:ext cx="3780000" cy="6224593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0F51310-63E9-1DB4-88F9-FEAF75D2EFF2}"/>
              </a:ext>
            </a:extLst>
          </p:cNvPr>
          <p:cNvSpPr/>
          <p:nvPr/>
        </p:nvSpPr>
        <p:spPr>
          <a:xfrm>
            <a:off x="80375" y="718981"/>
            <a:ext cx="3586850" cy="360000"/>
          </a:xfrm>
          <a:prstGeom prst="roundRect">
            <a:avLst/>
          </a:prstGeom>
          <a:ln w="254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Analysis Tree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4AAB9">
                  <a:lumMod val="75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543B7E-2EB0-1CDA-2029-EB6BD294F4E8}"/>
              </a:ext>
            </a:extLst>
          </p:cNvPr>
          <p:cNvSpPr txBox="1"/>
          <p:nvPr/>
        </p:nvSpPr>
        <p:spPr>
          <a:xfrm>
            <a:off x="80375" y="1198467"/>
            <a:ext cx="3586850" cy="55777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Query result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(4031)</a:t>
            </a:r>
          </a:p>
          <a:p>
            <a:pPr marL="185738" marR="0" lvl="0" indent="-18573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random</a:t>
            </a:r>
          </a:p>
          <a:p>
            <a:pPr marL="363538" marR="0" lvl="0" indent="-1778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select: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within suspension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(276)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right context</a:t>
            </a:r>
          </a:p>
          <a:p>
            <a:pPr marL="533400" marR="0" lvl="0" indent="-257175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65C70DF-7B6D-C345-6367-9D93A664D9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57" b="557"/>
          <a:stretch/>
        </p:blipFill>
        <p:spPr>
          <a:xfrm>
            <a:off x="3865245" y="2109347"/>
            <a:ext cx="8326755" cy="4748653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F06D455-6498-2185-2AC8-0265A26AE331}"/>
              </a:ext>
            </a:extLst>
          </p:cNvPr>
          <p:cNvSpPr/>
          <p:nvPr/>
        </p:nvSpPr>
        <p:spPr>
          <a:xfrm>
            <a:off x="4046200" y="1112893"/>
            <a:ext cx="7920000" cy="432000"/>
          </a:xfrm>
          <a:prstGeom prst="roundRect">
            <a:avLst/>
          </a:prstGeom>
          <a:ln w="25400"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1919288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onsolas" panose="020B0609020204030204" pitchFamily="49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2E39A15-4DA3-FCA6-F63F-25CCA16AF73A}"/>
              </a:ext>
            </a:extLst>
          </p:cNvPr>
          <p:cNvGrpSpPr/>
          <p:nvPr/>
        </p:nvGrpSpPr>
        <p:grpSpPr>
          <a:xfrm>
            <a:off x="4046199" y="633407"/>
            <a:ext cx="7920001" cy="360000"/>
            <a:chOff x="82196" y="115421"/>
            <a:chExt cx="3086427" cy="360000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257E9E88-5323-4090-7E17-A17EDB0A40B8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1919288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0DA007DF-5AA0-A8C7-0CF4-09B4A62F0A21}"/>
                </a:ext>
              </a:extLst>
            </p:cNvPr>
            <p:cNvSpPr/>
            <p:nvPr/>
          </p:nvSpPr>
          <p:spPr>
            <a:xfrm>
              <a:off x="82196" y="115421"/>
              <a:ext cx="729519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Ins="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Partition / Cluster 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C0D7A1">
                      <a:lumMod val="20000"/>
                      <a:lumOff val="8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▼</a:t>
              </a:r>
            </a:p>
          </p:txBody>
        </p:sp>
      </p:grp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7C7B16E0-707F-FD42-8FB1-AA2DFD704292}"/>
              </a:ext>
            </a:extLst>
          </p:cNvPr>
          <p:cNvSpPr/>
          <p:nvPr/>
        </p:nvSpPr>
        <p:spPr>
          <a:xfrm>
            <a:off x="4044203" y="1664378"/>
            <a:ext cx="1763421" cy="360000"/>
          </a:xfrm>
          <a:prstGeom prst="round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Make selection ▼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5C5C3BB-4EB7-B614-5C74-3FC784273AA8}"/>
              </a:ext>
            </a:extLst>
          </p:cNvPr>
          <p:cNvGrpSpPr/>
          <p:nvPr/>
        </p:nvGrpSpPr>
        <p:grpSpPr>
          <a:xfrm>
            <a:off x="4087185" y="1148893"/>
            <a:ext cx="2255864" cy="360000"/>
            <a:chOff x="82196" y="115421"/>
            <a:chExt cx="2255864" cy="360000"/>
          </a:xfrm>
        </p:grpSpPr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4C7DD04-FF11-4AE2-4756-B4C0C114B804}"/>
                </a:ext>
              </a:extLst>
            </p:cNvPr>
            <p:cNvSpPr/>
            <p:nvPr/>
          </p:nvSpPr>
          <p:spPr>
            <a:xfrm>
              <a:off x="82196" y="115421"/>
              <a:ext cx="2255864" cy="360000"/>
            </a:xfrm>
            <a:prstGeom prst="roundRect">
              <a:avLst/>
            </a:prstGeom>
            <a:ln w="25400">
              <a:solidFill>
                <a:schemeClr val="accent3"/>
              </a:solidFill>
            </a:ln>
            <a:effectLst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tIns="0" rIns="0" rtlCol="0" anchor="b"/>
            <a:lstStyle/>
            <a:p>
              <a:pPr marL="53340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by right context   </a:t>
              </a:r>
              <a:r>
                <a:rPr kumimoji="0" lang="en-US" sz="1600" b="0" i="0" u="none" strike="noStrike" kern="1200" cap="none" spc="0" normalizeH="0" baseline="30000" noProof="0">
                  <a:ln>
                    <a:noFill/>
                  </a:ln>
                  <a:solidFill>
                    <a:srgbClr val="C0D7A1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❎</a:t>
              </a:r>
              <a:endParaRPr kumimoji="0" lang="en-US" sz="1800" b="0" i="0" u="none" strike="noStrike" kern="1200" cap="none" spc="0" normalizeH="0" baseline="3000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F3975EDB-981F-9A1C-6076-B46A0742B899}"/>
                </a:ext>
              </a:extLst>
            </p:cNvPr>
            <p:cNvSpPr/>
            <p:nvPr/>
          </p:nvSpPr>
          <p:spPr>
            <a:xfrm>
              <a:off x="82196" y="115421"/>
              <a:ext cx="576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Sort</a:t>
              </a:r>
            </a:p>
          </p:txBody>
        </p:sp>
      </p:grp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C448572C-F745-46FA-CD5B-F14540674E40}"/>
              </a:ext>
            </a:extLst>
          </p:cNvPr>
          <p:cNvSpPr/>
          <p:nvPr/>
        </p:nvSpPr>
        <p:spPr>
          <a:xfrm>
            <a:off x="6364372" y="1139268"/>
            <a:ext cx="385489" cy="360000"/>
          </a:xfrm>
          <a:prstGeom prst="roundRect">
            <a:avLst/>
          </a:prstGeom>
          <a:noFill/>
          <a:ln w="2540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9525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rPr>
              <a:t>⨁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9FAC714-D1C4-FBD6-AC76-F70FB55EBB40}"/>
              </a:ext>
            </a:extLst>
          </p:cNvPr>
          <p:cNvSpPr/>
          <p:nvPr/>
        </p:nvSpPr>
        <p:spPr>
          <a:xfrm>
            <a:off x="10644048" y="1672448"/>
            <a:ext cx="1322152" cy="360000"/>
          </a:xfrm>
          <a:prstGeom prst="round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🎔 Bookmark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BC519A0-2C9E-E536-DA7A-3A1BCB58E88F}"/>
              </a:ext>
            </a:extLst>
          </p:cNvPr>
          <p:cNvSpPr/>
          <p:nvPr/>
        </p:nvSpPr>
        <p:spPr>
          <a:xfrm>
            <a:off x="8836400" y="6450518"/>
            <a:ext cx="3129800" cy="253561"/>
          </a:xfrm>
          <a:prstGeom prst="roundRect">
            <a:avLst>
              <a:gd name="adj" fmla="val 50000"/>
            </a:avLst>
          </a:prstGeom>
          <a:ln>
            <a:noFill/>
          </a:ln>
          <a:effectLst>
            <a:innerShdw blurRad="50800" dist="25400" dir="15000000">
              <a:prstClr val="black">
                <a:alpha val="50000"/>
              </a:prstClr>
            </a:inn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images do not represent actual gameplay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107F26-2A99-D692-11AC-5AEE3633F1E9}"/>
              </a:ext>
            </a:extLst>
          </p:cNvPr>
          <p:cNvGrpSpPr/>
          <p:nvPr/>
        </p:nvGrpSpPr>
        <p:grpSpPr>
          <a:xfrm>
            <a:off x="1411815" y="1194875"/>
            <a:ext cx="2553731" cy="379514"/>
            <a:chOff x="1632111" y="1009699"/>
            <a:chExt cx="2553731" cy="379514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3D9AFFE6-BF5A-895E-530D-666C431901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32111" y="1225064"/>
              <a:ext cx="457200" cy="164149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A77E138-46B7-F2BD-CA39-ABC613911D8C}"/>
                </a:ext>
              </a:extLst>
            </p:cNvPr>
            <p:cNvSpPr txBox="1"/>
            <p:nvPr/>
          </p:nvSpPr>
          <p:spPr>
            <a:xfrm>
              <a:off x="2056452" y="1009699"/>
              <a:ext cx="2129390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arrangement node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CC74A0FC-8BCD-34AC-2156-7408053502DA}"/>
              </a:ext>
            </a:extLst>
          </p:cNvPr>
          <p:cNvGrpSpPr/>
          <p:nvPr/>
        </p:nvGrpSpPr>
        <p:grpSpPr>
          <a:xfrm>
            <a:off x="282959" y="537344"/>
            <a:ext cx="1435608" cy="664488"/>
            <a:chOff x="282959" y="537344"/>
            <a:chExt cx="1435608" cy="664488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98EF0D3-215E-B1BF-6BF3-69F9D2518B26}"/>
                </a:ext>
              </a:extLst>
            </p:cNvPr>
            <p:cNvCxnSpPr>
              <a:cxnSpLocks/>
              <a:stCxn id="17" idx="2"/>
            </p:cNvCxnSpPr>
            <p:nvPr/>
          </p:nvCxnSpPr>
          <p:spPr>
            <a:xfrm>
              <a:off x="1000763" y="845121"/>
              <a:ext cx="186569" cy="356711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239371B-4740-2BED-471A-C35DC8AB70BB}"/>
                </a:ext>
              </a:extLst>
            </p:cNvPr>
            <p:cNvSpPr txBox="1"/>
            <p:nvPr/>
          </p:nvSpPr>
          <p:spPr>
            <a:xfrm>
              <a:off x="282959" y="537344"/>
              <a:ext cx="1435608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root node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3D61F53-23DC-49DA-5E53-C71D31185F6C}"/>
              </a:ext>
            </a:extLst>
          </p:cNvPr>
          <p:cNvGrpSpPr/>
          <p:nvPr/>
        </p:nvGrpSpPr>
        <p:grpSpPr>
          <a:xfrm>
            <a:off x="2261419" y="1927123"/>
            <a:ext cx="1619370" cy="490001"/>
            <a:chOff x="2040210" y="822559"/>
            <a:chExt cx="1619370" cy="490001"/>
          </a:xfrm>
        </p:grpSpPr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16E9686-D57B-A305-C2D3-62195702E53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40210" y="822559"/>
              <a:ext cx="275304" cy="245806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D970ECE-83B1-AE3D-F264-BE95200DC5C7}"/>
                </a:ext>
              </a:extLst>
            </p:cNvPr>
            <p:cNvSpPr txBox="1"/>
            <p:nvPr/>
          </p:nvSpPr>
          <p:spPr>
            <a:xfrm>
              <a:off x="2092118" y="1004783"/>
              <a:ext cx="1567462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subset node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659393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2A8AD-6A26-295C-3076-66B5C38DF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AFED8411-4E8A-E08F-EEE1-5A35217D2508}"/>
              </a:ext>
            </a:extLst>
          </p:cNvPr>
          <p:cNvGrpSpPr/>
          <p:nvPr/>
        </p:nvGrpSpPr>
        <p:grpSpPr>
          <a:xfrm>
            <a:off x="80375" y="153921"/>
            <a:ext cx="3586850" cy="360000"/>
            <a:chOff x="82196" y="115421"/>
            <a:chExt cx="3586850" cy="36000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9612019E-E615-3976-FBA6-35F2978F79A1}"/>
                </a:ext>
              </a:extLst>
            </p:cNvPr>
            <p:cNvSpPr/>
            <p:nvPr/>
          </p:nvSpPr>
          <p:spPr>
            <a:xfrm>
              <a:off x="82196" y="115421"/>
              <a:ext cx="3586850" cy="360000"/>
            </a:xfrm>
            <a:prstGeom prst="roundRect">
              <a:avLst/>
            </a:prstGeom>
            <a:ln w="25400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DNOV-CWB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731F74D6-0339-B6AA-CD05-6F761634F898}"/>
                </a:ext>
              </a:extLst>
            </p:cNvPr>
            <p:cNvSpPr/>
            <p:nvPr/>
          </p:nvSpPr>
          <p:spPr>
            <a:xfrm>
              <a:off x="82196" y="115421"/>
              <a:ext cx="864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Corpus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5931055-CC1A-898E-20D4-D530DF0C6E27}"/>
              </a:ext>
            </a:extLst>
          </p:cNvPr>
          <p:cNvGrpSpPr/>
          <p:nvPr/>
        </p:nvGrpSpPr>
        <p:grpSpPr>
          <a:xfrm>
            <a:off x="4046200" y="153921"/>
            <a:ext cx="7920001" cy="360000"/>
            <a:chOff x="82196" y="115421"/>
            <a:chExt cx="3086427" cy="360000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BC02CDE2-2DFC-1D96-0503-1BDBE3B262E8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"eyes" %c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B7090D5C-4DDB-A2E0-888F-07EF7AD72046}"/>
                </a:ext>
              </a:extLst>
            </p:cNvPr>
            <p:cNvSpPr/>
            <p:nvPr/>
          </p:nvSpPr>
          <p:spPr>
            <a:xfrm>
              <a:off x="82196" y="115421"/>
              <a:ext cx="336701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Query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F16131BA-3336-29D6-D6B3-446535EF23F2}"/>
              </a:ext>
            </a:extLst>
          </p:cNvPr>
          <p:cNvSpPr/>
          <p:nvPr/>
        </p:nvSpPr>
        <p:spPr>
          <a:xfrm>
            <a:off x="0" y="633407"/>
            <a:ext cx="3780000" cy="6224593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9A18E42-BF68-B883-6985-698E5400FA95}"/>
              </a:ext>
            </a:extLst>
          </p:cNvPr>
          <p:cNvSpPr/>
          <p:nvPr/>
        </p:nvSpPr>
        <p:spPr>
          <a:xfrm>
            <a:off x="80375" y="718981"/>
            <a:ext cx="3586850" cy="360000"/>
          </a:xfrm>
          <a:prstGeom prst="roundRect">
            <a:avLst/>
          </a:prstGeom>
          <a:ln w="254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Analysis Tree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4AAB9">
                  <a:lumMod val="75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DE795B-EB00-D3F4-58ED-2597F011166C}"/>
              </a:ext>
            </a:extLst>
          </p:cNvPr>
          <p:cNvSpPr txBox="1"/>
          <p:nvPr/>
        </p:nvSpPr>
        <p:spPr>
          <a:xfrm>
            <a:off x="80375" y="1198467"/>
            <a:ext cx="3586850" cy="55777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Query result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(4031)</a:t>
            </a:r>
          </a:p>
          <a:p>
            <a:pPr marL="185738" marR="0" lvl="0" indent="-18573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>
                    <a:lumMod val="50000"/>
                    <a:lumOff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random</a:t>
            </a:r>
          </a:p>
          <a:p>
            <a:pPr marL="363538" marR="0" lvl="0" indent="-1778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select: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within suspension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(276)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right context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left context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4CD3A57-38A2-4A49-7D9C-E654945097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16" b="616"/>
          <a:stretch/>
        </p:blipFill>
        <p:spPr>
          <a:xfrm>
            <a:off x="3865245" y="2109347"/>
            <a:ext cx="8326755" cy="4748653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47C62B7-70C6-C3C6-9607-121C85D45C8D}"/>
              </a:ext>
            </a:extLst>
          </p:cNvPr>
          <p:cNvSpPr/>
          <p:nvPr/>
        </p:nvSpPr>
        <p:spPr>
          <a:xfrm>
            <a:off x="4046200" y="1112893"/>
            <a:ext cx="7920000" cy="432000"/>
          </a:xfrm>
          <a:prstGeom prst="roundRect">
            <a:avLst/>
          </a:prstGeom>
          <a:ln w="25400"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1919288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onsolas" panose="020B0609020204030204" pitchFamily="49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2C62A5D-4243-8DA1-E31F-7838F12EB25B}"/>
              </a:ext>
            </a:extLst>
          </p:cNvPr>
          <p:cNvGrpSpPr/>
          <p:nvPr/>
        </p:nvGrpSpPr>
        <p:grpSpPr>
          <a:xfrm>
            <a:off x="4046199" y="633407"/>
            <a:ext cx="7920001" cy="360000"/>
            <a:chOff x="82196" y="115421"/>
            <a:chExt cx="3086427" cy="360000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09BE38AC-559C-6101-FFCB-ED7C17A767C8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1919288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5E0EB397-DE7C-9579-6C6B-784F227246B0}"/>
                </a:ext>
              </a:extLst>
            </p:cNvPr>
            <p:cNvSpPr/>
            <p:nvPr/>
          </p:nvSpPr>
          <p:spPr>
            <a:xfrm>
              <a:off x="82196" y="115421"/>
              <a:ext cx="729519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Ins="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Partition / Cluster 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C0D7A1">
                      <a:lumMod val="20000"/>
                      <a:lumOff val="8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▼</a:t>
              </a:r>
            </a:p>
          </p:txBody>
        </p:sp>
      </p:grp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9A7C3865-5DF0-BBCB-0286-E4289E930E62}"/>
              </a:ext>
            </a:extLst>
          </p:cNvPr>
          <p:cNvSpPr/>
          <p:nvPr/>
        </p:nvSpPr>
        <p:spPr>
          <a:xfrm>
            <a:off x="4044203" y="1664378"/>
            <a:ext cx="1763421" cy="360000"/>
          </a:xfrm>
          <a:prstGeom prst="round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Make selection ▼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EE37280-D745-24A8-042F-67CDF752A464}"/>
              </a:ext>
            </a:extLst>
          </p:cNvPr>
          <p:cNvGrpSpPr/>
          <p:nvPr/>
        </p:nvGrpSpPr>
        <p:grpSpPr>
          <a:xfrm>
            <a:off x="4087185" y="1148893"/>
            <a:ext cx="2140360" cy="360000"/>
            <a:chOff x="82196" y="115421"/>
            <a:chExt cx="2140360" cy="360000"/>
          </a:xfrm>
        </p:grpSpPr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7055D578-A8E5-C547-BDB8-32AB868B06E7}"/>
                </a:ext>
              </a:extLst>
            </p:cNvPr>
            <p:cNvSpPr/>
            <p:nvPr/>
          </p:nvSpPr>
          <p:spPr>
            <a:xfrm>
              <a:off x="82196" y="115421"/>
              <a:ext cx="2140360" cy="360000"/>
            </a:xfrm>
            <a:prstGeom prst="roundRect">
              <a:avLst/>
            </a:prstGeom>
            <a:ln w="25400">
              <a:solidFill>
                <a:schemeClr val="accent3"/>
              </a:solidFill>
            </a:ln>
            <a:effectLst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tIns="0" rIns="0" rtlCol="0" anchor="b"/>
            <a:lstStyle/>
            <a:p>
              <a:pPr marL="53340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by left context   </a:t>
              </a:r>
              <a:r>
                <a:rPr kumimoji="0" lang="en-US" sz="1600" b="0" i="0" u="none" strike="noStrike" kern="1200" cap="none" spc="0" normalizeH="0" baseline="30000" noProof="0">
                  <a:ln>
                    <a:noFill/>
                  </a:ln>
                  <a:solidFill>
                    <a:srgbClr val="C0D7A1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❎</a:t>
              </a:r>
              <a:endParaRPr kumimoji="0" lang="en-US" sz="1800" b="0" i="0" u="none" strike="noStrike" kern="1200" cap="none" spc="0" normalizeH="0" baseline="3000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AA4C6A60-E079-B279-9225-AF2D4179F2FE}"/>
                </a:ext>
              </a:extLst>
            </p:cNvPr>
            <p:cNvSpPr/>
            <p:nvPr/>
          </p:nvSpPr>
          <p:spPr>
            <a:xfrm>
              <a:off x="82196" y="115421"/>
              <a:ext cx="576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Sort</a:t>
              </a:r>
            </a:p>
          </p:txBody>
        </p:sp>
      </p:grp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D1B15526-0E41-92A8-47BB-FD314F7516CA}"/>
              </a:ext>
            </a:extLst>
          </p:cNvPr>
          <p:cNvSpPr/>
          <p:nvPr/>
        </p:nvSpPr>
        <p:spPr>
          <a:xfrm>
            <a:off x="6227545" y="1139268"/>
            <a:ext cx="385489" cy="360000"/>
          </a:xfrm>
          <a:prstGeom prst="roundRect">
            <a:avLst/>
          </a:prstGeom>
          <a:noFill/>
          <a:ln w="2540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9525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rPr>
              <a:t>⨁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4AB769A6-5857-D957-4605-D0FE8CC59C32}"/>
              </a:ext>
            </a:extLst>
          </p:cNvPr>
          <p:cNvSpPr/>
          <p:nvPr/>
        </p:nvSpPr>
        <p:spPr>
          <a:xfrm>
            <a:off x="10644048" y="1672448"/>
            <a:ext cx="1322152" cy="360000"/>
          </a:xfrm>
          <a:prstGeom prst="round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🎔 Bookmark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9314503-6D91-98EA-48C2-F1FA64F6BB2B}"/>
              </a:ext>
            </a:extLst>
          </p:cNvPr>
          <p:cNvSpPr/>
          <p:nvPr/>
        </p:nvSpPr>
        <p:spPr>
          <a:xfrm>
            <a:off x="8836400" y="6450518"/>
            <a:ext cx="3129800" cy="253561"/>
          </a:xfrm>
          <a:prstGeom prst="roundRect">
            <a:avLst>
              <a:gd name="adj" fmla="val 50000"/>
            </a:avLst>
          </a:prstGeom>
          <a:ln>
            <a:noFill/>
          </a:ln>
          <a:effectLst>
            <a:innerShdw blurRad="50800" dist="25400" dir="15000000">
              <a:prstClr val="black">
                <a:alpha val="50000"/>
              </a:prstClr>
            </a:inn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images do not represent actual gameplay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468ED2-F2C8-63DF-70B2-B3CA5C050CB9}"/>
              </a:ext>
            </a:extLst>
          </p:cNvPr>
          <p:cNvGrpSpPr/>
          <p:nvPr/>
        </p:nvGrpSpPr>
        <p:grpSpPr>
          <a:xfrm>
            <a:off x="1411815" y="1194875"/>
            <a:ext cx="2553731" cy="379514"/>
            <a:chOff x="1632111" y="1009699"/>
            <a:chExt cx="2553731" cy="379514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05217CB0-09A4-1B12-41F1-EF6081167E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32111" y="1225064"/>
              <a:ext cx="457200" cy="164149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45B55A5-3A78-7ECE-C562-525B34E74F0A}"/>
                </a:ext>
              </a:extLst>
            </p:cNvPr>
            <p:cNvSpPr txBox="1"/>
            <p:nvPr/>
          </p:nvSpPr>
          <p:spPr>
            <a:xfrm>
              <a:off x="2056452" y="1009699"/>
              <a:ext cx="2129390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arrangement node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466A4FDD-37CA-4790-407A-F2D73B266E4F}"/>
              </a:ext>
            </a:extLst>
          </p:cNvPr>
          <p:cNvGrpSpPr/>
          <p:nvPr/>
        </p:nvGrpSpPr>
        <p:grpSpPr>
          <a:xfrm>
            <a:off x="282959" y="537344"/>
            <a:ext cx="1435608" cy="664488"/>
            <a:chOff x="282959" y="537344"/>
            <a:chExt cx="1435608" cy="664488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C22DB7E-38BA-6EE8-8E96-1DA22979499C}"/>
                </a:ext>
              </a:extLst>
            </p:cNvPr>
            <p:cNvCxnSpPr>
              <a:cxnSpLocks/>
              <a:stCxn id="17" idx="2"/>
            </p:cNvCxnSpPr>
            <p:nvPr/>
          </p:nvCxnSpPr>
          <p:spPr>
            <a:xfrm>
              <a:off x="1000763" y="845121"/>
              <a:ext cx="186569" cy="356711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0841BAA-F318-5FE0-C68E-C4B0F5A394A9}"/>
                </a:ext>
              </a:extLst>
            </p:cNvPr>
            <p:cNvSpPr txBox="1"/>
            <p:nvPr/>
          </p:nvSpPr>
          <p:spPr>
            <a:xfrm>
              <a:off x="282959" y="537344"/>
              <a:ext cx="1435608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root node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09C88D5-931A-B8CC-4E94-1EB5D9406F03}"/>
              </a:ext>
            </a:extLst>
          </p:cNvPr>
          <p:cNvGrpSpPr/>
          <p:nvPr/>
        </p:nvGrpSpPr>
        <p:grpSpPr>
          <a:xfrm>
            <a:off x="2261419" y="1927123"/>
            <a:ext cx="1619370" cy="490001"/>
            <a:chOff x="2040210" y="822559"/>
            <a:chExt cx="1619370" cy="490001"/>
          </a:xfrm>
        </p:grpSpPr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B2E9BC9-185B-57EF-446E-07C3E13C9EE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40210" y="822559"/>
              <a:ext cx="275304" cy="245806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15544C9-423A-25C6-99A1-FC11BEF3B927}"/>
                </a:ext>
              </a:extLst>
            </p:cNvPr>
            <p:cNvSpPr txBox="1"/>
            <p:nvPr/>
          </p:nvSpPr>
          <p:spPr>
            <a:xfrm>
              <a:off x="2092118" y="1004783"/>
              <a:ext cx="1567462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subset node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1F4B303D-4D85-0EC5-2CB4-8E72ACA79F53}"/>
              </a:ext>
            </a:extLst>
          </p:cNvPr>
          <p:cNvSpPr txBox="1"/>
          <p:nvPr/>
        </p:nvSpPr>
        <p:spPr>
          <a:xfrm rot="16200000">
            <a:off x="-332544" y="2241719"/>
            <a:ext cx="1080114" cy="307777"/>
          </a:xfrm>
          <a:prstGeom prst="rect">
            <a:avLst/>
          </a:prstGeom>
          <a:noFill/>
        </p:spPr>
        <p:txBody>
          <a:bodyPr wrap="square" lIns="72000" tIns="0" rIns="7200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>
                  <a:outerShdw blurRad="76200" algn="ctr" rotWithShape="0">
                    <a:srgbClr val="FFFFFF"/>
                  </a:outerShdw>
                </a:effectLst>
                <a:uLnTx/>
                <a:uFillTx/>
                <a:latin typeface="Calibri"/>
                <a:ea typeface="+mn-ea"/>
                <a:cs typeface="+mn-cs"/>
              </a:rPr>
              <a:t>siblings</a:t>
            </a:r>
          </a:p>
        </p:txBody>
      </p:sp>
    </p:spTree>
    <p:extLst>
      <p:ext uri="{BB962C8B-B14F-4D97-AF65-F5344CB8AC3E}">
        <p14:creationId xmlns:p14="http://schemas.microsoft.com/office/powerpoint/2010/main" val="1052274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B7839-6F61-1233-2220-05DFAC463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9BC9FF47-140C-CB52-0673-DB67CE24C79A}"/>
              </a:ext>
            </a:extLst>
          </p:cNvPr>
          <p:cNvGrpSpPr/>
          <p:nvPr/>
        </p:nvGrpSpPr>
        <p:grpSpPr>
          <a:xfrm>
            <a:off x="80375" y="153921"/>
            <a:ext cx="3586850" cy="360000"/>
            <a:chOff x="82196" y="115421"/>
            <a:chExt cx="3586850" cy="36000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B10100C2-764E-2766-0EE3-7071A9A672B7}"/>
                </a:ext>
              </a:extLst>
            </p:cNvPr>
            <p:cNvSpPr/>
            <p:nvPr/>
          </p:nvSpPr>
          <p:spPr>
            <a:xfrm>
              <a:off x="82196" y="115421"/>
              <a:ext cx="3586850" cy="360000"/>
            </a:xfrm>
            <a:prstGeom prst="roundRect">
              <a:avLst/>
            </a:prstGeom>
            <a:ln w="25400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DNOV-CWB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412B4BBE-4DB0-DDAD-8131-CF0B68504AB3}"/>
                </a:ext>
              </a:extLst>
            </p:cNvPr>
            <p:cNvSpPr/>
            <p:nvPr/>
          </p:nvSpPr>
          <p:spPr>
            <a:xfrm>
              <a:off x="82196" y="115421"/>
              <a:ext cx="864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Corpus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8494219-EE5E-D28C-116F-A673462C93C3}"/>
              </a:ext>
            </a:extLst>
          </p:cNvPr>
          <p:cNvGrpSpPr/>
          <p:nvPr/>
        </p:nvGrpSpPr>
        <p:grpSpPr>
          <a:xfrm>
            <a:off x="4046200" y="153921"/>
            <a:ext cx="7920001" cy="360000"/>
            <a:chOff x="82196" y="115421"/>
            <a:chExt cx="3086427" cy="360000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33D3D9D8-6868-B206-50BA-3D66DE57B738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"eyes" %c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AE5AD4AE-8EB7-ADA7-0E56-9B2AC3EF1CA4}"/>
                </a:ext>
              </a:extLst>
            </p:cNvPr>
            <p:cNvSpPr/>
            <p:nvPr/>
          </p:nvSpPr>
          <p:spPr>
            <a:xfrm>
              <a:off x="82196" y="115421"/>
              <a:ext cx="336701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Query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B68331BD-F2D7-417B-62E3-DB524CCA090C}"/>
              </a:ext>
            </a:extLst>
          </p:cNvPr>
          <p:cNvSpPr/>
          <p:nvPr/>
        </p:nvSpPr>
        <p:spPr>
          <a:xfrm>
            <a:off x="0" y="633407"/>
            <a:ext cx="3780000" cy="6224593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8D5A5C94-C8BF-278E-CEF9-9852C5774591}"/>
              </a:ext>
            </a:extLst>
          </p:cNvPr>
          <p:cNvSpPr/>
          <p:nvPr/>
        </p:nvSpPr>
        <p:spPr>
          <a:xfrm>
            <a:off x="80375" y="718981"/>
            <a:ext cx="3586850" cy="360000"/>
          </a:xfrm>
          <a:prstGeom prst="roundRect">
            <a:avLst/>
          </a:prstGeom>
          <a:ln w="254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Analysis Tree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4AAB9">
                  <a:lumMod val="75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4F2904A-86CC-F789-5A99-D965D0365481}"/>
              </a:ext>
            </a:extLst>
          </p:cNvPr>
          <p:cNvSpPr txBox="1"/>
          <p:nvPr/>
        </p:nvSpPr>
        <p:spPr>
          <a:xfrm>
            <a:off x="80375" y="1198467"/>
            <a:ext cx="3586850" cy="55777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Query result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(4031)</a:t>
            </a:r>
          </a:p>
          <a:p>
            <a:pPr marL="185738" marR="0" lvl="0" indent="-18573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>
                    <a:lumMod val="50000"/>
                    <a:lumOff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random</a:t>
            </a:r>
          </a:p>
          <a:p>
            <a:pPr marL="363538" marR="0" lvl="0" indent="-1778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select: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within suspension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(276)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right context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left context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partition: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by POS tag @ L1,</a:t>
            </a:r>
            <a:b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left context</a:t>
            </a:r>
          </a:p>
          <a:p>
            <a:pPr marL="533400" marR="0" lvl="0" indent="-257175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F563985-DDFD-E231-F497-7BE7782CA6AA}"/>
              </a:ext>
            </a:extLst>
          </p:cNvPr>
          <p:cNvSpPr/>
          <p:nvPr/>
        </p:nvSpPr>
        <p:spPr>
          <a:xfrm>
            <a:off x="4046200" y="1112893"/>
            <a:ext cx="7920000" cy="432000"/>
          </a:xfrm>
          <a:prstGeom prst="roundRect">
            <a:avLst/>
          </a:prstGeom>
          <a:ln w="25400"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1919288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onsolas" panose="020B0609020204030204" pitchFamily="49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54CDC15-AA6E-AE30-C8FB-48DECC17C9D0}"/>
              </a:ext>
            </a:extLst>
          </p:cNvPr>
          <p:cNvGrpSpPr/>
          <p:nvPr/>
        </p:nvGrpSpPr>
        <p:grpSpPr>
          <a:xfrm>
            <a:off x="4046199" y="633407"/>
            <a:ext cx="7920001" cy="360000"/>
            <a:chOff x="82196" y="115421"/>
            <a:chExt cx="3086427" cy="360000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C65EE5B7-916D-9D0E-7597-1DA04F8568BA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1919288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partition by POS tag of token L1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75CA512C-64B0-EB21-95B7-322B8B2EADF9}"/>
                </a:ext>
              </a:extLst>
            </p:cNvPr>
            <p:cNvSpPr/>
            <p:nvPr/>
          </p:nvSpPr>
          <p:spPr>
            <a:xfrm>
              <a:off x="82196" y="115421"/>
              <a:ext cx="729519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Ins="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Partition / Cluster 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C0D7A1">
                      <a:lumMod val="20000"/>
                      <a:lumOff val="8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▼</a:t>
              </a:r>
            </a:p>
          </p:txBody>
        </p:sp>
      </p:grp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4BAF1F15-75C1-F5F6-91F6-E8AA7B9A18A7}"/>
              </a:ext>
            </a:extLst>
          </p:cNvPr>
          <p:cNvSpPr/>
          <p:nvPr/>
        </p:nvSpPr>
        <p:spPr>
          <a:xfrm>
            <a:off x="4044203" y="1664378"/>
            <a:ext cx="1763421" cy="360000"/>
          </a:xfrm>
          <a:prstGeom prst="round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Make selection ▼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3CB002D-F45A-AD3A-20EA-C7E05B3B32CB}"/>
              </a:ext>
            </a:extLst>
          </p:cNvPr>
          <p:cNvGrpSpPr/>
          <p:nvPr/>
        </p:nvGrpSpPr>
        <p:grpSpPr>
          <a:xfrm>
            <a:off x="4087185" y="1148893"/>
            <a:ext cx="2140360" cy="360000"/>
            <a:chOff x="82196" y="115421"/>
            <a:chExt cx="2140360" cy="360000"/>
          </a:xfrm>
        </p:grpSpPr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F3F13BE7-107F-9152-0DF7-D90DDEB1B724}"/>
                </a:ext>
              </a:extLst>
            </p:cNvPr>
            <p:cNvSpPr/>
            <p:nvPr/>
          </p:nvSpPr>
          <p:spPr>
            <a:xfrm>
              <a:off x="82196" y="115421"/>
              <a:ext cx="2140360" cy="360000"/>
            </a:xfrm>
            <a:prstGeom prst="roundRect">
              <a:avLst/>
            </a:prstGeom>
            <a:ln w="25400">
              <a:solidFill>
                <a:schemeClr val="accent3"/>
              </a:solidFill>
            </a:ln>
            <a:effectLst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tIns="0" rIns="0" rtlCol="0" anchor="b"/>
            <a:lstStyle/>
            <a:p>
              <a:pPr marL="53340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by left context   </a:t>
              </a:r>
              <a:r>
                <a:rPr kumimoji="0" lang="en-US" sz="1600" b="0" i="0" u="none" strike="noStrike" kern="1200" cap="none" spc="0" normalizeH="0" baseline="30000" noProof="0">
                  <a:ln>
                    <a:noFill/>
                  </a:ln>
                  <a:solidFill>
                    <a:srgbClr val="C0D7A1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❎</a:t>
              </a:r>
              <a:endParaRPr kumimoji="0" lang="en-US" sz="1800" b="0" i="0" u="none" strike="noStrike" kern="1200" cap="none" spc="0" normalizeH="0" baseline="3000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7C10F235-9B7C-11DE-0903-980EA147611D}"/>
                </a:ext>
              </a:extLst>
            </p:cNvPr>
            <p:cNvSpPr/>
            <p:nvPr/>
          </p:nvSpPr>
          <p:spPr>
            <a:xfrm>
              <a:off x="82196" y="115421"/>
              <a:ext cx="576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Sort</a:t>
              </a:r>
            </a:p>
          </p:txBody>
        </p:sp>
      </p:grp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4BD45AAF-F02E-CF65-FE14-E3EFCA4DE658}"/>
              </a:ext>
            </a:extLst>
          </p:cNvPr>
          <p:cNvSpPr/>
          <p:nvPr/>
        </p:nvSpPr>
        <p:spPr>
          <a:xfrm>
            <a:off x="6227545" y="1139268"/>
            <a:ext cx="385489" cy="360000"/>
          </a:xfrm>
          <a:prstGeom prst="roundRect">
            <a:avLst/>
          </a:prstGeom>
          <a:noFill/>
          <a:ln w="2540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9525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rPr>
              <a:t>⨁</a:t>
            </a:r>
          </a:p>
        </p:txBody>
      </p:sp>
      <p:pic>
        <p:nvPicPr>
          <p:cNvPr id="3" name="Picture 2" descr="A purple and white rectangular box with numbers&#10;&#10;Description automatically generated with medium confidence">
            <a:extLst>
              <a:ext uri="{FF2B5EF4-FFF2-40B4-BE49-F238E27FC236}">
                <a16:creationId xmlns:a16="http://schemas.microsoft.com/office/drawing/2014/main" id="{962BCDBC-D8A3-DC3C-A69D-9263E03571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0374" y="2109346"/>
            <a:ext cx="8329086" cy="2770661"/>
          </a:xfrm>
          <a:prstGeom prst="rect">
            <a:avLst/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590955C5-1EF0-2D77-7F07-627B44CE6192}"/>
              </a:ext>
            </a:extLst>
          </p:cNvPr>
          <p:cNvSpPr/>
          <p:nvPr/>
        </p:nvSpPr>
        <p:spPr>
          <a:xfrm>
            <a:off x="10644048" y="1672448"/>
            <a:ext cx="1322152" cy="360000"/>
          </a:xfrm>
          <a:prstGeom prst="round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🎔 Bookmark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6B7A221-C77E-0D8F-2305-AC563D12C524}"/>
              </a:ext>
            </a:extLst>
          </p:cNvPr>
          <p:cNvSpPr/>
          <p:nvPr/>
        </p:nvSpPr>
        <p:spPr>
          <a:xfrm>
            <a:off x="8836400" y="6450518"/>
            <a:ext cx="3129800" cy="253561"/>
          </a:xfrm>
          <a:prstGeom prst="roundRect">
            <a:avLst>
              <a:gd name="adj" fmla="val 50000"/>
            </a:avLst>
          </a:prstGeom>
          <a:ln>
            <a:noFill/>
          </a:ln>
          <a:effectLst>
            <a:innerShdw blurRad="50800" dist="25400" dir="15000000">
              <a:prstClr val="black">
                <a:alpha val="50000"/>
              </a:prstClr>
            </a:inn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images do not represent actual gameplay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B9804CE-F8FB-DA5C-AF91-E84847F35F69}"/>
              </a:ext>
            </a:extLst>
          </p:cNvPr>
          <p:cNvGrpSpPr/>
          <p:nvPr/>
        </p:nvGrpSpPr>
        <p:grpSpPr>
          <a:xfrm>
            <a:off x="1411815" y="1194875"/>
            <a:ext cx="2553731" cy="379514"/>
            <a:chOff x="1632111" y="1009699"/>
            <a:chExt cx="2553731" cy="379514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1DB68D4-2F41-5164-1206-9CFE8FE9AC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32111" y="1225064"/>
              <a:ext cx="457200" cy="164149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86453B7-339C-5434-6839-88F3FFBFA40C}"/>
                </a:ext>
              </a:extLst>
            </p:cNvPr>
            <p:cNvSpPr txBox="1"/>
            <p:nvPr/>
          </p:nvSpPr>
          <p:spPr>
            <a:xfrm>
              <a:off x="2056452" y="1009699"/>
              <a:ext cx="2129390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arrangement node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8CB7B1DE-83C6-4167-0A07-CC845DC9F716}"/>
              </a:ext>
            </a:extLst>
          </p:cNvPr>
          <p:cNvGrpSpPr/>
          <p:nvPr/>
        </p:nvGrpSpPr>
        <p:grpSpPr>
          <a:xfrm>
            <a:off x="282959" y="537344"/>
            <a:ext cx="1435608" cy="664488"/>
            <a:chOff x="282959" y="537344"/>
            <a:chExt cx="1435608" cy="664488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03E5C94B-161D-0599-8FB6-4491B85D542B}"/>
                </a:ext>
              </a:extLst>
            </p:cNvPr>
            <p:cNvCxnSpPr>
              <a:cxnSpLocks/>
              <a:stCxn id="20" idx="2"/>
            </p:cNvCxnSpPr>
            <p:nvPr/>
          </p:nvCxnSpPr>
          <p:spPr>
            <a:xfrm>
              <a:off x="1000763" y="845121"/>
              <a:ext cx="186569" cy="356711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1E7F6A9-DB12-08E3-DFC0-A519CC2257AC}"/>
                </a:ext>
              </a:extLst>
            </p:cNvPr>
            <p:cNvSpPr txBox="1"/>
            <p:nvPr/>
          </p:nvSpPr>
          <p:spPr>
            <a:xfrm>
              <a:off x="282959" y="537344"/>
              <a:ext cx="1435608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root node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54F25BB-01D1-28F1-FBEC-4A8043ACB24B}"/>
              </a:ext>
            </a:extLst>
          </p:cNvPr>
          <p:cNvGrpSpPr/>
          <p:nvPr/>
        </p:nvGrpSpPr>
        <p:grpSpPr>
          <a:xfrm>
            <a:off x="2261419" y="1927123"/>
            <a:ext cx="1619370" cy="490001"/>
            <a:chOff x="2040210" y="822559"/>
            <a:chExt cx="1619370" cy="490001"/>
          </a:xfrm>
        </p:grpSpPr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600B3310-B3BC-4880-59E9-D7AC5D08F60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40210" y="822559"/>
              <a:ext cx="275304" cy="245806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B2E249E-0E37-C3C9-AFFB-4CDB60B4466E}"/>
                </a:ext>
              </a:extLst>
            </p:cNvPr>
            <p:cNvSpPr txBox="1"/>
            <p:nvPr/>
          </p:nvSpPr>
          <p:spPr>
            <a:xfrm>
              <a:off x="2092118" y="1004783"/>
              <a:ext cx="1567462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subset node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22EA9CCE-D806-E7E4-BC5B-9B661FEE3F32}"/>
              </a:ext>
            </a:extLst>
          </p:cNvPr>
          <p:cNvSpPr txBox="1"/>
          <p:nvPr/>
        </p:nvSpPr>
        <p:spPr>
          <a:xfrm rot="16200000">
            <a:off x="-332544" y="2241719"/>
            <a:ext cx="1080114" cy="307777"/>
          </a:xfrm>
          <a:prstGeom prst="rect">
            <a:avLst/>
          </a:prstGeom>
          <a:noFill/>
        </p:spPr>
        <p:txBody>
          <a:bodyPr wrap="square" lIns="72000" tIns="0" rIns="7200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>
                  <a:outerShdw blurRad="76200" algn="ctr" rotWithShape="0">
                    <a:srgbClr val="FFFFFF"/>
                  </a:outerShdw>
                </a:effectLst>
                <a:uLnTx/>
                <a:uFillTx/>
                <a:latin typeface="Calibri"/>
                <a:ea typeface="+mn-ea"/>
                <a:cs typeface="+mn-cs"/>
              </a:rPr>
              <a:t>siblings</a:t>
            </a:r>
          </a:p>
        </p:txBody>
      </p:sp>
    </p:spTree>
    <p:extLst>
      <p:ext uri="{BB962C8B-B14F-4D97-AF65-F5344CB8AC3E}">
        <p14:creationId xmlns:p14="http://schemas.microsoft.com/office/powerpoint/2010/main" val="20657437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07CC6-2EC8-4787-037F-4C2BC25B6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00FA140F-0FD7-390E-2DD3-A385F9DFC21E}"/>
              </a:ext>
            </a:extLst>
          </p:cNvPr>
          <p:cNvGrpSpPr/>
          <p:nvPr/>
        </p:nvGrpSpPr>
        <p:grpSpPr>
          <a:xfrm>
            <a:off x="80375" y="153921"/>
            <a:ext cx="3586850" cy="360000"/>
            <a:chOff x="82196" y="115421"/>
            <a:chExt cx="3586850" cy="36000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4F1E832B-6037-8A85-2D98-EF1B6EFB852A}"/>
                </a:ext>
              </a:extLst>
            </p:cNvPr>
            <p:cNvSpPr/>
            <p:nvPr/>
          </p:nvSpPr>
          <p:spPr>
            <a:xfrm>
              <a:off x="82196" y="115421"/>
              <a:ext cx="3586850" cy="360000"/>
            </a:xfrm>
            <a:prstGeom prst="roundRect">
              <a:avLst/>
            </a:prstGeom>
            <a:ln w="25400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DNOV-CWB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65E87F31-4363-E55F-6D52-43DD4FF44B0C}"/>
                </a:ext>
              </a:extLst>
            </p:cNvPr>
            <p:cNvSpPr/>
            <p:nvPr/>
          </p:nvSpPr>
          <p:spPr>
            <a:xfrm>
              <a:off x="82196" y="115421"/>
              <a:ext cx="864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Corpus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FC20690-D934-FE6D-C9C2-BA132933D334}"/>
              </a:ext>
            </a:extLst>
          </p:cNvPr>
          <p:cNvGrpSpPr/>
          <p:nvPr/>
        </p:nvGrpSpPr>
        <p:grpSpPr>
          <a:xfrm>
            <a:off x="4046200" y="153921"/>
            <a:ext cx="7920001" cy="360000"/>
            <a:chOff x="82196" y="115421"/>
            <a:chExt cx="3086427" cy="360000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F484A9EB-BC31-289C-9320-F7602C43ED6A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"eyes" %c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6D773717-F5EA-5615-3235-C64B9892D0DC}"/>
                </a:ext>
              </a:extLst>
            </p:cNvPr>
            <p:cNvSpPr/>
            <p:nvPr/>
          </p:nvSpPr>
          <p:spPr>
            <a:xfrm>
              <a:off x="82196" y="115421"/>
              <a:ext cx="336701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Query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B4E595D8-0CC7-6D39-E767-A68FE7CFA464}"/>
              </a:ext>
            </a:extLst>
          </p:cNvPr>
          <p:cNvSpPr/>
          <p:nvPr/>
        </p:nvSpPr>
        <p:spPr>
          <a:xfrm>
            <a:off x="0" y="633407"/>
            <a:ext cx="3780000" cy="6224593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A65E157-5409-7166-871C-055BDE8EF986}"/>
              </a:ext>
            </a:extLst>
          </p:cNvPr>
          <p:cNvSpPr/>
          <p:nvPr/>
        </p:nvSpPr>
        <p:spPr>
          <a:xfrm>
            <a:off x="80375" y="718981"/>
            <a:ext cx="3586850" cy="360000"/>
          </a:xfrm>
          <a:prstGeom prst="roundRect">
            <a:avLst/>
          </a:prstGeom>
          <a:ln w="254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Analysis Tree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4AAB9">
                  <a:lumMod val="75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AD5416-6A3C-C185-43FC-543C07C93CF1}"/>
              </a:ext>
            </a:extLst>
          </p:cNvPr>
          <p:cNvSpPr txBox="1"/>
          <p:nvPr/>
        </p:nvSpPr>
        <p:spPr>
          <a:xfrm>
            <a:off x="80375" y="1198467"/>
            <a:ext cx="3586850" cy="55777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Query result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(4031)</a:t>
            </a:r>
          </a:p>
          <a:p>
            <a:pPr marL="185738" marR="0" lvl="0" indent="-18573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>
                    <a:lumMod val="50000"/>
                    <a:lumOff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random</a:t>
            </a:r>
          </a:p>
          <a:p>
            <a:pPr marL="363538" marR="0" lvl="0" indent="-1778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select: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within suspension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(276)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right context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left context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partition: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by POS tag @ L1,</a:t>
            </a:r>
            <a:b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left context</a:t>
            </a:r>
          </a:p>
          <a:p>
            <a:pPr marL="719138" marR="0" lvl="0" indent="-1778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select: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set [PRP$]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(211)</a:t>
            </a:r>
          </a:p>
          <a:p>
            <a:pPr marL="533400" marR="0" lvl="0" indent="-257175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54C5F3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533400" marR="0" lvl="0" indent="-257175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533400" marR="0" lvl="0" indent="-257175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713BF1-DCD8-1166-24D6-E6E25E4E0CBA}"/>
              </a:ext>
            </a:extLst>
          </p:cNvPr>
          <p:cNvSpPr/>
          <p:nvPr/>
        </p:nvSpPr>
        <p:spPr>
          <a:xfrm>
            <a:off x="4046200" y="1112893"/>
            <a:ext cx="7920000" cy="432000"/>
          </a:xfrm>
          <a:prstGeom prst="roundRect">
            <a:avLst/>
          </a:prstGeom>
          <a:ln w="25400"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1919288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onsolas" panose="020B0609020204030204" pitchFamily="49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6CED1A5-683E-FBAB-1CBB-8CC63717158A}"/>
              </a:ext>
            </a:extLst>
          </p:cNvPr>
          <p:cNvGrpSpPr/>
          <p:nvPr/>
        </p:nvGrpSpPr>
        <p:grpSpPr>
          <a:xfrm>
            <a:off x="4046199" y="633407"/>
            <a:ext cx="7920001" cy="360000"/>
            <a:chOff x="82196" y="115421"/>
            <a:chExt cx="3086427" cy="360000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C49882BD-AC8A-2ECB-DDA9-C968086B7070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1919288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B91017EA-DC33-46CD-1C30-D75D1784C9C2}"/>
                </a:ext>
              </a:extLst>
            </p:cNvPr>
            <p:cNvSpPr/>
            <p:nvPr/>
          </p:nvSpPr>
          <p:spPr>
            <a:xfrm>
              <a:off x="82196" y="115421"/>
              <a:ext cx="729519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Ins="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Partition / Cluster 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C0D7A1">
                      <a:lumMod val="20000"/>
                      <a:lumOff val="8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▼</a:t>
              </a:r>
            </a:p>
          </p:txBody>
        </p:sp>
      </p:grp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7F6429AD-BE80-9205-79E7-09A98E2E72E5}"/>
              </a:ext>
            </a:extLst>
          </p:cNvPr>
          <p:cNvSpPr/>
          <p:nvPr/>
        </p:nvSpPr>
        <p:spPr>
          <a:xfrm>
            <a:off x="4044203" y="1664378"/>
            <a:ext cx="1763421" cy="360000"/>
          </a:xfrm>
          <a:prstGeom prst="round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Make selection ▼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FF84749-4376-CB6A-5778-E04C70F8B5D3}"/>
              </a:ext>
            </a:extLst>
          </p:cNvPr>
          <p:cNvGrpSpPr/>
          <p:nvPr/>
        </p:nvGrpSpPr>
        <p:grpSpPr>
          <a:xfrm>
            <a:off x="4087185" y="1148893"/>
            <a:ext cx="2140360" cy="360000"/>
            <a:chOff x="82196" y="115421"/>
            <a:chExt cx="2140360" cy="360000"/>
          </a:xfrm>
        </p:grpSpPr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23363D01-44C0-9F35-156C-45433973749E}"/>
                </a:ext>
              </a:extLst>
            </p:cNvPr>
            <p:cNvSpPr/>
            <p:nvPr/>
          </p:nvSpPr>
          <p:spPr>
            <a:xfrm>
              <a:off x="82196" y="115421"/>
              <a:ext cx="2140360" cy="360000"/>
            </a:xfrm>
            <a:prstGeom prst="roundRect">
              <a:avLst/>
            </a:prstGeom>
            <a:ln w="25400">
              <a:solidFill>
                <a:schemeClr val="accent3"/>
              </a:solidFill>
            </a:ln>
            <a:effectLst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tIns="0" rIns="0" rtlCol="0" anchor="b"/>
            <a:lstStyle/>
            <a:p>
              <a:pPr marL="53340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by left context   </a:t>
              </a:r>
              <a:r>
                <a:rPr kumimoji="0" lang="en-US" sz="1600" b="0" i="0" u="none" strike="noStrike" kern="1200" cap="none" spc="0" normalizeH="0" baseline="30000" noProof="0">
                  <a:ln>
                    <a:noFill/>
                  </a:ln>
                  <a:solidFill>
                    <a:srgbClr val="C0D7A1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❎</a:t>
              </a:r>
              <a:endParaRPr kumimoji="0" lang="en-US" sz="1800" b="0" i="0" u="none" strike="noStrike" kern="1200" cap="none" spc="0" normalizeH="0" baseline="3000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0C8A3783-A5A0-E48B-A5B3-EABAB4B9CFB1}"/>
                </a:ext>
              </a:extLst>
            </p:cNvPr>
            <p:cNvSpPr/>
            <p:nvPr/>
          </p:nvSpPr>
          <p:spPr>
            <a:xfrm>
              <a:off x="82196" y="115421"/>
              <a:ext cx="576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Sort</a:t>
              </a:r>
            </a:p>
          </p:txBody>
        </p:sp>
      </p:grp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340CC17E-BEB8-821C-2E70-EC91D2448D9D}"/>
              </a:ext>
            </a:extLst>
          </p:cNvPr>
          <p:cNvSpPr/>
          <p:nvPr/>
        </p:nvSpPr>
        <p:spPr>
          <a:xfrm>
            <a:off x="6227545" y="1139268"/>
            <a:ext cx="385489" cy="360000"/>
          </a:xfrm>
          <a:prstGeom prst="roundRect">
            <a:avLst/>
          </a:prstGeom>
          <a:noFill/>
          <a:ln w="2540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9525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rPr>
              <a:t>⨁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3859D6C-F487-0BD4-87A9-5DCC96FA69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52" b="1252"/>
          <a:stretch/>
        </p:blipFill>
        <p:spPr>
          <a:xfrm>
            <a:off x="3865245" y="2109347"/>
            <a:ext cx="8326755" cy="4748653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60D991E3-07B3-E719-ED21-A9BC74CFA4BA}"/>
              </a:ext>
            </a:extLst>
          </p:cNvPr>
          <p:cNvSpPr/>
          <p:nvPr/>
        </p:nvSpPr>
        <p:spPr>
          <a:xfrm>
            <a:off x="10644048" y="1672448"/>
            <a:ext cx="1322152" cy="360000"/>
          </a:xfrm>
          <a:prstGeom prst="round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🎔 Bookmark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33D3259-4DAB-0C32-92FF-685B4FFDD2E2}"/>
              </a:ext>
            </a:extLst>
          </p:cNvPr>
          <p:cNvSpPr/>
          <p:nvPr/>
        </p:nvSpPr>
        <p:spPr>
          <a:xfrm>
            <a:off x="8836400" y="6450518"/>
            <a:ext cx="3129800" cy="253561"/>
          </a:xfrm>
          <a:prstGeom prst="roundRect">
            <a:avLst>
              <a:gd name="adj" fmla="val 50000"/>
            </a:avLst>
          </a:prstGeom>
          <a:ln>
            <a:noFill/>
          </a:ln>
          <a:effectLst>
            <a:innerShdw blurRad="50800" dist="25400" dir="15000000">
              <a:prstClr val="black">
                <a:alpha val="50000"/>
              </a:prstClr>
            </a:inn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images do not represent actual gameplay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5557F63-4347-75FC-6CED-D6A8B5F92984}"/>
              </a:ext>
            </a:extLst>
          </p:cNvPr>
          <p:cNvGrpSpPr/>
          <p:nvPr/>
        </p:nvGrpSpPr>
        <p:grpSpPr>
          <a:xfrm>
            <a:off x="1411815" y="1194875"/>
            <a:ext cx="2553731" cy="379514"/>
            <a:chOff x="1632111" y="1009699"/>
            <a:chExt cx="2553731" cy="379514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853993B-DC70-B7BB-279A-88D7B78D51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32111" y="1225064"/>
              <a:ext cx="457200" cy="164149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11E3291-4D04-168B-8AB6-7FD6112071D2}"/>
                </a:ext>
              </a:extLst>
            </p:cNvPr>
            <p:cNvSpPr txBox="1"/>
            <p:nvPr/>
          </p:nvSpPr>
          <p:spPr>
            <a:xfrm>
              <a:off x="2056452" y="1009699"/>
              <a:ext cx="2129390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arrangement node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C5A8C2D-F6BF-FC31-E074-F80E23FED682}"/>
              </a:ext>
            </a:extLst>
          </p:cNvPr>
          <p:cNvGrpSpPr/>
          <p:nvPr/>
        </p:nvGrpSpPr>
        <p:grpSpPr>
          <a:xfrm>
            <a:off x="282959" y="537344"/>
            <a:ext cx="1435608" cy="664488"/>
            <a:chOff x="282959" y="537344"/>
            <a:chExt cx="1435608" cy="664488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387B182E-780A-5947-162A-19F7483E0467}"/>
                </a:ext>
              </a:extLst>
            </p:cNvPr>
            <p:cNvCxnSpPr>
              <a:cxnSpLocks/>
              <a:stCxn id="20" idx="2"/>
            </p:cNvCxnSpPr>
            <p:nvPr/>
          </p:nvCxnSpPr>
          <p:spPr>
            <a:xfrm>
              <a:off x="1000763" y="845121"/>
              <a:ext cx="186569" cy="356711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336DF83-79D0-1C7F-8515-9043C0F016C5}"/>
                </a:ext>
              </a:extLst>
            </p:cNvPr>
            <p:cNvSpPr txBox="1"/>
            <p:nvPr/>
          </p:nvSpPr>
          <p:spPr>
            <a:xfrm>
              <a:off x="282959" y="537344"/>
              <a:ext cx="1435608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root node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439D4B8-37A7-34D6-38FC-5F2682632A75}"/>
              </a:ext>
            </a:extLst>
          </p:cNvPr>
          <p:cNvGrpSpPr/>
          <p:nvPr/>
        </p:nvGrpSpPr>
        <p:grpSpPr>
          <a:xfrm>
            <a:off x="2261419" y="1927123"/>
            <a:ext cx="1619370" cy="490001"/>
            <a:chOff x="2040210" y="822559"/>
            <a:chExt cx="1619370" cy="490001"/>
          </a:xfrm>
        </p:grpSpPr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11EB45A-ACC1-4413-9C2C-C05D1BA7E7E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40210" y="822559"/>
              <a:ext cx="275304" cy="245806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49460FC-125D-D6EA-F5D8-9665D2FEA2B5}"/>
                </a:ext>
              </a:extLst>
            </p:cNvPr>
            <p:cNvSpPr txBox="1"/>
            <p:nvPr/>
          </p:nvSpPr>
          <p:spPr>
            <a:xfrm>
              <a:off x="2092118" y="1004783"/>
              <a:ext cx="1567462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subset node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9A45C18C-635D-2D17-847E-AD2F207C079F}"/>
              </a:ext>
            </a:extLst>
          </p:cNvPr>
          <p:cNvSpPr txBox="1"/>
          <p:nvPr/>
        </p:nvSpPr>
        <p:spPr>
          <a:xfrm rot="16200000">
            <a:off x="-332544" y="2241719"/>
            <a:ext cx="1080114" cy="307777"/>
          </a:xfrm>
          <a:prstGeom prst="rect">
            <a:avLst/>
          </a:prstGeom>
          <a:noFill/>
        </p:spPr>
        <p:txBody>
          <a:bodyPr wrap="square" lIns="72000" tIns="0" rIns="7200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>
                  <a:outerShdw blurRad="76200" algn="ctr" rotWithShape="0">
                    <a:srgbClr val="FFFFFF"/>
                  </a:outerShdw>
                </a:effectLst>
                <a:uLnTx/>
                <a:uFillTx/>
                <a:latin typeface="Calibri"/>
                <a:ea typeface="+mn-ea"/>
                <a:cs typeface="+mn-cs"/>
              </a:rPr>
              <a:t>siblings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5ADD1E4-9B35-7671-A014-83221FD6FE45}"/>
              </a:ext>
            </a:extLst>
          </p:cNvPr>
          <p:cNvGrpSpPr/>
          <p:nvPr/>
        </p:nvGrpSpPr>
        <p:grpSpPr>
          <a:xfrm>
            <a:off x="2746429" y="3115944"/>
            <a:ext cx="1065610" cy="501533"/>
            <a:chOff x="2398861" y="820083"/>
            <a:chExt cx="1065610" cy="501533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719287E-8298-A061-1AEF-6B3B4BBC3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98861" y="820083"/>
              <a:ext cx="283140" cy="228159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43B341E-ABDA-C9AE-0471-961F8BA0D3A5}"/>
                </a:ext>
              </a:extLst>
            </p:cNvPr>
            <p:cNvSpPr txBox="1"/>
            <p:nvPr/>
          </p:nvSpPr>
          <p:spPr>
            <a:xfrm>
              <a:off x="2553283" y="1013839"/>
              <a:ext cx="911188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subset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56187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F850C-8E18-95AD-40C1-818EA8CEB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5781B1A6-293C-BD2F-4384-74C1E77936FC}"/>
              </a:ext>
            </a:extLst>
          </p:cNvPr>
          <p:cNvGrpSpPr/>
          <p:nvPr/>
        </p:nvGrpSpPr>
        <p:grpSpPr>
          <a:xfrm>
            <a:off x="80375" y="153921"/>
            <a:ext cx="3586850" cy="360000"/>
            <a:chOff x="82196" y="115421"/>
            <a:chExt cx="3586850" cy="36000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C1CE535B-44BC-9D2C-E939-23A3801BFC32}"/>
                </a:ext>
              </a:extLst>
            </p:cNvPr>
            <p:cNvSpPr/>
            <p:nvPr/>
          </p:nvSpPr>
          <p:spPr>
            <a:xfrm>
              <a:off x="82196" y="115421"/>
              <a:ext cx="3586850" cy="360000"/>
            </a:xfrm>
            <a:prstGeom prst="roundRect">
              <a:avLst/>
            </a:prstGeom>
            <a:ln w="25400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DNOV-CWB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320B77F3-FF1B-AA8B-85CF-56B64FA94CEB}"/>
                </a:ext>
              </a:extLst>
            </p:cNvPr>
            <p:cNvSpPr/>
            <p:nvPr/>
          </p:nvSpPr>
          <p:spPr>
            <a:xfrm>
              <a:off x="82196" y="115421"/>
              <a:ext cx="864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Corpus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6F16BC6-E8D7-2B3B-FA55-A70662A9B7EC}"/>
              </a:ext>
            </a:extLst>
          </p:cNvPr>
          <p:cNvGrpSpPr/>
          <p:nvPr/>
        </p:nvGrpSpPr>
        <p:grpSpPr>
          <a:xfrm>
            <a:off x="4046200" y="153921"/>
            <a:ext cx="7920001" cy="360000"/>
            <a:chOff x="82196" y="115421"/>
            <a:chExt cx="3086427" cy="360000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739C173E-6A00-A5CD-8580-7198AA5FB57A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"eyes" %c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9ECED0B0-4CC6-3209-3EE9-78CFC944E3BC}"/>
                </a:ext>
              </a:extLst>
            </p:cNvPr>
            <p:cNvSpPr/>
            <p:nvPr/>
          </p:nvSpPr>
          <p:spPr>
            <a:xfrm>
              <a:off x="82196" y="115421"/>
              <a:ext cx="336701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Query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80CCF998-65C2-E984-0DE6-F219537C96EC}"/>
              </a:ext>
            </a:extLst>
          </p:cNvPr>
          <p:cNvSpPr/>
          <p:nvPr/>
        </p:nvSpPr>
        <p:spPr>
          <a:xfrm>
            <a:off x="0" y="633407"/>
            <a:ext cx="3780000" cy="6224593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7216751-448A-A287-1C6C-1942206A5561}"/>
              </a:ext>
            </a:extLst>
          </p:cNvPr>
          <p:cNvSpPr/>
          <p:nvPr/>
        </p:nvSpPr>
        <p:spPr>
          <a:xfrm>
            <a:off x="80375" y="718981"/>
            <a:ext cx="3586850" cy="360000"/>
          </a:xfrm>
          <a:prstGeom prst="roundRect">
            <a:avLst/>
          </a:prstGeom>
          <a:ln w="254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Analysis Tree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4AAB9">
                  <a:lumMod val="75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19B001E-04FD-5F44-6927-3B4111E5E82B}"/>
              </a:ext>
            </a:extLst>
          </p:cNvPr>
          <p:cNvSpPr txBox="1"/>
          <p:nvPr/>
        </p:nvSpPr>
        <p:spPr>
          <a:xfrm>
            <a:off x="80375" y="1198467"/>
            <a:ext cx="3586850" cy="55777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Query result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(4031)</a:t>
            </a:r>
          </a:p>
          <a:p>
            <a:pPr marL="185738" marR="0" lvl="0" indent="-18573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>
                    <a:lumMod val="50000"/>
                    <a:lumOff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random</a:t>
            </a:r>
          </a:p>
          <a:p>
            <a:pPr marL="363538" marR="0" lvl="0" indent="-1778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select: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within suspension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(276)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right context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left context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partition: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by POS tag @ L1,</a:t>
            </a:r>
            <a:b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left context</a:t>
            </a:r>
          </a:p>
          <a:p>
            <a:pPr marL="719138" marR="0" lvl="0" indent="-1778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select: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set [PRP$]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(211)</a:t>
            </a:r>
          </a:p>
          <a:p>
            <a:pPr marL="896938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by L1</a:t>
            </a:r>
          </a:p>
          <a:p>
            <a:pPr marL="533400" marR="0" lvl="0" indent="-257175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D1BBC50-2219-1A8F-6826-902D53429364}"/>
              </a:ext>
            </a:extLst>
          </p:cNvPr>
          <p:cNvSpPr/>
          <p:nvPr/>
        </p:nvSpPr>
        <p:spPr>
          <a:xfrm>
            <a:off x="4046200" y="1112893"/>
            <a:ext cx="7920000" cy="432000"/>
          </a:xfrm>
          <a:prstGeom prst="roundRect">
            <a:avLst/>
          </a:prstGeom>
          <a:ln w="25400"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1919288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onsolas" panose="020B0609020204030204" pitchFamily="49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BE05F2E-6ECB-4CE9-39D1-C440244EA3F1}"/>
              </a:ext>
            </a:extLst>
          </p:cNvPr>
          <p:cNvGrpSpPr/>
          <p:nvPr/>
        </p:nvGrpSpPr>
        <p:grpSpPr>
          <a:xfrm>
            <a:off x="4046199" y="633407"/>
            <a:ext cx="7920001" cy="360000"/>
            <a:chOff x="82196" y="115421"/>
            <a:chExt cx="3086427" cy="360000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88A9800E-7D13-ADAD-12BA-FE67003A800B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1919288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E4B26ACF-0013-3349-D166-50C381836CB3}"/>
                </a:ext>
              </a:extLst>
            </p:cNvPr>
            <p:cNvSpPr/>
            <p:nvPr/>
          </p:nvSpPr>
          <p:spPr>
            <a:xfrm>
              <a:off x="82196" y="115421"/>
              <a:ext cx="729519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Ins="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Partition / Cluster 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C0D7A1">
                      <a:lumMod val="20000"/>
                      <a:lumOff val="8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▼</a:t>
              </a:r>
            </a:p>
          </p:txBody>
        </p:sp>
      </p:grp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16802639-C8FC-9299-3398-3FA6918C114E}"/>
              </a:ext>
            </a:extLst>
          </p:cNvPr>
          <p:cNvSpPr/>
          <p:nvPr/>
        </p:nvSpPr>
        <p:spPr>
          <a:xfrm>
            <a:off x="4044203" y="1664378"/>
            <a:ext cx="1763421" cy="360000"/>
          </a:xfrm>
          <a:prstGeom prst="round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Make selection ▼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9328FF82-C200-84C2-98CA-F9E9C366E9A4}"/>
              </a:ext>
            </a:extLst>
          </p:cNvPr>
          <p:cNvSpPr/>
          <p:nvPr/>
        </p:nvSpPr>
        <p:spPr>
          <a:xfrm>
            <a:off x="5479677" y="1139268"/>
            <a:ext cx="385489" cy="360000"/>
          </a:xfrm>
          <a:prstGeom prst="roundRect">
            <a:avLst/>
          </a:prstGeom>
          <a:noFill/>
          <a:ln w="2540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9525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rPr>
              <a:t>⨁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82CAF90-CC34-78D3-98EB-48F3CC5BDA2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52" b="1252"/>
          <a:stretch/>
        </p:blipFill>
        <p:spPr>
          <a:xfrm>
            <a:off x="3865245" y="2109347"/>
            <a:ext cx="8326755" cy="4748653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44A57C4-C2A3-A38E-7BDB-6813E4411868}"/>
              </a:ext>
            </a:extLst>
          </p:cNvPr>
          <p:cNvGrpSpPr/>
          <p:nvPr/>
        </p:nvGrpSpPr>
        <p:grpSpPr>
          <a:xfrm>
            <a:off x="4087185" y="1148893"/>
            <a:ext cx="1351507" cy="360000"/>
            <a:chOff x="82196" y="115421"/>
            <a:chExt cx="1351507" cy="360000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243207D0-C4B2-676C-E313-43E9310BDEA3}"/>
                </a:ext>
              </a:extLst>
            </p:cNvPr>
            <p:cNvSpPr/>
            <p:nvPr/>
          </p:nvSpPr>
          <p:spPr>
            <a:xfrm>
              <a:off x="82196" y="115421"/>
              <a:ext cx="1351507" cy="360000"/>
            </a:xfrm>
            <a:prstGeom prst="roundRect">
              <a:avLst/>
            </a:prstGeom>
            <a:ln w="25400">
              <a:solidFill>
                <a:schemeClr val="accent3"/>
              </a:solidFill>
            </a:ln>
            <a:effectLst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tIns="0" rIns="0" rtlCol="0" anchor="b"/>
            <a:lstStyle/>
            <a:p>
              <a:pPr marL="53340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by L1  </a:t>
              </a:r>
              <a:r>
                <a:rPr kumimoji="0" lang="en-US" sz="1600" b="0" i="0" u="none" strike="noStrike" kern="1200" cap="none" spc="0" normalizeH="0" baseline="30000" noProof="0">
                  <a:ln>
                    <a:noFill/>
                  </a:ln>
                  <a:solidFill>
                    <a:srgbClr val="C0D7A1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❎</a:t>
              </a:r>
              <a:endParaRPr kumimoji="0" lang="en-US" sz="1800" b="0" i="0" u="none" strike="noStrike" kern="1200" cap="none" spc="0" normalizeH="0" baseline="3000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47293F90-0BDE-FB05-D1FB-53572F43F669}"/>
                </a:ext>
              </a:extLst>
            </p:cNvPr>
            <p:cNvSpPr/>
            <p:nvPr/>
          </p:nvSpPr>
          <p:spPr>
            <a:xfrm>
              <a:off x="82196" y="115421"/>
              <a:ext cx="576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Sort</a:t>
              </a:r>
            </a:p>
          </p:txBody>
        </p:sp>
      </p:grp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98B2891-B72C-5D9C-BB73-4514B9B4C63F}"/>
              </a:ext>
            </a:extLst>
          </p:cNvPr>
          <p:cNvSpPr/>
          <p:nvPr/>
        </p:nvSpPr>
        <p:spPr>
          <a:xfrm>
            <a:off x="10644048" y="1672448"/>
            <a:ext cx="1322152" cy="360000"/>
          </a:xfrm>
          <a:prstGeom prst="round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🎔 Bookmark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18C1E54-84A4-D128-9FB9-113086B6ED78}"/>
              </a:ext>
            </a:extLst>
          </p:cNvPr>
          <p:cNvSpPr/>
          <p:nvPr/>
        </p:nvSpPr>
        <p:spPr>
          <a:xfrm>
            <a:off x="8836400" y="6450518"/>
            <a:ext cx="3129800" cy="253561"/>
          </a:xfrm>
          <a:prstGeom prst="roundRect">
            <a:avLst>
              <a:gd name="adj" fmla="val 50000"/>
            </a:avLst>
          </a:prstGeom>
          <a:ln>
            <a:noFill/>
          </a:ln>
          <a:effectLst>
            <a:innerShdw blurRad="50800" dist="25400" dir="15000000">
              <a:prstClr val="black">
                <a:alpha val="50000"/>
              </a:prstClr>
            </a:inn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images do not represent actual gameplay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27665F8-52DF-73C6-5C5A-6D490E413386}"/>
              </a:ext>
            </a:extLst>
          </p:cNvPr>
          <p:cNvGrpSpPr/>
          <p:nvPr/>
        </p:nvGrpSpPr>
        <p:grpSpPr>
          <a:xfrm>
            <a:off x="1411815" y="1194875"/>
            <a:ext cx="2553731" cy="379514"/>
            <a:chOff x="1632111" y="1009699"/>
            <a:chExt cx="2553731" cy="379514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EB8491B-3F5F-05E2-6220-130F4F9CE6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32111" y="1225064"/>
              <a:ext cx="457200" cy="164149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E1039B6-47CF-186C-F967-A304E7205E49}"/>
                </a:ext>
              </a:extLst>
            </p:cNvPr>
            <p:cNvSpPr txBox="1"/>
            <p:nvPr/>
          </p:nvSpPr>
          <p:spPr>
            <a:xfrm>
              <a:off x="2056452" y="1009699"/>
              <a:ext cx="2129390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arrangement node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29D5EA3-E74C-9F98-BB9C-C30EA1C0D9ED}"/>
              </a:ext>
            </a:extLst>
          </p:cNvPr>
          <p:cNvGrpSpPr/>
          <p:nvPr/>
        </p:nvGrpSpPr>
        <p:grpSpPr>
          <a:xfrm>
            <a:off x="282959" y="537344"/>
            <a:ext cx="1435608" cy="664488"/>
            <a:chOff x="282959" y="537344"/>
            <a:chExt cx="1435608" cy="664488"/>
          </a:xfrm>
        </p:grpSpPr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F52919ED-72BE-C950-EFC7-676202C26A3D}"/>
                </a:ext>
              </a:extLst>
            </p:cNvPr>
            <p:cNvCxnSpPr>
              <a:cxnSpLocks/>
              <a:stCxn id="27" idx="2"/>
            </p:cNvCxnSpPr>
            <p:nvPr/>
          </p:nvCxnSpPr>
          <p:spPr>
            <a:xfrm>
              <a:off x="1000763" y="845121"/>
              <a:ext cx="186569" cy="356711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9D7BE6A-025C-7247-74EF-88694D7DDBE3}"/>
                </a:ext>
              </a:extLst>
            </p:cNvPr>
            <p:cNvSpPr txBox="1"/>
            <p:nvPr/>
          </p:nvSpPr>
          <p:spPr>
            <a:xfrm>
              <a:off x="282959" y="537344"/>
              <a:ext cx="1435608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root node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2A010AD-E39E-20E7-1F55-4D7619731412}"/>
              </a:ext>
            </a:extLst>
          </p:cNvPr>
          <p:cNvGrpSpPr/>
          <p:nvPr/>
        </p:nvGrpSpPr>
        <p:grpSpPr>
          <a:xfrm>
            <a:off x="2261419" y="1927123"/>
            <a:ext cx="1619370" cy="490001"/>
            <a:chOff x="2040210" y="822559"/>
            <a:chExt cx="1619370" cy="490001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84DB4BA-2233-814D-E6B6-C4075C594C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40210" y="822559"/>
              <a:ext cx="275304" cy="245806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977ED64-0352-59AF-F64E-41C6C5D9DC8C}"/>
                </a:ext>
              </a:extLst>
            </p:cNvPr>
            <p:cNvSpPr txBox="1"/>
            <p:nvPr/>
          </p:nvSpPr>
          <p:spPr>
            <a:xfrm>
              <a:off x="2092118" y="1004783"/>
              <a:ext cx="1567462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subset node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FED614F6-DF00-20FA-FA6F-105B5BD3FA80}"/>
              </a:ext>
            </a:extLst>
          </p:cNvPr>
          <p:cNvSpPr txBox="1"/>
          <p:nvPr/>
        </p:nvSpPr>
        <p:spPr>
          <a:xfrm rot="16200000">
            <a:off x="-332544" y="2241719"/>
            <a:ext cx="1080114" cy="307777"/>
          </a:xfrm>
          <a:prstGeom prst="rect">
            <a:avLst/>
          </a:prstGeom>
          <a:noFill/>
        </p:spPr>
        <p:txBody>
          <a:bodyPr wrap="square" lIns="72000" tIns="0" rIns="7200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>
                  <a:outerShdw blurRad="76200" algn="ctr" rotWithShape="0">
                    <a:srgbClr val="FFFFFF"/>
                  </a:outerShdw>
                </a:effectLst>
                <a:uLnTx/>
                <a:uFillTx/>
                <a:latin typeface="Calibri"/>
                <a:ea typeface="+mn-ea"/>
                <a:cs typeface="+mn-cs"/>
              </a:rPr>
              <a:t>siblings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57F292C-A89E-91B7-81AC-76BA2DDA8463}"/>
              </a:ext>
            </a:extLst>
          </p:cNvPr>
          <p:cNvGrpSpPr/>
          <p:nvPr/>
        </p:nvGrpSpPr>
        <p:grpSpPr>
          <a:xfrm>
            <a:off x="2746429" y="3115944"/>
            <a:ext cx="1065610" cy="501533"/>
            <a:chOff x="2398861" y="820083"/>
            <a:chExt cx="1065610" cy="501533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827A73EB-2697-2E81-D75F-AD9A42909BE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98861" y="820083"/>
              <a:ext cx="283140" cy="228159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90C83A7-D29C-7B02-757E-DA9D43D21D22}"/>
                </a:ext>
              </a:extLst>
            </p:cNvPr>
            <p:cNvSpPr txBox="1"/>
            <p:nvPr/>
          </p:nvSpPr>
          <p:spPr>
            <a:xfrm>
              <a:off x="2553283" y="1013839"/>
              <a:ext cx="911188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subset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490468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1689D-3A7F-ECAC-FBB5-08A53E4B4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12EA857E-F458-371E-9063-56A9586B64E9}"/>
              </a:ext>
            </a:extLst>
          </p:cNvPr>
          <p:cNvGrpSpPr/>
          <p:nvPr/>
        </p:nvGrpSpPr>
        <p:grpSpPr>
          <a:xfrm>
            <a:off x="80375" y="153921"/>
            <a:ext cx="3586850" cy="360000"/>
            <a:chOff x="82196" y="115421"/>
            <a:chExt cx="3586850" cy="36000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D74C4DDD-C21B-C9E9-BBEA-43F7EC348443}"/>
                </a:ext>
              </a:extLst>
            </p:cNvPr>
            <p:cNvSpPr/>
            <p:nvPr/>
          </p:nvSpPr>
          <p:spPr>
            <a:xfrm>
              <a:off x="82196" y="115421"/>
              <a:ext cx="3586850" cy="360000"/>
            </a:xfrm>
            <a:prstGeom prst="roundRect">
              <a:avLst/>
            </a:prstGeom>
            <a:ln w="25400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DNOV-CWB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9AA8D359-A8CA-3D16-671E-7CB33B578067}"/>
                </a:ext>
              </a:extLst>
            </p:cNvPr>
            <p:cNvSpPr/>
            <p:nvPr/>
          </p:nvSpPr>
          <p:spPr>
            <a:xfrm>
              <a:off x="82196" y="115421"/>
              <a:ext cx="864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Corpus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AD088D6-B791-C9C7-8CB1-D353C7A2C54B}"/>
              </a:ext>
            </a:extLst>
          </p:cNvPr>
          <p:cNvGrpSpPr/>
          <p:nvPr/>
        </p:nvGrpSpPr>
        <p:grpSpPr>
          <a:xfrm>
            <a:off x="4046200" y="153921"/>
            <a:ext cx="7920001" cy="360000"/>
            <a:chOff x="82196" y="115421"/>
            <a:chExt cx="3086427" cy="360000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1ED4454C-3219-47C5-C7B9-AB2DAAA04838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"eyes" %c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F8D8DB55-98F3-2F68-534B-8D4072A6E31F}"/>
                </a:ext>
              </a:extLst>
            </p:cNvPr>
            <p:cNvSpPr/>
            <p:nvPr/>
          </p:nvSpPr>
          <p:spPr>
            <a:xfrm>
              <a:off x="82196" y="115421"/>
              <a:ext cx="336701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Query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B041BF06-9771-922F-7FA3-3AA1BD5861C9}"/>
              </a:ext>
            </a:extLst>
          </p:cNvPr>
          <p:cNvSpPr/>
          <p:nvPr/>
        </p:nvSpPr>
        <p:spPr>
          <a:xfrm>
            <a:off x="0" y="633407"/>
            <a:ext cx="3780000" cy="6224593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4AF7386D-BB52-EC3E-A398-E3392ADE63CD}"/>
              </a:ext>
            </a:extLst>
          </p:cNvPr>
          <p:cNvSpPr/>
          <p:nvPr/>
        </p:nvSpPr>
        <p:spPr>
          <a:xfrm>
            <a:off x="80375" y="718981"/>
            <a:ext cx="3586850" cy="360000"/>
          </a:xfrm>
          <a:prstGeom prst="roundRect">
            <a:avLst/>
          </a:prstGeom>
          <a:ln w="254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Analysis Tree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4AAB9">
                  <a:lumMod val="75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4F6757-BF29-6A5B-23CB-9E753FB92D6A}"/>
              </a:ext>
            </a:extLst>
          </p:cNvPr>
          <p:cNvSpPr txBox="1"/>
          <p:nvPr/>
        </p:nvSpPr>
        <p:spPr>
          <a:xfrm>
            <a:off x="80375" y="1198467"/>
            <a:ext cx="3586850" cy="55777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Query result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(4031)</a:t>
            </a:r>
          </a:p>
          <a:p>
            <a:pPr marL="185738" marR="0" lvl="0" indent="-18573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>
                    <a:lumMod val="50000"/>
                    <a:lumOff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random</a:t>
            </a:r>
          </a:p>
          <a:p>
            <a:pPr marL="363538" marR="0" lvl="0" indent="-1778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select: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within suspension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(276)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right context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left context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partition: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by POS tag @ L1,</a:t>
            </a:r>
            <a:b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left context</a:t>
            </a:r>
          </a:p>
          <a:p>
            <a:pPr marL="719138" marR="0" lvl="0" indent="-1778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select: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set [PRP$]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(211)</a:t>
            </a:r>
          </a:p>
          <a:p>
            <a:pPr marL="896938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by L1</a:t>
            </a:r>
          </a:p>
          <a:p>
            <a:pPr marL="896938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by L1, </a:t>
            </a:r>
            <a:b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right context</a:t>
            </a:r>
          </a:p>
          <a:p>
            <a:pPr marL="801688" marR="0" lvl="0" indent="-2587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54C5F3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533400" marR="0" lvl="0" indent="-257175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54C5F3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533400" marR="0" lvl="0" indent="-257175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533400" marR="0" lvl="0" indent="-257175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31B5DB0-B2D3-E007-F8B6-56228047AE99}"/>
              </a:ext>
            </a:extLst>
          </p:cNvPr>
          <p:cNvSpPr/>
          <p:nvPr/>
        </p:nvSpPr>
        <p:spPr>
          <a:xfrm>
            <a:off x="4046200" y="1112893"/>
            <a:ext cx="7920000" cy="432000"/>
          </a:xfrm>
          <a:prstGeom prst="roundRect">
            <a:avLst/>
          </a:prstGeom>
          <a:ln w="25400"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1919288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onsolas" panose="020B0609020204030204" pitchFamily="49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C1DB3CB-CBE3-5414-4891-3BBF78743F5D}"/>
              </a:ext>
            </a:extLst>
          </p:cNvPr>
          <p:cNvGrpSpPr/>
          <p:nvPr/>
        </p:nvGrpSpPr>
        <p:grpSpPr>
          <a:xfrm>
            <a:off x="4046199" y="633407"/>
            <a:ext cx="7920001" cy="360000"/>
            <a:chOff x="82196" y="115421"/>
            <a:chExt cx="3086427" cy="360000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23340A1E-7A7C-0363-61EF-B2B5161CCA24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1919288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9FD28261-6180-DFB4-B3EE-3B5458CCAA8A}"/>
                </a:ext>
              </a:extLst>
            </p:cNvPr>
            <p:cNvSpPr/>
            <p:nvPr/>
          </p:nvSpPr>
          <p:spPr>
            <a:xfrm>
              <a:off x="82196" y="115421"/>
              <a:ext cx="729519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Ins="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Partition / Cluster 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C0D7A1">
                      <a:lumMod val="20000"/>
                      <a:lumOff val="8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▼</a:t>
              </a:r>
            </a:p>
          </p:txBody>
        </p:sp>
      </p:grp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32C91666-F839-F95A-0187-F5F67DB671F1}"/>
              </a:ext>
            </a:extLst>
          </p:cNvPr>
          <p:cNvSpPr/>
          <p:nvPr/>
        </p:nvSpPr>
        <p:spPr>
          <a:xfrm>
            <a:off x="4044203" y="1664378"/>
            <a:ext cx="1763421" cy="360000"/>
          </a:xfrm>
          <a:prstGeom prst="round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Make selection ▼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792789B-946F-49FA-6EF3-030A2D9B60EB}"/>
              </a:ext>
            </a:extLst>
          </p:cNvPr>
          <p:cNvGrpSpPr/>
          <p:nvPr/>
        </p:nvGrpSpPr>
        <p:grpSpPr>
          <a:xfrm>
            <a:off x="4087185" y="1148893"/>
            <a:ext cx="1351507" cy="360000"/>
            <a:chOff x="82196" y="115421"/>
            <a:chExt cx="1351507" cy="360000"/>
          </a:xfrm>
        </p:grpSpPr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462656F-15E5-3A55-CC75-A8665B1049A2}"/>
                </a:ext>
              </a:extLst>
            </p:cNvPr>
            <p:cNvSpPr/>
            <p:nvPr/>
          </p:nvSpPr>
          <p:spPr>
            <a:xfrm>
              <a:off x="82196" y="115421"/>
              <a:ext cx="1351507" cy="360000"/>
            </a:xfrm>
            <a:prstGeom prst="roundRect">
              <a:avLst/>
            </a:prstGeom>
            <a:ln w="25400">
              <a:solidFill>
                <a:schemeClr val="accent3"/>
              </a:solidFill>
            </a:ln>
            <a:effectLst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tIns="0" rIns="0" rtlCol="0" anchor="b"/>
            <a:lstStyle/>
            <a:p>
              <a:pPr marL="53340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by L1  </a:t>
              </a:r>
              <a:r>
                <a:rPr kumimoji="0" lang="en-US" sz="1600" b="0" i="0" u="none" strike="noStrike" kern="1200" cap="none" spc="0" normalizeH="0" baseline="30000" noProof="0">
                  <a:ln>
                    <a:noFill/>
                  </a:ln>
                  <a:solidFill>
                    <a:srgbClr val="C0D7A1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❎</a:t>
              </a:r>
              <a:endParaRPr kumimoji="0" lang="en-US" sz="1800" b="0" i="0" u="none" strike="noStrike" kern="1200" cap="none" spc="0" normalizeH="0" baseline="3000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42A0F5B3-A6ED-942E-0271-80AD8904AC52}"/>
                </a:ext>
              </a:extLst>
            </p:cNvPr>
            <p:cNvSpPr/>
            <p:nvPr/>
          </p:nvSpPr>
          <p:spPr>
            <a:xfrm>
              <a:off x="82196" y="115421"/>
              <a:ext cx="576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Sort</a:t>
              </a:r>
            </a:p>
          </p:txBody>
        </p:sp>
      </p:grp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52B3E800-7E0A-5135-D25C-BA5DD43CA2E9}"/>
              </a:ext>
            </a:extLst>
          </p:cNvPr>
          <p:cNvSpPr/>
          <p:nvPr/>
        </p:nvSpPr>
        <p:spPr>
          <a:xfrm>
            <a:off x="7775296" y="1139268"/>
            <a:ext cx="385489" cy="360000"/>
          </a:xfrm>
          <a:prstGeom prst="roundRect">
            <a:avLst/>
          </a:prstGeom>
          <a:noFill/>
          <a:ln w="2540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9525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rPr>
              <a:t>⨁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0425E0D-6881-2BD9-B3CF-580D4CF262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07" b="607"/>
          <a:stretch/>
        </p:blipFill>
        <p:spPr>
          <a:xfrm>
            <a:off x="3865245" y="2109347"/>
            <a:ext cx="8326755" cy="4748653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77DFB6E3-A348-26DC-4459-E8EFA58FB7EC}"/>
              </a:ext>
            </a:extLst>
          </p:cNvPr>
          <p:cNvGrpSpPr/>
          <p:nvPr/>
        </p:nvGrpSpPr>
        <p:grpSpPr>
          <a:xfrm>
            <a:off x="5519432" y="1148893"/>
            <a:ext cx="2255864" cy="360000"/>
            <a:chOff x="82196" y="115421"/>
            <a:chExt cx="2255864" cy="360000"/>
          </a:xfrm>
        </p:grpSpPr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F69E7974-284E-9162-9FB9-6EC22CABE1CE}"/>
                </a:ext>
              </a:extLst>
            </p:cNvPr>
            <p:cNvSpPr/>
            <p:nvPr/>
          </p:nvSpPr>
          <p:spPr>
            <a:xfrm>
              <a:off x="82196" y="115421"/>
              <a:ext cx="2255864" cy="360000"/>
            </a:xfrm>
            <a:prstGeom prst="roundRect">
              <a:avLst/>
            </a:prstGeom>
            <a:ln w="25400">
              <a:solidFill>
                <a:schemeClr val="accent3"/>
              </a:solidFill>
            </a:ln>
            <a:effectLst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tIns="0" rIns="0" rtlCol="0" anchor="b"/>
            <a:lstStyle/>
            <a:p>
              <a:pPr marL="53340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by right context   </a:t>
              </a:r>
              <a:r>
                <a:rPr kumimoji="0" lang="en-US" sz="1600" b="0" i="0" u="none" strike="noStrike" kern="1200" cap="none" spc="0" normalizeH="0" baseline="30000" noProof="0">
                  <a:ln>
                    <a:noFill/>
                  </a:ln>
                  <a:solidFill>
                    <a:srgbClr val="C0D7A1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❎</a:t>
              </a:r>
              <a:endParaRPr kumimoji="0" lang="en-US" sz="1800" b="0" i="0" u="none" strike="noStrike" kern="1200" cap="none" spc="0" normalizeH="0" baseline="3000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AC75A930-3223-4C54-F7F1-FFBBB5A57064}"/>
                </a:ext>
              </a:extLst>
            </p:cNvPr>
            <p:cNvSpPr/>
            <p:nvPr/>
          </p:nvSpPr>
          <p:spPr>
            <a:xfrm>
              <a:off x="82196" y="115421"/>
              <a:ext cx="576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Sort</a:t>
              </a:r>
            </a:p>
          </p:txBody>
        </p:sp>
      </p:grp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D290781-0056-9A8C-7948-4FA9BFD05F7F}"/>
              </a:ext>
            </a:extLst>
          </p:cNvPr>
          <p:cNvSpPr/>
          <p:nvPr/>
        </p:nvSpPr>
        <p:spPr>
          <a:xfrm>
            <a:off x="10644048" y="1672448"/>
            <a:ext cx="1322152" cy="360000"/>
          </a:xfrm>
          <a:prstGeom prst="round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🎔 Bookmark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9CB37AC-4085-2455-2A26-5C205056A582}"/>
              </a:ext>
            </a:extLst>
          </p:cNvPr>
          <p:cNvSpPr/>
          <p:nvPr/>
        </p:nvSpPr>
        <p:spPr>
          <a:xfrm>
            <a:off x="8836400" y="6450518"/>
            <a:ext cx="3129800" cy="253561"/>
          </a:xfrm>
          <a:prstGeom prst="roundRect">
            <a:avLst>
              <a:gd name="adj" fmla="val 50000"/>
            </a:avLst>
          </a:prstGeom>
          <a:ln>
            <a:noFill/>
          </a:ln>
          <a:effectLst>
            <a:innerShdw blurRad="50800" dist="25400" dir="15000000">
              <a:prstClr val="black">
                <a:alpha val="50000"/>
              </a:prstClr>
            </a:inn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images do not represent actual gameplay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F5E492C-4289-0631-B6AF-8C3EE91C345A}"/>
              </a:ext>
            </a:extLst>
          </p:cNvPr>
          <p:cNvGrpSpPr/>
          <p:nvPr/>
        </p:nvGrpSpPr>
        <p:grpSpPr>
          <a:xfrm>
            <a:off x="1411815" y="1194875"/>
            <a:ext cx="2553731" cy="379514"/>
            <a:chOff x="1632111" y="1009699"/>
            <a:chExt cx="2553731" cy="379514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8002267D-3B28-6DDB-9372-4148F9BBBF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32111" y="1225064"/>
              <a:ext cx="457200" cy="164149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CE81646-6F87-82A0-900F-9E4689605ABD}"/>
                </a:ext>
              </a:extLst>
            </p:cNvPr>
            <p:cNvSpPr txBox="1"/>
            <p:nvPr/>
          </p:nvSpPr>
          <p:spPr>
            <a:xfrm>
              <a:off x="2056452" y="1009699"/>
              <a:ext cx="2129390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arrangement node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121C535-98E4-3A11-7766-FBBB21844D6E}"/>
              </a:ext>
            </a:extLst>
          </p:cNvPr>
          <p:cNvGrpSpPr/>
          <p:nvPr/>
        </p:nvGrpSpPr>
        <p:grpSpPr>
          <a:xfrm>
            <a:off x="282959" y="537344"/>
            <a:ext cx="1435608" cy="664488"/>
            <a:chOff x="282959" y="537344"/>
            <a:chExt cx="1435608" cy="664488"/>
          </a:xfrm>
        </p:grpSpPr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92FF8F4-355A-9435-9E03-308FD942B227}"/>
                </a:ext>
              </a:extLst>
            </p:cNvPr>
            <p:cNvCxnSpPr>
              <a:cxnSpLocks/>
              <a:stCxn id="27" idx="2"/>
            </p:cNvCxnSpPr>
            <p:nvPr/>
          </p:nvCxnSpPr>
          <p:spPr>
            <a:xfrm>
              <a:off x="1000763" y="845121"/>
              <a:ext cx="186569" cy="356711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51D13EE-AF51-D238-BB25-E38B421CF246}"/>
                </a:ext>
              </a:extLst>
            </p:cNvPr>
            <p:cNvSpPr txBox="1"/>
            <p:nvPr/>
          </p:nvSpPr>
          <p:spPr>
            <a:xfrm>
              <a:off x="282959" y="537344"/>
              <a:ext cx="1435608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root node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97ADC3A-7372-5D31-2BAD-F0298B34BE45}"/>
              </a:ext>
            </a:extLst>
          </p:cNvPr>
          <p:cNvGrpSpPr/>
          <p:nvPr/>
        </p:nvGrpSpPr>
        <p:grpSpPr>
          <a:xfrm>
            <a:off x="2261419" y="1927123"/>
            <a:ext cx="1619370" cy="490001"/>
            <a:chOff x="2040210" y="822559"/>
            <a:chExt cx="1619370" cy="490001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96C2FA61-3571-BC44-69A3-9181C160181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40210" y="822559"/>
              <a:ext cx="275304" cy="245806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F260AFB-ACC2-52E2-9C57-708E491FDE7D}"/>
                </a:ext>
              </a:extLst>
            </p:cNvPr>
            <p:cNvSpPr txBox="1"/>
            <p:nvPr/>
          </p:nvSpPr>
          <p:spPr>
            <a:xfrm>
              <a:off x="2092118" y="1004783"/>
              <a:ext cx="1567462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subset node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ABBAFC29-DED6-0913-1F0B-25687924137B}"/>
              </a:ext>
            </a:extLst>
          </p:cNvPr>
          <p:cNvSpPr txBox="1"/>
          <p:nvPr/>
        </p:nvSpPr>
        <p:spPr>
          <a:xfrm rot="16200000">
            <a:off x="-332544" y="2241719"/>
            <a:ext cx="1080114" cy="307777"/>
          </a:xfrm>
          <a:prstGeom prst="rect">
            <a:avLst/>
          </a:prstGeom>
          <a:noFill/>
        </p:spPr>
        <p:txBody>
          <a:bodyPr wrap="square" lIns="72000" tIns="0" rIns="7200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>
                  <a:outerShdw blurRad="76200" algn="ctr" rotWithShape="0">
                    <a:srgbClr val="FFFFFF"/>
                  </a:outerShdw>
                </a:effectLst>
                <a:uLnTx/>
                <a:uFillTx/>
                <a:latin typeface="Calibri"/>
                <a:ea typeface="+mn-ea"/>
                <a:cs typeface="+mn-cs"/>
              </a:rPr>
              <a:t>siblings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08560A2-713F-1357-B38A-6B3DF57A1289}"/>
              </a:ext>
            </a:extLst>
          </p:cNvPr>
          <p:cNvGrpSpPr/>
          <p:nvPr/>
        </p:nvGrpSpPr>
        <p:grpSpPr>
          <a:xfrm>
            <a:off x="2746429" y="3115944"/>
            <a:ext cx="1065610" cy="501533"/>
            <a:chOff x="2398861" y="820083"/>
            <a:chExt cx="1065610" cy="501533"/>
          </a:xfrm>
        </p:grpSpPr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81D93A34-05DC-6CAB-CA3A-7E579D23FFA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98861" y="820083"/>
              <a:ext cx="283140" cy="228159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D757EA2-1CA1-D13A-2C02-77A644C1E9C0}"/>
                </a:ext>
              </a:extLst>
            </p:cNvPr>
            <p:cNvSpPr txBox="1"/>
            <p:nvPr/>
          </p:nvSpPr>
          <p:spPr>
            <a:xfrm>
              <a:off x="2553283" y="1013839"/>
              <a:ext cx="911188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subset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923415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1C8C8-18F4-6787-F1E7-7AF44915A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BFD6EF95-022C-0A79-DDD7-921E7BDE0128}"/>
              </a:ext>
            </a:extLst>
          </p:cNvPr>
          <p:cNvGrpSpPr/>
          <p:nvPr/>
        </p:nvGrpSpPr>
        <p:grpSpPr>
          <a:xfrm>
            <a:off x="80375" y="153921"/>
            <a:ext cx="3586850" cy="360000"/>
            <a:chOff x="82196" y="115421"/>
            <a:chExt cx="3586850" cy="36000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12D14062-5D22-6B8C-F564-AFF8FF1AF54C}"/>
                </a:ext>
              </a:extLst>
            </p:cNvPr>
            <p:cNvSpPr/>
            <p:nvPr/>
          </p:nvSpPr>
          <p:spPr>
            <a:xfrm>
              <a:off x="82196" y="115421"/>
              <a:ext cx="3586850" cy="360000"/>
            </a:xfrm>
            <a:prstGeom prst="roundRect">
              <a:avLst/>
            </a:prstGeom>
            <a:ln w="25400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DNOV-CWB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B332D282-3D00-1A64-663D-C619251D1202}"/>
                </a:ext>
              </a:extLst>
            </p:cNvPr>
            <p:cNvSpPr/>
            <p:nvPr/>
          </p:nvSpPr>
          <p:spPr>
            <a:xfrm>
              <a:off x="82196" y="115421"/>
              <a:ext cx="864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Corpus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C3A65D-439E-7C9B-EDC2-BB30132800E6}"/>
              </a:ext>
            </a:extLst>
          </p:cNvPr>
          <p:cNvGrpSpPr/>
          <p:nvPr/>
        </p:nvGrpSpPr>
        <p:grpSpPr>
          <a:xfrm>
            <a:off x="4046200" y="153921"/>
            <a:ext cx="7920001" cy="360000"/>
            <a:chOff x="82196" y="115421"/>
            <a:chExt cx="3086427" cy="360000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C2BFAA36-78FD-D42A-5477-9C7A1816B618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715963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	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Consolas" panose="020B0609020204030204" pitchFamily="49" charset="0"/>
                </a:rPr>
                <a:t>"eyes" %c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F3D2F977-60EA-466A-DAFD-F320F64B7A80}"/>
                </a:ext>
              </a:extLst>
            </p:cNvPr>
            <p:cNvSpPr/>
            <p:nvPr/>
          </p:nvSpPr>
          <p:spPr>
            <a:xfrm>
              <a:off x="82196" y="115421"/>
              <a:ext cx="336701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Query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4FAEB929-2596-B498-FBBA-3DCF51A536CA}"/>
              </a:ext>
            </a:extLst>
          </p:cNvPr>
          <p:cNvSpPr/>
          <p:nvPr/>
        </p:nvSpPr>
        <p:spPr>
          <a:xfrm>
            <a:off x="0" y="633407"/>
            <a:ext cx="3780000" cy="6224593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85E3518-01FF-70E2-47EF-CDD54C1B18AE}"/>
              </a:ext>
            </a:extLst>
          </p:cNvPr>
          <p:cNvSpPr/>
          <p:nvPr/>
        </p:nvSpPr>
        <p:spPr>
          <a:xfrm>
            <a:off x="80375" y="718981"/>
            <a:ext cx="3586850" cy="360000"/>
          </a:xfrm>
          <a:prstGeom prst="roundRect">
            <a:avLst/>
          </a:prstGeom>
          <a:ln w="254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Analysis Tree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4AAB9">
                  <a:lumMod val="75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4326A2-542A-37C8-381B-58A2F846327C}"/>
              </a:ext>
            </a:extLst>
          </p:cNvPr>
          <p:cNvSpPr txBox="1"/>
          <p:nvPr/>
        </p:nvSpPr>
        <p:spPr>
          <a:xfrm>
            <a:off x="80375" y="1198467"/>
            <a:ext cx="3586850" cy="55777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Query result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(4031)</a:t>
            </a:r>
          </a:p>
          <a:p>
            <a:pPr marL="185738" marR="0" lvl="0" indent="-185738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>
                    <a:lumMod val="50000"/>
                    <a:lumOff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random</a:t>
            </a:r>
          </a:p>
          <a:p>
            <a:pPr marL="363538" marR="0" lvl="0" indent="-1778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select: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within suspension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(276)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right context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left context</a:t>
            </a:r>
          </a:p>
          <a:p>
            <a:pPr marL="533400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partition: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by POS tag @ L1,</a:t>
            </a:r>
            <a:b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left context</a:t>
            </a:r>
          </a:p>
          <a:p>
            <a:pPr marL="719138" marR="0" lvl="0" indent="-1778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▸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select: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set [PRP$]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54C5F3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(211)</a:t>
            </a:r>
          </a:p>
          <a:p>
            <a:pPr marL="896938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CCCCC">
                    <a:lumMod val="9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 by L1</a:t>
            </a:r>
          </a:p>
          <a:p>
            <a:pPr marL="896938" marR="0" lvl="0" indent="-1698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•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by L1, </a:t>
            </a:r>
            <a:b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sort: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right context 	 	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8A8F3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🎔</a:t>
            </a:r>
          </a:p>
          <a:p>
            <a:pPr marL="801688" marR="0" lvl="0" indent="-25876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54C5F3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533400" marR="0" lvl="0" indent="-257175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54C5F3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533400" marR="0" lvl="0" indent="-257175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533400" marR="0" lvl="0" indent="-257175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299B928-B24C-7918-5632-B5DB0D333804}"/>
              </a:ext>
            </a:extLst>
          </p:cNvPr>
          <p:cNvSpPr/>
          <p:nvPr/>
        </p:nvSpPr>
        <p:spPr>
          <a:xfrm>
            <a:off x="4046200" y="1112893"/>
            <a:ext cx="7920000" cy="432000"/>
          </a:xfrm>
          <a:prstGeom prst="roundRect">
            <a:avLst/>
          </a:prstGeom>
          <a:ln w="25400">
            <a:solidFill>
              <a:schemeClr val="accent3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1919288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onsolas" panose="020B0609020204030204" pitchFamily="49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589B4A0-7CAC-4A66-1E17-AE92068F92B3}"/>
              </a:ext>
            </a:extLst>
          </p:cNvPr>
          <p:cNvGrpSpPr/>
          <p:nvPr/>
        </p:nvGrpSpPr>
        <p:grpSpPr>
          <a:xfrm>
            <a:off x="4046199" y="633407"/>
            <a:ext cx="7920001" cy="360000"/>
            <a:chOff x="82196" y="115421"/>
            <a:chExt cx="3086427" cy="360000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F7EE67F4-603C-C009-654D-59F1BD257216}"/>
                </a:ext>
              </a:extLst>
            </p:cNvPr>
            <p:cNvSpPr/>
            <p:nvPr/>
          </p:nvSpPr>
          <p:spPr>
            <a:xfrm>
              <a:off x="82196" y="115421"/>
              <a:ext cx="3086427" cy="360000"/>
            </a:xfrm>
            <a:prstGeom prst="round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1919288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34D6FE82-92A4-595D-387A-32650939D240}"/>
                </a:ext>
              </a:extLst>
            </p:cNvPr>
            <p:cNvSpPr/>
            <p:nvPr/>
          </p:nvSpPr>
          <p:spPr>
            <a:xfrm>
              <a:off x="82196" y="115421"/>
              <a:ext cx="729519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Ins="0"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Partition / Cluster </a:t>
              </a: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C0D7A1">
                      <a:lumMod val="20000"/>
                      <a:lumOff val="8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▼</a:t>
              </a:r>
            </a:p>
          </p:txBody>
        </p:sp>
      </p:grp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3C2883FA-AB8C-A4F8-B29E-09EA1679B581}"/>
              </a:ext>
            </a:extLst>
          </p:cNvPr>
          <p:cNvSpPr/>
          <p:nvPr/>
        </p:nvSpPr>
        <p:spPr>
          <a:xfrm>
            <a:off x="4044203" y="1664378"/>
            <a:ext cx="1763421" cy="360000"/>
          </a:xfrm>
          <a:prstGeom prst="round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Make selection ▼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D82F768-DC8C-FC5D-F793-84B9906E6204}"/>
              </a:ext>
            </a:extLst>
          </p:cNvPr>
          <p:cNvGrpSpPr/>
          <p:nvPr/>
        </p:nvGrpSpPr>
        <p:grpSpPr>
          <a:xfrm>
            <a:off x="4087185" y="1148893"/>
            <a:ext cx="1351507" cy="360000"/>
            <a:chOff x="82196" y="115421"/>
            <a:chExt cx="1351507" cy="360000"/>
          </a:xfrm>
        </p:grpSpPr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56A0FF91-1CD8-A9F0-3ED0-A7815AD03854}"/>
                </a:ext>
              </a:extLst>
            </p:cNvPr>
            <p:cNvSpPr/>
            <p:nvPr/>
          </p:nvSpPr>
          <p:spPr>
            <a:xfrm>
              <a:off x="82196" y="115421"/>
              <a:ext cx="1351507" cy="360000"/>
            </a:xfrm>
            <a:prstGeom prst="roundRect">
              <a:avLst/>
            </a:prstGeom>
            <a:ln w="25400">
              <a:solidFill>
                <a:schemeClr val="accent3"/>
              </a:solidFill>
            </a:ln>
            <a:effectLst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tIns="0" rIns="0" rtlCol="0" anchor="b"/>
            <a:lstStyle/>
            <a:p>
              <a:pPr marL="53340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by L1  </a:t>
              </a:r>
              <a:r>
                <a:rPr kumimoji="0" lang="en-US" sz="1600" b="0" i="0" u="none" strike="noStrike" kern="1200" cap="none" spc="0" normalizeH="0" baseline="30000" noProof="0">
                  <a:ln>
                    <a:noFill/>
                  </a:ln>
                  <a:solidFill>
                    <a:srgbClr val="C0D7A1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❎</a:t>
              </a:r>
              <a:endParaRPr kumimoji="0" lang="en-US" sz="1800" b="0" i="0" u="none" strike="noStrike" kern="1200" cap="none" spc="0" normalizeH="0" baseline="3000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0278E3B5-899E-D2C2-0BD3-4E376FA137A4}"/>
                </a:ext>
              </a:extLst>
            </p:cNvPr>
            <p:cNvSpPr/>
            <p:nvPr/>
          </p:nvSpPr>
          <p:spPr>
            <a:xfrm>
              <a:off x="82196" y="115421"/>
              <a:ext cx="576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Sort</a:t>
              </a:r>
            </a:p>
          </p:txBody>
        </p:sp>
      </p:grp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EEEA260-23D8-0764-E73A-84A4889FC3CF}"/>
              </a:ext>
            </a:extLst>
          </p:cNvPr>
          <p:cNvSpPr/>
          <p:nvPr/>
        </p:nvSpPr>
        <p:spPr>
          <a:xfrm>
            <a:off x="7775296" y="1139268"/>
            <a:ext cx="385489" cy="360000"/>
          </a:xfrm>
          <a:prstGeom prst="roundRect">
            <a:avLst/>
          </a:prstGeom>
          <a:noFill/>
          <a:ln w="2540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9525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C0D7A1">
                    <a:lumMod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rPr>
              <a:t>⨁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229FBF6-8678-EBC5-B995-633E308E705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07" b="607"/>
          <a:stretch/>
        </p:blipFill>
        <p:spPr>
          <a:xfrm>
            <a:off x="3865245" y="2109347"/>
            <a:ext cx="8326755" cy="4748653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49ABCF0D-C5EE-D28B-4B91-5F46360DA68E}"/>
              </a:ext>
            </a:extLst>
          </p:cNvPr>
          <p:cNvGrpSpPr/>
          <p:nvPr/>
        </p:nvGrpSpPr>
        <p:grpSpPr>
          <a:xfrm>
            <a:off x="5519432" y="1148893"/>
            <a:ext cx="2255864" cy="360000"/>
            <a:chOff x="82196" y="115421"/>
            <a:chExt cx="2255864" cy="360000"/>
          </a:xfrm>
        </p:grpSpPr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74CD4B81-1E1F-2FBC-1A33-CD57B326352F}"/>
                </a:ext>
              </a:extLst>
            </p:cNvPr>
            <p:cNvSpPr/>
            <p:nvPr/>
          </p:nvSpPr>
          <p:spPr>
            <a:xfrm>
              <a:off x="82196" y="115421"/>
              <a:ext cx="2255864" cy="360000"/>
            </a:xfrm>
            <a:prstGeom prst="roundRect">
              <a:avLst/>
            </a:prstGeom>
            <a:ln w="25400">
              <a:solidFill>
                <a:schemeClr val="accent3"/>
              </a:solidFill>
            </a:ln>
            <a:effectLst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tIns="0" rIns="0" rtlCol="0" anchor="b"/>
            <a:lstStyle/>
            <a:p>
              <a:pPr marL="53340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by right context   </a:t>
              </a:r>
              <a:r>
                <a:rPr kumimoji="0" lang="en-US" sz="1600" b="0" i="0" u="none" strike="noStrike" kern="1200" cap="none" spc="0" normalizeH="0" baseline="30000" noProof="0">
                  <a:ln>
                    <a:noFill/>
                  </a:ln>
                  <a:solidFill>
                    <a:srgbClr val="C0D7A1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+mn-ea"/>
                  <a:cs typeface="Consolas" panose="020B0609020204030204" pitchFamily="49" charset="0"/>
                </a:rPr>
                <a:t>❎</a:t>
              </a:r>
              <a:endParaRPr kumimoji="0" lang="en-US" sz="1800" b="0" i="0" u="none" strike="noStrike" kern="1200" cap="none" spc="0" normalizeH="0" baseline="30000" noProof="0">
                <a:ln>
                  <a:noFill/>
                </a:ln>
                <a:solidFill>
                  <a:srgbClr val="C0D7A1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Consolas" panose="020B0609020204030204" pitchFamily="49" charset="0"/>
              </a:endParaRPr>
            </a:p>
          </p:txBody>
        </p:sp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78E7AAD3-52BE-6233-226C-8811E1C58DE9}"/>
                </a:ext>
              </a:extLst>
            </p:cNvPr>
            <p:cNvSpPr/>
            <p:nvPr/>
          </p:nvSpPr>
          <p:spPr>
            <a:xfrm>
              <a:off x="82196" y="115421"/>
              <a:ext cx="576000" cy="360000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Sort</a:t>
              </a:r>
            </a:p>
          </p:txBody>
        </p:sp>
      </p:grp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677DA39B-9CDB-7BB7-F47E-40F1CD3D2E9B}"/>
              </a:ext>
            </a:extLst>
          </p:cNvPr>
          <p:cNvSpPr/>
          <p:nvPr/>
        </p:nvSpPr>
        <p:spPr>
          <a:xfrm>
            <a:off x="10644048" y="1672448"/>
            <a:ext cx="1322152" cy="360000"/>
          </a:xfrm>
          <a:prstGeom prst="roundRect">
            <a:avLst/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🎔 Bookmark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5764064-1C51-512E-5A8C-19890A5E738A}"/>
              </a:ext>
            </a:extLst>
          </p:cNvPr>
          <p:cNvSpPr/>
          <p:nvPr/>
        </p:nvSpPr>
        <p:spPr>
          <a:xfrm>
            <a:off x="8836400" y="6450518"/>
            <a:ext cx="3129800" cy="253561"/>
          </a:xfrm>
          <a:prstGeom prst="roundRect">
            <a:avLst>
              <a:gd name="adj" fmla="val 50000"/>
            </a:avLst>
          </a:prstGeom>
          <a:ln>
            <a:noFill/>
          </a:ln>
          <a:effectLst>
            <a:innerShdw blurRad="50800" dist="25400" dir="15000000">
              <a:prstClr val="black">
                <a:alpha val="50000"/>
              </a:prstClr>
            </a:inn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images do not represent actual gameplay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068142B-DC05-140B-2E2A-192D4EDE582A}"/>
              </a:ext>
            </a:extLst>
          </p:cNvPr>
          <p:cNvGrpSpPr/>
          <p:nvPr/>
        </p:nvGrpSpPr>
        <p:grpSpPr>
          <a:xfrm>
            <a:off x="1411815" y="1194875"/>
            <a:ext cx="2553731" cy="379514"/>
            <a:chOff x="1632111" y="1009699"/>
            <a:chExt cx="2553731" cy="379514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0AEFCCC4-0BB5-3C96-DE68-2C6FC2190D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32111" y="1225064"/>
              <a:ext cx="457200" cy="164149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7F78421-2445-AD3F-58B5-D1D885E19644}"/>
                </a:ext>
              </a:extLst>
            </p:cNvPr>
            <p:cNvSpPr txBox="1"/>
            <p:nvPr/>
          </p:nvSpPr>
          <p:spPr>
            <a:xfrm>
              <a:off x="2056452" y="1009699"/>
              <a:ext cx="2129390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arrangement node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A7D0AA8-5A6C-4B4C-295F-7DF0D45D36E6}"/>
              </a:ext>
            </a:extLst>
          </p:cNvPr>
          <p:cNvGrpSpPr/>
          <p:nvPr/>
        </p:nvGrpSpPr>
        <p:grpSpPr>
          <a:xfrm>
            <a:off x="282959" y="537344"/>
            <a:ext cx="1435608" cy="664488"/>
            <a:chOff x="282959" y="537344"/>
            <a:chExt cx="1435608" cy="664488"/>
          </a:xfrm>
        </p:grpSpPr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0E46C79-34E6-F787-47A0-EA105C85BC71}"/>
                </a:ext>
              </a:extLst>
            </p:cNvPr>
            <p:cNvCxnSpPr>
              <a:cxnSpLocks/>
              <a:stCxn id="27" idx="2"/>
            </p:cNvCxnSpPr>
            <p:nvPr/>
          </p:nvCxnSpPr>
          <p:spPr>
            <a:xfrm>
              <a:off x="1000763" y="845121"/>
              <a:ext cx="186569" cy="356711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4B2A203-05A0-112F-FD3A-0AD06E298178}"/>
                </a:ext>
              </a:extLst>
            </p:cNvPr>
            <p:cNvSpPr txBox="1"/>
            <p:nvPr/>
          </p:nvSpPr>
          <p:spPr>
            <a:xfrm>
              <a:off x="282959" y="537344"/>
              <a:ext cx="1435608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root node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DBE35E5-F3E7-BD12-8C09-73B959A91953}"/>
              </a:ext>
            </a:extLst>
          </p:cNvPr>
          <p:cNvGrpSpPr/>
          <p:nvPr/>
        </p:nvGrpSpPr>
        <p:grpSpPr>
          <a:xfrm>
            <a:off x="2261419" y="1927123"/>
            <a:ext cx="1619370" cy="490001"/>
            <a:chOff x="2040210" y="822559"/>
            <a:chExt cx="1619370" cy="490001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EF2B8E0D-B26A-DA5D-7D54-A9A2D2256E1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40210" y="822559"/>
              <a:ext cx="275304" cy="245806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D375DA6-EE1A-3B0B-8B1D-03B23B8CD8A7}"/>
                </a:ext>
              </a:extLst>
            </p:cNvPr>
            <p:cNvSpPr txBox="1"/>
            <p:nvPr/>
          </p:nvSpPr>
          <p:spPr>
            <a:xfrm>
              <a:off x="2092118" y="1004783"/>
              <a:ext cx="1567462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subset node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1BDEE571-34C7-34EB-8693-5AC99538EF56}"/>
              </a:ext>
            </a:extLst>
          </p:cNvPr>
          <p:cNvSpPr txBox="1"/>
          <p:nvPr/>
        </p:nvSpPr>
        <p:spPr>
          <a:xfrm rot="16200000">
            <a:off x="-332544" y="2241719"/>
            <a:ext cx="1080114" cy="307777"/>
          </a:xfrm>
          <a:prstGeom prst="rect">
            <a:avLst/>
          </a:prstGeom>
          <a:noFill/>
        </p:spPr>
        <p:txBody>
          <a:bodyPr wrap="square" lIns="72000" tIns="0" rIns="7200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srgbClr val="F4AAB9">
                    <a:lumMod val="50000"/>
                  </a:srgbClr>
                </a:solidFill>
                <a:effectLst>
                  <a:outerShdw blurRad="76200" algn="ctr" rotWithShape="0">
                    <a:srgbClr val="FFFFFF"/>
                  </a:outerShdw>
                </a:effectLst>
                <a:uLnTx/>
                <a:uFillTx/>
                <a:latin typeface="Calibri"/>
                <a:ea typeface="+mn-ea"/>
                <a:cs typeface="+mn-cs"/>
              </a:rPr>
              <a:t>siblings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4CEC75D-444F-3FAA-E6E0-2BD729A9003A}"/>
              </a:ext>
            </a:extLst>
          </p:cNvPr>
          <p:cNvGrpSpPr/>
          <p:nvPr/>
        </p:nvGrpSpPr>
        <p:grpSpPr>
          <a:xfrm>
            <a:off x="2746429" y="3115944"/>
            <a:ext cx="1065610" cy="501533"/>
            <a:chOff x="2398861" y="820083"/>
            <a:chExt cx="1065610" cy="501533"/>
          </a:xfrm>
        </p:grpSpPr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CA37A974-F20F-21B0-E54B-B30BACA4BEC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98861" y="820083"/>
              <a:ext cx="283140" cy="228159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6AC46A8-5A0F-4F20-0520-A4B72F53A6C2}"/>
                </a:ext>
              </a:extLst>
            </p:cNvPr>
            <p:cNvSpPr txBox="1"/>
            <p:nvPr/>
          </p:nvSpPr>
          <p:spPr>
            <a:xfrm>
              <a:off x="2553283" y="1013839"/>
              <a:ext cx="911188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subset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B783E47-3C3C-535B-0510-641DD764E35C}"/>
              </a:ext>
            </a:extLst>
          </p:cNvPr>
          <p:cNvGrpSpPr/>
          <p:nvPr/>
        </p:nvGrpSpPr>
        <p:grpSpPr>
          <a:xfrm>
            <a:off x="2087690" y="3899721"/>
            <a:ext cx="1528875" cy="868099"/>
            <a:chOff x="2726113" y="-661552"/>
            <a:chExt cx="1528875" cy="868099"/>
          </a:xfrm>
        </p:grpSpPr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C187FF91-B540-B87B-5FCC-542BD2BCE9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67992" y="-661552"/>
              <a:ext cx="293499" cy="567958"/>
            </a:xfrm>
            <a:prstGeom prst="straightConnector1">
              <a:avLst/>
            </a:prstGeom>
            <a:ln w="3175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4715A57-1A16-DE1E-A593-D967BD8007C6}"/>
                </a:ext>
              </a:extLst>
            </p:cNvPr>
            <p:cNvSpPr txBox="1"/>
            <p:nvPr/>
          </p:nvSpPr>
          <p:spPr>
            <a:xfrm>
              <a:off x="2726113" y="-101230"/>
              <a:ext cx="1528875" cy="307777"/>
            </a:xfrm>
            <a:prstGeom prst="rect">
              <a:avLst/>
            </a:prstGeom>
            <a:noFill/>
          </p:spPr>
          <p:txBody>
            <a:bodyPr wrap="square" lIns="72000" tIns="0" rIns="72000" bIns="0" rtlCol="0" anchor="ctr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F4AAB9">
                      <a:lumMod val="50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bookmark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25307A1C-8455-2DC5-E463-C3F0D6A8FAE7}"/>
              </a:ext>
            </a:extLst>
          </p:cNvPr>
          <p:cNvGrpSpPr/>
          <p:nvPr/>
        </p:nvGrpSpPr>
        <p:grpSpPr>
          <a:xfrm>
            <a:off x="196150" y="1399782"/>
            <a:ext cx="808465" cy="2259934"/>
            <a:chOff x="8901" y="1413808"/>
            <a:chExt cx="808465" cy="2259934"/>
          </a:xfrm>
        </p:grpSpPr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58576251-2C9F-83CD-C425-62D97947CCCF}"/>
                </a:ext>
              </a:extLst>
            </p:cNvPr>
            <p:cNvSpPr/>
            <p:nvPr/>
          </p:nvSpPr>
          <p:spPr>
            <a:xfrm>
              <a:off x="8901" y="1682891"/>
              <a:ext cx="278355" cy="278355"/>
            </a:xfrm>
            <a:prstGeom prst="ellipse">
              <a:avLst/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04DEC500-23E9-AEF8-5D56-7C6A7FE9F60F}"/>
                </a:ext>
              </a:extLst>
            </p:cNvPr>
            <p:cNvSpPr/>
            <p:nvPr/>
          </p:nvSpPr>
          <p:spPr>
            <a:xfrm>
              <a:off x="361391" y="2895550"/>
              <a:ext cx="278356" cy="278355"/>
            </a:xfrm>
            <a:prstGeom prst="ellipse">
              <a:avLst/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5" name="Diamond 44">
              <a:extLst>
                <a:ext uri="{FF2B5EF4-FFF2-40B4-BE49-F238E27FC236}">
                  <a16:creationId xmlns:a16="http://schemas.microsoft.com/office/drawing/2014/main" id="{F4B6ED76-08C4-1484-183E-E7B24051E08A}"/>
                </a:ext>
              </a:extLst>
            </p:cNvPr>
            <p:cNvSpPr/>
            <p:nvPr/>
          </p:nvSpPr>
          <p:spPr>
            <a:xfrm>
              <a:off x="539011" y="3395387"/>
              <a:ext cx="278355" cy="278355"/>
            </a:xfrm>
            <a:prstGeom prst="diamond">
              <a:avLst/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C423DFE3-E53C-43A9-BBF1-9BECB47E0C4F}"/>
                </a:ext>
              </a:extLst>
            </p:cNvPr>
            <p:cNvCxnSpPr>
              <a:cxnSpLocks/>
            </p:cNvCxnSpPr>
            <p:nvPr/>
          </p:nvCxnSpPr>
          <p:spPr>
            <a:xfrm>
              <a:off x="144996" y="1413808"/>
              <a:ext cx="0" cy="252000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7" name="Elbow Connector 46">
              <a:extLst>
                <a:ext uri="{FF2B5EF4-FFF2-40B4-BE49-F238E27FC236}">
                  <a16:creationId xmlns:a16="http://schemas.microsoft.com/office/drawing/2014/main" id="{E6A06DAD-E188-58C9-627B-7D0BB92949E7}"/>
                </a:ext>
              </a:extLst>
            </p:cNvPr>
            <p:cNvCxnSpPr>
              <a:cxnSpLocks/>
              <a:stCxn id="43" idx="6"/>
              <a:endCxn id="44" idx="0"/>
            </p:cNvCxnSpPr>
            <p:nvPr/>
          </p:nvCxnSpPr>
          <p:spPr>
            <a:xfrm>
              <a:off x="287256" y="1822069"/>
              <a:ext cx="213313" cy="1073481"/>
            </a:xfrm>
            <a:prstGeom prst="bentConnector2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8" name="Elbow Connector 47">
              <a:extLst>
                <a:ext uri="{FF2B5EF4-FFF2-40B4-BE49-F238E27FC236}">
                  <a16:creationId xmlns:a16="http://schemas.microsoft.com/office/drawing/2014/main" id="{9DA93F2A-F0CF-9781-9723-808AB612260A}"/>
                </a:ext>
              </a:extLst>
            </p:cNvPr>
            <p:cNvCxnSpPr>
              <a:cxnSpLocks/>
              <a:stCxn id="44" idx="6"/>
              <a:endCxn id="45" idx="0"/>
            </p:cNvCxnSpPr>
            <p:nvPr/>
          </p:nvCxnSpPr>
          <p:spPr>
            <a:xfrm>
              <a:off x="639747" y="3034728"/>
              <a:ext cx="38442" cy="360659"/>
            </a:xfrm>
            <a:prstGeom prst="bentConnector2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ED179E21-7A73-D0F3-BE46-08B72E9CD813}"/>
              </a:ext>
            </a:extLst>
          </p:cNvPr>
          <p:cNvGrpSpPr/>
          <p:nvPr/>
        </p:nvGrpSpPr>
        <p:grpSpPr>
          <a:xfrm>
            <a:off x="78311" y="3698122"/>
            <a:ext cx="1423656" cy="1313413"/>
            <a:chOff x="2013543" y="-705445"/>
            <a:chExt cx="1423656" cy="1313413"/>
          </a:xfrm>
        </p:grpSpPr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2E51CD4E-70F7-67BA-5A09-98DE046BFF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09737" y="-705445"/>
              <a:ext cx="213313" cy="697860"/>
            </a:xfrm>
            <a:prstGeom prst="straightConnector1">
              <a:avLst/>
            </a:prstGeom>
            <a:ln w="31750" cap="flat" cmpd="sng" algn="ctr">
              <a:solidFill>
                <a:schemeClr val="accent6">
                  <a:lumMod val="75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2C57F70-7852-EF79-FB1E-C631E1AC062A}"/>
                </a:ext>
              </a:extLst>
            </p:cNvPr>
            <p:cNvSpPr txBox="1"/>
            <p:nvPr/>
          </p:nvSpPr>
          <p:spPr>
            <a:xfrm>
              <a:off x="2013543" y="-7585"/>
              <a:ext cx="1423656" cy="615553"/>
            </a:xfrm>
            <a:prstGeom prst="rect">
              <a:avLst/>
            </a:prstGeom>
            <a:noFill/>
          </p:spPr>
          <p:txBody>
            <a:bodyPr wrap="square" lIns="72000" tIns="0" rIns="7200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65CBB9">
                      <a:lumMod val="75000"/>
                    </a:srgbClr>
                  </a:solidFill>
                  <a:effectLst>
                    <a:outerShdw blurRad="76200" algn="ctr" rotWithShape="0">
                      <a:srgbClr val="FFFFFF"/>
                    </a:outerShdw>
                  </a:effectLst>
                  <a:uLnTx/>
                  <a:uFillTx/>
                  <a:latin typeface="Calibri"/>
                  <a:ea typeface="+mn-ea"/>
                  <a:cs typeface="+mn-cs"/>
                </a:rPr>
                <a:t>path from root node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92129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7F8F5-451A-67C1-FE98-1E4BFFA2B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DAEFD-5D3C-ABBF-9FDD-BFF6E80A2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 A mathematical model of organising conc.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EF70E3-93EB-DE03-02A5-6CC7E7E50D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Concordance reading =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analysis tree</a:t>
            </a:r>
            <a:r>
              <a:rPr lang="en-US"/>
              <a:t> consisting of </a:t>
            </a: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subset</a:t>
            </a:r>
            <a:r>
              <a:rPr lang="en-US"/>
              <a:t> nodes</a:t>
            </a:r>
            <a:br>
              <a:rPr lang="en-US"/>
            </a:br>
            <a:r>
              <a:rPr lang="en-US"/>
              <a:t>and </a:t>
            </a: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arrangement</a:t>
            </a:r>
            <a:r>
              <a:rPr lang="en-US"/>
              <a:t> nodes</a:t>
            </a:r>
          </a:p>
          <a:p>
            <a:pPr lvl="1"/>
            <a:r>
              <a:rPr lang="en-US"/>
              <a:t>subset nodes form the structure of the tree </a:t>
            </a:r>
            <a:r>
              <a:rPr lang="en-US">
                <a:sym typeface="Wingdings" pitchFamily="2" charset="2"/>
              </a:rPr>
              <a:t>➞ focus on part of conc.</a:t>
            </a:r>
          </a:p>
          <a:p>
            <a:pPr lvl="1"/>
            <a:r>
              <a:rPr lang="en-US"/>
              <a:t>arrangement nodes = alternative views of the same subset (</a:t>
            </a:r>
            <a:r>
              <a:rPr lang="en-US">
                <a:sym typeface="Wingdings" pitchFamily="2" charset="2"/>
              </a:rPr>
              <a:t>➞ </a:t>
            </a:r>
            <a:r>
              <a:rPr lang="en-US"/>
              <a:t>parent)</a:t>
            </a:r>
          </a:p>
          <a:p>
            <a:pPr lvl="1"/>
            <a:r>
              <a:rPr lang="en-US"/>
              <a:t>arrangement nodes are siblings, subset nodes can be children of either kind</a:t>
            </a:r>
          </a:p>
          <a:p>
            <a:pPr lvl="1"/>
            <a:r>
              <a:rPr lang="en-US"/>
              <a:t>root node = subset node corresponding to full concordance</a:t>
            </a:r>
          </a:p>
          <a:p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Subset</a:t>
            </a:r>
            <a:r>
              <a:rPr lang="en-US"/>
              <a:t> node = Selecting algorithm with parameters</a:t>
            </a:r>
          </a:p>
          <a:p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Arrangement</a:t>
            </a:r>
            <a:r>
              <a:rPr lang="en-US"/>
              <a:t> node = ≤ 1 Grouping algorithm with parameters</a:t>
            </a:r>
            <a:br>
              <a:rPr lang="en-US"/>
            </a:br>
            <a:r>
              <a:rPr lang="en-US"/>
              <a:t>+ sequence of Ordering algorithms with parameters</a:t>
            </a:r>
          </a:p>
          <a:p>
            <a:pPr lvl="1"/>
            <a:r>
              <a:rPr lang="en-US"/>
              <a:t>each arrangement node completely overwrites any prior arrangement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1D0C9F-BA67-2C02-7675-CC87D8535F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24 Sep 2026 | © RC21 Team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990E6-2D95-A2D8-F7D7-830EF1823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C377FB-B823-5D4B-998E-28D98F36F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45097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 dir="r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3A6FF-3294-B993-71B1-C6CE95267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656D6-77BF-C4C3-B1A6-2269BD7DC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Concordance 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F37A8-EAE7-9551-76AD-648D43071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Each node in the analysis tree represents a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concordance view</a:t>
            </a:r>
            <a:r>
              <a:rPr lang="en-US"/>
              <a:t>,</a:t>
            </a:r>
            <a:br>
              <a:rPr lang="en-US"/>
            </a:br>
            <a:r>
              <a:rPr lang="en-US"/>
              <a:t>i.e. an arrangement of a subset of the concordance</a:t>
            </a:r>
          </a:p>
          <a:p>
            <a:r>
              <a:rPr lang="en-US"/>
              <a:t>Identifies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subset</a:t>
            </a:r>
            <a:r>
              <a:rPr lang="en-US"/>
              <a:t> +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ordering</a:t>
            </a:r>
            <a:r>
              <a:rPr lang="en-US"/>
              <a:t> of conc. lines via </a:t>
            </a: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line №</a:t>
            </a:r>
            <a:r>
              <a:rPr lang="en-US"/>
              <a:t> as unique ID</a:t>
            </a:r>
          </a:p>
          <a:p>
            <a:r>
              <a:rPr lang="en-US"/>
              <a:t>With Grouping algorithm: list of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sets</a:t>
            </a:r>
            <a:r>
              <a:rPr lang="en-US"/>
              <a:t> of conc lines specified by line №</a:t>
            </a:r>
          </a:p>
          <a:p>
            <a:pPr lvl="1"/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Partitioning: </a:t>
            </a:r>
            <a:r>
              <a:rPr lang="en-US"/>
              <a:t>ordering of the sets (≠ ordering of lines) </a:t>
            </a:r>
          </a:p>
          <a:p>
            <a:pPr lvl="1"/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Grouping: </a:t>
            </a:r>
            <a:r>
              <a:rPr lang="en-US"/>
              <a:t>ordered tree of the sets + prototypical examples for each set</a:t>
            </a:r>
          </a:p>
          <a:p>
            <a:r>
              <a:rPr lang="en-US"/>
              <a:t>Optional: supplementary information on concordance lines, sets, and relevant token spans returned by algorithms</a:t>
            </a:r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E0666A-EF1F-A3A0-E100-C9CF19DE8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24 Sep 2026 | © RC21 Team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E65FD1-9ACA-256E-CFC1-9DC2E2E84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112B48-ABA4-CC83-8699-D2BD36CF9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74870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4B915-3650-7D23-4989-0B1D1CAF0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295D8-7293-A0D6-B94B-2E33A6A01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Formalising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07DD43-C395-44DC-E37C-E957CDF12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1" y="1388794"/>
            <a:ext cx="11543837" cy="4787075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Application of an algorithm is conceptualised mathematically as annotation of concordance lines:</a:t>
            </a:r>
          </a:p>
          <a:p>
            <a:r>
              <a:rPr lang="en-US"/>
              <a:t>Selecting = annotation of a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Boolean variable</a:t>
            </a:r>
          </a:p>
          <a:p>
            <a:r>
              <a:rPr lang="en-US"/>
              <a:t>Sorting = annotation of an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integer variable </a:t>
            </a:r>
            <a:r>
              <a:rPr lang="en-US"/>
              <a:t>(surrogate keys)</a:t>
            </a:r>
          </a:p>
          <a:p>
            <a:r>
              <a:rPr lang="en-US"/>
              <a:t>Ordering = annotation of a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floating-point variable </a:t>
            </a:r>
            <a:r>
              <a:rPr lang="en-US"/>
              <a:t>(preference scores)</a:t>
            </a:r>
          </a:p>
          <a:p>
            <a:r>
              <a:rPr lang="en-US"/>
              <a:t>Partitioning = annotation of a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categorical variable </a:t>
            </a:r>
            <a:r>
              <a:rPr lang="en-US"/>
              <a:t>(set membership)</a:t>
            </a:r>
          </a:p>
          <a:p>
            <a:r>
              <a:rPr lang="en-US"/>
              <a:t>Clustering = annotation of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ordered tree</a:t>
            </a:r>
            <a:r>
              <a:rPr lang="en-US"/>
              <a:t> of subsets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➞ </a:t>
            </a: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concordance view </a:t>
            </a:r>
            <a:r>
              <a:rPr lang="en-US"/>
              <a:t>derived from annotations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59EBD5-9E28-94C5-BD94-44C229B2A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24 Sep 2026 | © RC21 Team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72F52F-A42C-330E-FE5F-FC3DE6ED5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CD1E7-2972-23D1-6C1B-D711BCDF9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32122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BCD4A-C7B0-7ACF-2252-6F6FF3631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Strategy 1: Selecting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6278EA-A0C0-0027-7AA9-61F167C01A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4"/>
            <a:ext cx="11583166" cy="4787075"/>
          </a:xfrm>
        </p:spPr>
        <p:txBody>
          <a:bodyPr/>
          <a:lstStyle/>
          <a:p>
            <a:pPr marL="0" indent="0">
              <a:buNone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Selecting</a:t>
            </a:r>
            <a:r>
              <a:rPr lang="en-US"/>
              <a:t> = add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Boolean variable </a:t>
            </a:r>
            <a:r>
              <a:rPr lang="en-US"/>
              <a:t>to lines</a:t>
            </a:r>
          </a:p>
          <a:p>
            <a:pPr lvl="1"/>
            <a:r>
              <a:rPr lang="en-US"/>
              <a:t>keep concordance line if value is True</a:t>
            </a:r>
          </a:p>
          <a:p>
            <a:pPr lvl="1"/>
            <a:r>
              <a:rPr lang="en-US"/>
              <a:t>exclude selected lines by logical negation of variable (all algorithms)</a:t>
            </a:r>
          </a:p>
          <a:p>
            <a:pPr lvl="3"/>
            <a:endParaRPr lang="en-US"/>
          </a:p>
          <a:p>
            <a:pPr marL="0" indent="0">
              <a:buNone/>
            </a:pPr>
            <a:r>
              <a:rPr lang="en-US"/>
              <a:t>Examples</a:t>
            </a:r>
          </a:p>
          <a:p>
            <a:r>
              <a:rPr lang="en-US"/>
              <a:t>selection based on metadata categories or numerical ranges</a:t>
            </a:r>
          </a:p>
          <a:p>
            <a:r>
              <a:rPr lang="en-US"/>
              <a:t>select random subset (reproducible, stratified, …)</a:t>
            </a:r>
          </a:p>
          <a:p>
            <a:r>
              <a:rPr lang="en-US"/>
              <a:t>KWIC filter (lines containing certain words, lemmas, POS tags, …)</a:t>
            </a:r>
          </a:p>
          <a:p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manual selection of individual concordance lines (will get back to this)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3D376E-7BA5-B7A5-C971-A9981413F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24 Sep 2026 | © RC21 Team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CC0E6A-C541-57FA-0ABF-06E8B064D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D8C711-FAAD-A552-EF0F-52FF01072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28</a:t>
            </a:fld>
            <a:endParaRPr lang="en-GB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7BAC95-FC91-522B-9E28-69AB5208F1D4}"/>
              </a:ext>
            </a:extLst>
          </p:cNvPr>
          <p:cNvGrpSpPr/>
          <p:nvPr/>
        </p:nvGrpSpPr>
        <p:grpSpPr>
          <a:xfrm>
            <a:off x="8892208" y="229976"/>
            <a:ext cx="3147391" cy="1969886"/>
            <a:chOff x="8892208" y="229976"/>
            <a:chExt cx="3147391" cy="1969886"/>
          </a:xfrm>
        </p:grpSpPr>
        <p:pic>
          <p:nvPicPr>
            <p:cNvPr id="9" name="Picture 8" descr="A black screen with a white border&#10;&#10;Description automatically generated">
              <a:extLst>
                <a:ext uri="{FF2B5EF4-FFF2-40B4-BE49-F238E27FC236}">
                  <a16:creationId xmlns:a16="http://schemas.microsoft.com/office/drawing/2014/main" id="{7CC496DA-646F-D68C-2BC4-F2AAB09394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92208" y="229976"/>
              <a:ext cx="3147391" cy="1969886"/>
            </a:xfrm>
            <a:prstGeom prst="rect">
              <a:avLst/>
            </a:prstGeom>
          </p:spPr>
        </p:pic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20A956F-C3BC-F361-DD4A-C7EF3A307F38}"/>
                </a:ext>
              </a:extLst>
            </p:cNvPr>
            <p:cNvGrpSpPr/>
            <p:nvPr/>
          </p:nvGrpSpPr>
          <p:grpSpPr>
            <a:xfrm>
              <a:off x="9240748" y="429003"/>
              <a:ext cx="2461260" cy="686474"/>
              <a:chOff x="9220200" y="438576"/>
              <a:chExt cx="2895600" cy="858092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6E9DF473-E250-1CDA-1B10-43AE9B39D75B}"/>
                  </a:ext>
                </a:extLst>
              </p:cNvPr>
              <p:cNvGrpSpPr/>
              <p:nvPr/>
            </p:nvGrpSpPr>
            <p:grpSpPr>
              <a:xfrm>
                <a:off x="9220200" y="438576"/>
                <a:ext cx="2895600" cy="75692"/>
                <a:chOff x="4639673" y="1649035"/>
                <a:chExt cx="2895600" cy="75692"/>
              </a:xfrm>
            </p:grpSpPr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0602E7A3-44BE-A18C-5D88-BEF169B8D7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ln w="38100">
                  <a:solidFill>
                    <a:srgbClr val="F8AABA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DB75CFFE-2B88-19D9-B3F0-B0781D030A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ln w="38100">
                  <a:solidFill>
                    <a:srgbClr val="F8AABA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A80D44E8-3878-4C93-A6F2-BB3C056AC1CC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F1E0248A-7792-254A-E6C4-6AA2444D76B7}"/>
                  </a:ext>
                </a:extLst>
              </p:cNvPr>
              <p:cNvGrpSpPr/>
              <p:nvPr/>
            </p:nvGrpSpPr>
            <p:grpSpPr>
              <a:xfrm>
                <a:off x="9220200" y="595056"/>
                <a:ext cx="2895600" cy="75692"/>
                <a:chOff x="4639673" y="1649035"/>
                <a:chExt cx="2895600" cy="75692"/>
              </a:xfrm>
              <a:solidFill>
                <a:srgbClr val="CC0066"/>
              </a:solidFill>
            </p:grpSpPr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DAC16DE9-3AAA-0AF5-298A-421937C56A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CC00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A3127D36-78B4-BB71-AA12-009A4902CC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CC00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3E689B-A615-4CDE-6CA3-D004794B5960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rgbClr val="CC006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48D6C92B-056C-F39F-3088-9803F1AD612B}"/>
                  </a:ext>
                </a:extLst>
              </p:cNvPr>
              <p:cNvGrpSpPr/>
              <p:nvPr/>
            </p:nvGrpSpPr>
            <p:grpSpPr>
              <a:xfrm>
                <a:off x="9220200" y="751536"/>
                <a:ext cx="2895600" cy="75692"/>
                <a:chOff x="4639673" y="1649035"/>
                <a:chExt cx="2895600" cy="75692"/>
              </a:xfrm>
              <a:solidFill>
                <a:srgbClr val="FF3399"/>
              </a:solidFill>
            </p:grpSpPr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02C503D5-6AD6-0169-C966-6103324CC9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339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90A4C3DA-47EA-DE0A-FF80-B61D2E6826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339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0445D573-82A2-B036-8AD7-FA03E2DB61E2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rgbClr val="FF3399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CB1F73B7-CB26-68B8-6E24-18A0F1678922}"/>
                  </a:ext>
                </a:extLst>
              </p:cNvPr>
              <p:cNvGrpSpPr/>
              <p:nvPr/>
            </p:nvGrpSpPr>
            <p:grpSpPr>
              <a:xfrm>
                <a:off x="9220200" y="908016"/>
                <a:ext cx="2895600" cy="75692"/>
                <a:chOff x="4639673" y="1649035"/>
                <a:chExt cx="2895600" cy="75692"/>
              </a:xfrm>
              <a:solidFill>
                <a:srgbClr val="FF33CC"/>
              </a:solidFill>
            </p:grpSpPr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E950F5F1-67DB-0E21-8353-171783564B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33C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98E4934E-96FE-855F-34D5-76E10BCB6C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33C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5FA343E0-39A3-E5C2-91B3-CA9F403D9037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rgbClr val="FF33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D1D11298-5C97-5795-AF35-17B919925427}"/>
                  </a:ext>
                </a:extLst>
              </p:cNvPr>
              <p:cNvGrpSpPr/>
              <p:nvPr/>
            </p:nvGrpSpPr>
            <p:grpSpPr>
              <a:xfrm>
                <a:off x="9220200" y="1064496"/>
                <a:ext cx="2895600" cy="75692"/>
                <a:chOff x="4639673" y="1649035"/>
                <a:chExt cx="2895600" cy="75692"/>
              </a:xfrm>
              <a:solidFill>
                <a:srgbClr val="FBD4DC"/>
              </a:solidFill>
            </p:grpSpPr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F7E771C1-DC14-BE9D-C071-DA65C00C03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BD4D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796C3F36-C2FD-07BE-E809-F2E39258F7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BD4D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09CAFFD7-DA58-BE49-073B-D17916E8E395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rgbClr val="FBD4D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33F5C130-C193-F19F-C07D-9B8155312A01}"/>
                  </a:ext>
                </a:extLst>
              </p:cNvPr>
              <p:cNvGrpSpPr/>
              <p:nvPr/>
            </p:nvGrpSpPr>
            <p:grpSpPr>
              <a:xfrm>
                <a:off x="9220200" y="1220976"/>
                <a:ext cx="2895600" cy="75692"/>
                <a:chOff x="4639673" y="1649035"/>
                <a:chExt cx="2895600" cy="75692"/>
              </a:xfrm>
              <a:solidFill>
                <a:schemeClr val="accent2">
                  <a:lumMod val="50000"/>
                </a:schemeClr>
              </a:solidFill>
            </p:grpSpPr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992239B8-05D4-7D76-AE3B-D26E5514FB8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9D25CF2A-ECB4-9BC7-7DC3-AB6B4C1271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2146CEED-F465-9867-E0DB-471EF55DAC95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6847656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BCD4A-C7B0-7ACF-2252-6F6FF3631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Strategy 2: Sorting [Ordering]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6278EA-A0C0-0027-7AA9-61F167C01A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4"/>
            <a:ext cx="11426616" cy="5010032"/>
          </a:xfrm>
        </p:spPr>
        <p:txBody>
          <a:bodyPr/>
          <a:lstStyle/>
          <a:p>
            <a:pPr marL="0" indent="0">
              <a:buNone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Sorting</a:t>
            </a:r>
            <a:r>
              <a:rPr lang="en-US"/>
              <a:t> = add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integer variable</a:t>
            </a:r>
            <a:r>
              <a:rPr lang="en-US"/>
              <a:t> with sort keys</a:t>
            </a:r>
          </a:p>
          <a:p>
            <a:pPr lvl="1"/>
            <a:r>
              <a:rPr lang="en-US"/>
              <a:t>pairwise comparison of lines (A &lt; B, A = B, A &gt; B)</a:t>
            </a:r>
          </a:p>
          <a:p>
            <a:pPr lvl="1"/>
            <a:r>
              <a:rPr lang="en-US"/>
              <a:t>resulting sort order ➞ integers as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surrogate keys </a:t>
            </a:r>
            <a:r>
              <a:rPr lang="en-US"/>
              <a:t>(A &lt; B, A = B, A &gt; B)</a:t>
            </a:r>
          </a:p>
          <a:p>
            <a:pPr lvl="1"/>
            <a:r>
              <a:rPr lang="en-US"/>
              <a:t>ties (A = B) can be broken by additional </a:t>
            </a: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Sorting</a:t>
            </a:r>
            <a:r>
              <a:rPr lang="en-US"/>
              <a:t> or </a:t>
            </a: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Ranking</a:t>
            </a:r>
            <a:r>
              <a:rPr lang="en-US"/>
              <a:t> algorithms</a:t>
            </a:r>
          </a:p>
          <a:p>
            <a:pPr marL="1371600" lvl="3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Examples</a:t>
            </a:r>
          </a:p>
          <a:p>
            <a:r>
              <a:rPr lang="en-US"/>
              <a:t>sort alphabetically by left or right context</a:t>
            </a:r>
          </a:p>
          <a:p>
            <a:r>
              <a:rPr lang="en-US"/>
              <a:t>sort by POS tag of first (L1) or second (L2) token before node</a:t>
            </a:r>
          </a:p>
          <a:p>
            <a:r>
              <a:rPr lang="en-US"/>
              <a:t>sort by numerical (e.g. year) or categorical (e.g. author) metadata</a:t>
            </a:r>
          </a:p>
          <a:p>
            <a:r>
              <a:rPr lang="en-US"/>
              <a:t>random shuffling (reproducible)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3D376E-7BA5-B7A5-C971-A9981413F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24 Sep 2026 | © RC21 Team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CC0E6A-C541-57FA-0ABF-06E8B064D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D8C711-FAAD-A552-EF0F-52FF01072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29</a:t>
            </a:fld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120E832-CA31-DC37-E243-E9BCBEAB5BE7}"/>
              </a:ext>
            </a:extLst>
          </p:cNvPr>
          <p:cNvGrpSpPr/>
          <p:nvPr/>
        </p:nvGrpSpPr>
        <p:grpSpPr>
          <a:xfrm>
            <a:off x="8892208" y="229976"/>
            <a:ext cx="3147391" cy="1969886"/>
            <a:chOff x="8892208" y="229976"/>
            <a:chExt cx="3147391" cy="1969886"/>
          </a:xfrm>
        </p:grpSpPr>
        <p:pic>
          <p:nvPicPr>
            <p:cNvPr id="35" name="Picture 34" descr="A black screen with a white border&#10;&#10;Description automatically generated">
              <a:extLst>
                <a:ext uri="{FF2B5EF4-FFF2-40B4-BE49-F238E27FC236}">
                  <a16:creationId xmlns:a16="http://schemas.microsoft.com/office/drawing/2014/main" id="{AB3EA933-6049-5470-1F5E-83D33D8534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92208" y="229976"/>
              <a:ext cx="3147391" cy="1969886"/>
            </a:xfrm>
            <a:prstGeom prst="rect">
              <a:avLst/>
            </a:prstGeom>
          </p:spPr>
        </p:pic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00955D55-233C-D128-99BC-1844537F2B75}"/>
                </a:ext>
              </a:extLst>
            </p:cNvPr>
            <p:cNvGrpSpPr/>
            <p:nvPr/>
          </p:nvGrpSpPr>
          <p:grpSpPr>
            <a:xfrm>
              <a:off x="9240884" y="432461"/>
              <a:ext cx="2461260" cy="1304301"/>
              <a:chOff x="9220200" y="385676"/>
              <a:chExt cx="2895600" cy="1463484"/>
            </a:xfrm>
          </p:grpSpPr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89ADDDBE-2041-CD2D-9A6F-2C427B360875}"/>
                  </a:ext>
                </a:extLst>
              </p:cNvPr>
              <p:cNvGrpSpPr/>
              <p:nvPr/>
            </p:nvGrpSpPr>
            <p:grpSpPr>
              <a:xfrm>
                <a:off x="9220200" y="385676"/>
                <a:ext cx="2895600" cy="75692"/>
                <a:chOff x="4639673" y="1649035"/>
                <a:chExt cx="2895600" cy="75692"/>
              </a:xfrm>
              <a:solidFill>
                <a:schemeClr val="accent2">
                  <a:lumMod val="25000"/>
                </a:schemeClr>
              </a:solidFill>
            </p:grpSpPr>
            <p:cxnSp>
              <p:nvCxnSpPr>
                <p:cNvPr id="74" name="Straight Connector 73">
                  <a:extLst>
                    <a:ext uri="{FF2B5EF4-FFF2-40B4-BE49-F238E27FC236}">
                      <a16:creationId xmlns:a16="http://schemas.microsoft.com/office/drawing/2014/main" id="{8D96E953-FA2F-E5BD-AC0B-DED018914B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Straight Connector 74">
                  <a:extLst>
                    <a:ext uri="{FF2B5EF4-FFF2-40B4-BE49-F238E27FC236}">
                      <a16:creationId xmlns:a16="http://schemas.microsoft.com/office/drawing/2014/main" id="{7482AA8B-7FD7-8D38-450C-13C9E4FBFC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7E2A22F3-C6F2-C2E7-44B7-DE798A7F1F09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chemeClr val="accent2">
                      <a:lumMod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6A4962B3-F93D-2509-22C2-3320C67E84CC}"/>
                  </a:ext>
                </a:extLst>
              </p:cNvPr>
              <p:cNvGrpSpPr/>
              <p:nvPr/>
            </p:nvGrpSpPr>
            <p:grpSpPr>
              <a:xfrm>
                <a:off x="9220200" y="539875"/>
                <a:ext cx="2895600" cy="75692"/>
                <a:chOff x="4639673" y="1649035"/>
                <a:chExt cx="2895600" cy="75692"/>
              </a:xfrm>
              <a:solidFill>
                <a:schemeClr val="accent2">
                  <a:lumMod val="50000"/>
                </a:schemeClr>
              </a:solidFill>
            </p:grpSpPr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EE59C584-2475-B4F0-7BA8-F71B253378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D1B5707B-A76D-D23D-BA91-D8A2A001572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3" name="Oval 72">
                  <a:extLst>
                    <a:ext uri="{FF2B5EF4-FFF2-40B4-BE49-F238E27FC236}">
                      <a16:creationId xmlns:a16="http://schemas.microsoft.com/office/drawing/2014/main" id="{7AE71546-3E9B-8160-EF62-5828D5C05995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16EABAF6-005C-7E8A-E775-78FDD9BDBC85}"/>
                  </a:ext>
                </a:extLst>
              </p:cNvPr>
              <p:cNvGrpSpPr/>
              <p:nvPr/>
            </p:nvGrpSpPr>
            <p:grpSpPr>
              <a:xfrm>
                <a:off x="9220200" y="694074"/>
                <a:ext cx="2895600" cy="75692"/>
                <a:chOff x="4639673" y="1649035"/>
                <a:chExt cx="2895600" cy="75692"/>
              </a:xfrm>
              <a:solidFill>
                <a:srgbClr val="CC0066"/>
              </a:solidFill>
            </p:grpSpPr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E9B8C24C-083B-6878-E2FE-6154B363B3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CC00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DAB42866-61BE-D686-EF02-406EEE41DE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CC00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0" name="Oval 69">
                  <a:extLst>
                    <a:ext uri="{FF2B5EF4-FFF2-40B4-BE49-F238E27FC236}">
                      <a16:creationId xmlns:a16="http://schemas.microsoft.com/office/drawing/2014/main" id="{6209AAB3-19C9-77ED-CE4A-6AE615DCC91D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rgbClr val="CC006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CEEA9883-15CC-49B9-0935-AB8382F2DB86}"/>
                  </a:ext>
                </a:extLst>
              </p:cNvPr>
              <p:cNvGrpSpPr/>
              <p:nvPr/>
            </p:nvGrpSpPr>
            <p:grpSpPr>
              <a:xfrm>
                <a:off x="9220200" y="848273"/>
                <a:ext cx="2895600" cy="75692"/>
                <a:chOff x="4639673" y="1649035"/>
                <a:chExt cx="2895600" cy="75692"/>
              </a:xfrm>
              <a:solidFill>
                <a:srgbClr val="FF3399"/>
              </a:solidFill>
            </p:grpSpPr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5974BF92-5B9E-F17E-71BA-7BDA923300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339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A4E8279-DE7E-7BAE-3E76-B5CAD91452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339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A1941031-9926-8445-C338-20D598A4A328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rgbClr val="FF3399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BADE8A31-DDCC-38C9-CEEC-33AED8E95317}"/>
                  </a:ext>
                </a:extLst>
              </p:cNvPr>
              <p:cNvGrpSpPr/>
              <p:nvPr/>
            </p:nvGrpSpPr>
            <p:grpSpPr>
              <a:xfrm>
                <a:off x="9220200" y="1002472"/>
                <a:ext cx="2895600" cy="75692"/>
                <a:chOff x="4639673" y="1649035"/>
                <a:chExt cx="2895600" cy="75692"/>
              </a:xfrm>
              <a:solidFill>
                <a:srgbClr val="FF33CC"/>
              </a:solidFill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8F2775AC-5B76-6042-2516-D2C2830381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33C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1185523D-2868-E07B-7645-668D590431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33C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9ECF86E6-1E3B-27F0-7308-FCC5D256AE32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rgbClr val="FF33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DA1C0B71-E3AB-8BE7-3AF7-97AF99042C19}"/>
                  </a:ext>
                </a:extLst>
              </p:cNvPr>
              <p:cNvGrpSpPr/>
              <p:nvPr/>
            </p:nvGrpSpPr>
            <p:grpSpPr>
              <a:xfrm>
                <a:off x="9220200" y="1156671"/>
                <a:ext cx="2895600" cy="75692"/>
                <a:chOff x="4639673" y="1649035"/>
                <a:chExt cx="2895600" cy="75692"/>
              </a:xfrm>
              <a:solidFill>
                <a:srgbClr val="FF99CC"/>
              </a:solidFill>
            </p:grpSpPr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ED954A53-38E6-C62D-55E4-B874D750D4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99C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CC4A5E02-DDBB-71D6-D78E-1D55F5A0FD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99C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1" name="Oval 60">
                  <a:extLst>
                    <a:ext uri="{FF2B5EF4-FFF2-40B4-BE49-F238E27FC236}">
                      <a16:creationId xmlns:a16="http://schemas.microsoft.com/office/drawing/2014/main" id="{4224BB75-1A7D-6949-EC01-B26435383AF5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rgbClr val="FF99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43" name="Group 42">
                <a:extLst>
                  <a:ext uri="{FF2B5EF4-FFF2-40B4-BE49-F238E27FC236}">
                    <a16:creationId xmlns:a16="http://schemas.microsoft.com/office/drawing/2014/main" id="{3F473050-9EF5-D9ED-6801-D64382ED6F6F}"/>
                  </a:ext>
                </a:extLst>
              </p:cNvPr>
              <p:cNvGrpSpPr/>
              <p:nvPr/>
            </p:nvGrpSpPr>
            <p:grpSpPr>
              <a:xfrm>
                <a:off x="9220200" y="1310870"/>
                <a:ext cx="2895600" cy="75692"/>
                <a:chOff x="4639673" y="1649035"/>
                <a:chExt cx="2895600" cy="75692"/>
              </a:xfrm>
              <a:solidFill>
                <a:schemeClr val="accent2">
                  <a:lumMod val="90000"/>
                </a:schemeClr>
              </a:solidFill>
            </p:grpSpPr>
            <p:cxnSp>
              <p:nvCxnSpPr>
                <p:cNvPr id="56" name="Straight Connector 55">
                  <a:extLst>
                    <a:ext uri="{FF2B5EF4-FFF2-40B4-BE49-F238E27FC236}">
                      <a16:creationId xmlns:a16="http://schemas.microsoft.com/office/drawing/2014/main" id="{A4267959-BA33-360C-0DB3-0E7DD883E1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9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0F578071-243C-5474-4687-43F31F942B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9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C31B86EF-F2BA-1C89-28DD-417B2E7E068E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chemeClr val="accent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44" name="Group 43">
                <a:extLst>
                  <a:ext uri="{FF2B5EF4-FFF2-40B4-BE49-F238E27FC236}">
                    <a16:creationId xmlns:a16="http://schemas.microsoft.com/office/drawing/2014/main" id="{36F46C2D-59A8-AFAE-CB8B-FD02258D472F}"/>
                  </a:ext>
                </a:extLst>
              </p:cNvPr>
              <p:cNvGrpSpPr/>
              <p:nvPr/>
            </p:nvGrpSpPr>
            <p:grpSpPr>
              <a:xfrm>
                <a:off x="9220200" y="1465069"/>
                <a:ext cx="2895600" cy="75692"/>
                <a:chOff x="4639673" y="1649035"/>
                <a:chExt cx="2895600" cy="75692"/>
              </a:xfrm>
            </p:grpSpPr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20FD7C6B-A312-8D87-C84B-EBA838F92D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ln w="38100">
                  <a:solidFill>
                    <a:srgbClr val="F8AABA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7481BC8B-81AF-22AA-8CC4-0A203EF7AAF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ln w="38100">
                  <a:solidFill>
                    <a:srgbClr val="F8AABA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CF120F24-E8F6-4421-914D-71EBD0773015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054538C7-0187-84EC-5E25-AC62726D7F12}"/>
                  </a:ext>
                </a:extLst>
              </p:cNvPr>
              <p:cNvGrpSpPr/>
              <p:nvPr/>
            </p:nvGrpSpPr>
            <p:grpSpPr>
              <a:xfrm>
                <a:off x="9220200" y="1619268"/>
                <a:ext cx="2895600" cy="75692"/>
                <a:chOff x="4639673" y="1649035"/>
                <a:chExt cx="2895600" cy="75692"/>
              </a:xfrm>
              <a:solidFill>
                <a:srgbClr val="FBD4DC"/>
              </a:solidFill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3D76532E-9A6D-CA3F-57EC-5D21EB5CAE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BD4D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CAC41999-C875-A1B3-BBA3-89048F3170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BD4D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2" name="Oval 51">
                  <a:extLst>
                    <a:ext uri="{FF2B5EF4-FFF2-40B4-BE49-F238E27FC236}">
                      <a16:creationId xmlns:a16="http://schemas.microsoft.com/office/drawing/2014/main" id="{389F7568-7BFD-3EEE-774F-64298AD62ABC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rgbClr val="FBD4D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D3DAD9A4-7EB5-C8A8-D74A-08523ACF68F8}"/>
                  </a:ext>
                </a:extLst>
              </p:cNvPr>
              <p:cNvGrpSpPr/>
              <p:nvPr/>
            </p:nvGrpSpPr>
            <p:grpSpPr>
              <a:xfrm>
                <a:off x="9220200" y="1773468"/>
                <a:ext cx="2895600" cy="75692"/>
                <a:chOff x="4639673" y="1649035"/>
                <a:chExt cx="2895600" cy="75692"/>
              </a:xfrm>
              <a:solidFill>
                <a:srgbClr val="FFCCFF"/>
              </a:solidFill>
            </p:grpSpPr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E4C6FBE6-CB46-374B-94F5-13514312D98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CC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B1AC9EBF-AE0D-BB6E-A3CF-49FF00D096A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CC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3065E27B-B77B-6473-2005-A7FB81197443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rgbClr val="FFCCF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51929371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BCD4A-C7B0-7ACF-2252-6F6FF3631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Strategy 3: Ranking [Ordering]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6278EA-A0C0-0027-7AA9-61F167C01A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Ranking</a:t>
            </a:r>
            <a:r>
              <a:rPr lang="en-US"/>
              <a:t> = add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floating-point variable </a:t>
            </a:r>
            <a:r>
              <a:rPr lang="en-US"/>
              <a:t>to lines</a:t>
            </a:r>
          </a:p>
          <a:p>
            <a:pPr lvl="1"/>
            <a:r>
              <a:rPr lang="en-US"/>
              <a:t>values = preference score assigned to each line</a:t>
            </a:r>
          </a:p>
          <a:p>
            <a:pPr lvl="1"/>
            <a:r>
              <a:rPr lang="en-US"/>
              <a:t>decreasing order: lines with highest scores shown at top</a:t>
            </a:r>
          </a:p>
          <a:p>
            <a:pPr lvl="1"/>
            <a:r>
              <a:rPr lang="en-US"/>
              <a:t>ties can occur e.g. if scores happen to be integer values</a:t>
            </a:r>
          </a:p>
          <a:p>
            <a:pPr marL="0" indent="0">
              <a:buNone/>
            </a:pPr>
            <a:r>
              <a:rPr lang="en-US"/>
              <a:t>Examples</a:t>
            </a:r>
          </a:p>
          <a:p>
            <a:r>
              <a:rPr lang="en-US"/>
              <a:t>rank by readability, GDEX algorithm, or fit to selected CEFR level</a:t>
            </a:r>
          </a:p>
          <a:p>
            <a:r>
              <a:rPr lang="en-US"/>
              <a:t>rank by frequency of the node string</a:t>
            </a:r>
          </a:p>
          <a:p>
            <a:r>
              <a:rPr lang="en-US"/>
              <a:t>rank by similarity to query (for fuzzy search)</a:t>
            </a:r>
          </a:p>
          <a:p>
            <a:r>
              <a:rPr lang="en-US"/>
              <a:t>rank by number of significant collocates of the node in context, or by number of user-specified keywords (KWIC grouper)</a:t>
            </a:r>
          </a:p>
          <a:p>
            <a:pPr lvl="1"/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3D376E-7BA5-B7A5-C971-A9981413F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24 Sep 2026 | © RC21 Team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CC0E6A-C541-57FA-0ABF-06E8B064D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D8C711-FAAD-A552-EF0F-52FF01072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30</a:t>
            </a:fld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120E832-CA31-DC37-E243-E9BCBEAB5BE7}"/>
              </a:ext>
            </a:extLst>
          </p:cNvPr>
          <p:cNvGrpSpPr/>
          <p:nvPr/>
        </p:nvGrpSpPr>
        <p:grpSpPr>
          <a:xfrm>
            <a:off x="8892208" y="229976"/>
            <a:ext cx="3147391" cy="1969886"/>
            <a:chOff x="8892208" y="229976"/>
            <a:chExt cx="3147391" cy="1969886"/>
          </a:xfrm>
        </p:grpSpPr>
        <p:pic>
          <p:nvPicPr>
            <p:cNvPr id="35" name="Picture 34" descr="A black screen with a white border&#10;&#10;Description automatically generated">
              <a:extLst>
                <a:ext uri="{FF2B5EF4-FFF2-40B4-BE49-F238E27FC236}">
                  <a16:creationId xmlns:a16="http://schemas.microsoft.com/office/drawing/2014/main" id="{AB3EA933-6049-5470-1F5E-83D33D8534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92208" y="229976"/>
              <a:ext cx="3147391" cy="1969886"/>
            </a:xfrm>
            <a:prstGeom prst="rect">
              <a:avLst/>
            </a:prstGeom>
          </p:spPr>
        </p:pic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00955D55-233C-D128-99BC-1844537F2B75}"/>
                </a:ext>
              </a:extLst>
            </p:cNvPr>
            <p:cNvGrpSpPr/>
            <p:nvPr/>
          </p:nvGrpSpPr>
          <p:grpSpPr>
            <a:xfrm>
              <a:off x="9240884" y="432461"/>
              <a:ext cx="2461260" cy="1304301"/>
              <a:chOff x="9220200" y="385676"/>
              <a:chExt cx="2895600" cy="1463484"/>
            </a:xfrm>
          </p:grpSpPr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89ADDDBE-2041-CD2D-9A6F-2C427B360875}"/>
                  </a:ext>
                </a:extLst>
              </p:cNvPr>
              <p:cNvGrpSpPr/>
              <p:nvPr/>
            </p:nvGrpSpPr>
            <p:grpSpPr>
              <a:xfrm>
                <a:off x="9220200" y="385676"/>
                <a:ext cx="2895600" cy="75692"/>
                <a:chOff x="4639673" y="1649035"/>
                <a:chExt cx="2895600" cy="75692"/>
              </a:xfrm>
              <a:solidFill>
                <a:schemeClr val="accent2">
                  <a:lumMod val="25000"/>
                </a:schemeClr>
              </a:solidFill>
            </p:grpSpPr>
            <p:cxnSp>
              <p:nvCxnSpPr>
                <p:cNvPr id="74" name="Straight Connector 73">
                  <a:extLst>
                    <a:ext uri="{FF2B5EF4-FFF2-40B4-BE49-F238E27FC236}">
                      <a16:creationId xmlns:a16="http://schemas.microsoft.com/office/drawing/2014/main" id="{8D96E953-FA2F-E5BD-AC0B-DED018914B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Straight Connector 74">
                  <a:extLst>
                    <a:ext uri="{FF2B5EF4-FFF2-40B4-BE49-F238E27FC236}">
                      <a16:creationId xmlns:a16="http://schemas.microsoft.com/office/drawing/2014/main" id="{7482AA8B-7FD7-8D38-450C-13C9E4FBFC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7E2A22F3-C6F2-C2E7-44B7-DE798A7F1F09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chemeClr val="accent2">
                      <a:lumMod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6A4962B3-F93D-2509-22C2-3320C67E84CC}"/>
                  </a:ext>
                </a:extLst>
              </p:cNvPr>
              <p:cNvGrpSpPr/>
              <p:nvPr/>
            </p:nvGrpSpPr>
            <p:grpSpPr>
              <a:xfrm>
                <a:off x="9220200" y="539875"/>
                <a:ext cx="2895600" cy="75692"/>
                <a:chOff x="4639673" y="1649035"/>
                <a:chExt cx="2895600" cy="75692"/>
              </a:xfrm>
              <a:solidFill>
                <a:schemeClr val="accent2">
                  <a:lumMod val="50000"/>
                </a:schemeClr>
              </a:solidFill>
            </p:grpSpPr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EE59C584-2475-B4F0-7BA8-F71B253378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D1B5707B-A76D-D23D-BA91-D8A2A001572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3" name="Oval 72">
                  <a:extLst>
                    <a:ext uri="{FF2B5EF4-FFF2-40B4-BE49-F238E27FC236}">
                      <a16:creationId xmlns:a16="http://schemas.microsoft.com/office/drawing/2014/main" id="{7AE71546-3E9B-8160-EF62-5828D5C05995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16EABAF6-005C-7E8A-E775-78FDD9BDBC85}"/>
                  </a:ext>
                </a:extLst>
              </p:cNvPr>
              <p:cNvGrpSpPr/>
              <p:nvPr/>
            </p:nvGrpSpPr>
            <p:grpSpPr>
              <a:xfrm>
                <a:off x="9220200" y="694074"/>
                <a:ext cx="2895600" cy="75692"/>
                <a:chOff x="4639673" y="1649035"/>
                <a:chExt cx="2895600" cy="75692"/>
              </a:xfrm>
              <a:solidFill>
                <a:srgbClr val="CC0066"/>
              </a:solidFill>
            </p:grpSpPr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E9B8C24C-083B-6878-E2FE-6154B363B3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CC00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DAB42866-61BE-D686-EF02-406EEE41DE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CC00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0" name="Oval 69">
                  <a:extLst>
                    <a:ext uri="{FF2B5EF4-FFF2-40B4-BE49-F238E27FC236}">
                      <a16:creationId xmlns:a16="http://schemas.microsoft.com/office/drawing/2014/main" id="{6209AAB3-19C9-77ED-CE4A-6AE615DCC91D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rgbClr val="CC006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CEEA9883-15CC-49B9-0935-AB8382F2DB86}"/>
                  </a:ext>
                </a:extLst>
              </p:cNvPr>
              <p:cNvGrpSpPr/>
              <p:nvPr/>
            </p:nvGrpSpPr>
            <p:grpSpPr>
              <a:xfrm>
                <a:off x="9220200" y="848273"/>
                <a:ext cx="2895600" cy="75692"/>
                <a:chOff x="4639673" y="1649035"/>
                <a:chExt cx="2895600" cy="75692"/>
              </a:xfrm>
              <a:solidFill>
                <a:srgbClr val="FF3399"/>
              </a:solidFill>
            </p:grpSpPr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5974BF92-5B9E-F17E-71BA-7BDA923300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339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A4E8279-DE7E-7BAE-3E76-B5CAD91452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339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A1941031-9926-8445-C338-20D598A4A328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rgbClr val="FF3399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BADE8A31-DDCC-38C9-CEEC-33AED8E95317}"/>
                  </a:ext>
                </a:extLst>
              </p:cNvPr>
              <p:cNvGrpSpPr/>
              <p:nvPr/>
            </p:nvGrpSpPr>
            <p:grpSpPr>
              <a:xfrm>
                <a:off x="9220200" y="1002472"/>
                <a:ext cx="2895600" cy="75692"/>
                <a:chOff x="4639673" y="1649035"/>
                <a:chExt cx="2895600" cy="75692"/>
              </a:xfrm>
              <a:solidFill>
                <a:srgbClr val="FF33CC"/>
              </a:solidFill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8F2775AC-5B76-6042-2516-D2C2830381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33C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1185523D-2868-E07B-7645-668D590431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33C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9ECF86E6-1E3B-27F0-7308-FCC5D256AE32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rgbClr val="FF33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DA1C0B71-E3AB-8BE7-3AF7-97AF99042C19}"/>
                  </a:ext>
                </a:extLst>
              </p:cNvPr>
              <p:cNvGrpSpPr/>
              <p:nvPr/>
            </p:nvGrpSpPr>
            <p:grpSpPr>
              <a:xfrm>
                <a:off x="9220200" y="1156671"/>
                <a:ext cx="2895600" cy="75692"/>
                <a:chOff x="4639673" y="1649035"/>
                <a:chExt cx="2895600" cy="75692"/>
              </a:xfrm>
              <a:solidFill>
                <a:srgbClr val="FF99CC"/>
              </a:solidFill>
            </p:grpSpPr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ED954A53-38E6-C62D-55E4-B874D750D4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99C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CC4A5E02-DDBB-71D6-D78E-1D55F5A0FD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99C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1" name="Oval 60">
                  <a:extLst>
                    <a:ext uri="{FF2B5EF4-FFF2-40B4-BE49-F238E27FC236}">
                      <a16:creationId xmlns:a16="http://schemas.microsoft.com/office/drawing/2014/main" id="{4224BB75-1A7D-6949-EC01-B26435383AF5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rgbClr val="FF99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43" name="Group 42">
                <a:extLst>
                  <a:ext uri="{FF2B5EF4-FFF2-40B4-BE49-F238E27FC236}">
                    <a16:creationId xmlns:a16="http://schemas.microsoft.com/office/drawing/2014/main" id="{3F473050-9EF5-D9ED-6801-D64382ED6F6F}"/>
                  </a:ext>
                </a:extLst>
              </p:cNvPr>
              <p:cNvGrpSpPr/>
              <p:nvPr/>
            </p:nvGrpSpPr>
            <p:grpSpPr>
              <a:xfrm>
                <a:off x="9220200" y="1310870"/>
                <a:ext cx="2895600" cy="75692"/>
                <a:chOff x="4639673" y="1649035"/>
                <a:chExt cx="2895600" cy="75692"/>
              </a:xfrm>
              <a:solidFill>
                <a:schemeClr val="accent2">
                  <a:lumMod val="90000"/>
                </a:schemeClr>
              </a:solidFill>
            </p:grpSpPr>
            <p:cxnSp>
              <p:nvCxnSpPr>
                <p:cNvPr id="56" name="Straight Connector 55">
                  <a:extLst>
                    <a:ext uri="{FF2B5EF4-FFF2-40B4-BE49-F238E27FC236}">
                      <a16:creationId xmlns:a16="http://schemas.microsoft.com/office/drawing/2014/main" id="{A4267959-BA33-360C-0DB3-0E7DD883E1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9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0F578071-243C-5474-4687-43F31F942B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9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C31B86EF-F2BA-1C89-28DD-417B2E7E068E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chemeClr val="accent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44" name="Group 43">
                <a:extLst>
                  <a:ext uri="{FF2B5EF4-FFF2-40B4-BE49-F238E27FC236}">
                    <a16:creationId xmlns:a16="http://schemas.microsoft.com/office/drawing/2014/main" id="{36F46C2D-59A8-AFAE-CB8B-FD02258D472F}"/>
                  </a:ext>
                </a:extLst>
              </p:cNvPr>
              <p:cNvGrpSpPr/>
              <p:nvPr/>
            </p:nvGrpSpPr>
            <p:grpSpPr>
              <a:xfrm>
                <a:off x="9220200" y="1465069"/>
                <a:ext cx="2895600" cy="75692"/>
                <a:chOff x="4639673" y="1649035"/>
                <a:chExt cx="2895600" cy="75692"/>
              </a:xfrm>
            </p:grpSpPr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20FD7C6B-A312-8D87-C84B-EBA838F92D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ln w="38100">
                  <a:solidFill>
                    <a:srgbClr val="F8AABA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7481BC8B-81AF-22AA-8CC4-0A203EF7AAF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ln w="38100">
                  <a:solidFill>
                    <a:srgbClr val="F8AABA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CF120F24-E8F6-4421-914D-71EBD0773015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054538C7-0187-84EC-5E25-AC62726D7F12}"/>
                  </a:ext>
                </a:extLst>
              </p:cNvPr>
              <p:cNvGrpSpPr/>
              <p:nvPr/>
            </p:nvGrpSpPr>
            <p:grpSpPr>
              <a:xfrm>
                <a:off x="9220200" y="1619268"/>
                <a:ext cx="2895600" cy="75692"/>
                <a:chOff x="4639673" y="1649035"/>
                <a:chExt cx="2895600" cy="75692"/>
              </a:xfrm>
              <a:solidFill>
                <a:srgbClr val="FBD4DC"/>
              </a:solidFill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3D76532E-9A6D-CA3F-57EC-5D21EB5CAE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BD4D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CAC41999-C875-A1B3-BBA3-89048F3170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BD4D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2" name="Oval 51">
                  <a:extLst>
                    <a:ext uri="{FF2B5EF4-FFF2-40B4-BE49-F238E27FC236}">
                      <a16:creationId xmlns:a16="http://schemas.microsoft.com/office/drawing/2014/main" id="{389F7568-7BFD-3EEE-774F-64298AD62ABC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rgbClr val="FBD4D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D3DAD9A4-7EB5-C8A8-D74A-08523ACF68F8}"/>
                  </a:ext>
                </a:extLst>
              </p:cNvPr>
              <p:cNvGrpSpPr/>
              <p:nvPr/>
            </p:nvGrpSpPr>
            <p:grpSpPr>
              <a:xfrm>
                <a:off x="9220200" y="1773468"/>
                <a:ext cx="2895600" cy="75692"/>
                <a:chOff x="4639673" y="1649035"/>
                <a:chExt cx="2895600" cy="75692"/>
              </a:xfrm>
              <a:solidFill>
                <a:srgbClr val="FFCCFF"/>
              </a:solidFill>
            </p:grpSpPr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E4C6FBE6-CB46-374B-94F5-13514312D98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CC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B1AC9EBF-AE0D-BB6E-A3CF-49FF00D096A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CC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3065E27B-B77B-6473-2005-A7FB81197443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rgbClr val="FFCCF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6296192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BCD4A-C7B0-7ACF-2252-6F6FF3631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Strategy 4: Partitioning [Grouping]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6278EA-A0C0-0027-7AA9-61F167C01A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4"/>
            <a:ext cx="11426616" cy="4958685"/>
          </a:xfrm>
        </p:spPr>
        <p:txBody>
          <a:bodyPr/>
          <a:lstStyle/>
          <a:p>
            <a:pPr marL="0" indent="0">
              <a:buNone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Partitioning</a:t>
            </a:r>
            <a:r>
              <a:rPr lang="en-US"/>
              <a:t> = add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partition № </a:t>
            </a:r>
            <a:r>
              <a:rPr lang="en-US"/>
              <a:t>to each line</a:t>
            </a:r>
          </a:p>
          <a:p>
            <a:pPr lvl="1"/>
            <a:r>
              <a:rPr lang="en-US"/>
              <a:t>each line assigned to exactly one partition,</a:t>
            </a:r>
            <a:br>
              <a:rPr lang="en-US"/>
            </a:br>
            <a:r>
              <a:rPr lang="en-US"/>
              <a:t>based on a property of the concordance line (not on comparisons)</a:t>
            </a:r>
          </a:p>
          <a:p>
            <a:pPr lvl="1"/>
            <a:r>
              <a:rPr lang="en-US"/>
              <a:t>also provide ordered list of partitions with display labels, etc.</a:t>
            </a:r>
          </a:p>
          <a:p>
            <a:pPr marL="1371600" lvl="3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Examples</a:t>
            </a:r>
          </a:p>
          <a:p>
            <a:r>
              <a:rPr lang="en-US"/>
              <a:t>frequency breakdown of node strings</a:t>
            </a:r>
          </a:p>
          <a:p>
            <a:r>
              <a:rPr lang="en-US"/>
              <a:t>partition by POS tag of first (L1) or second (L2) token before node</a:t>
            </a:r>
          </a:p>
          <a:p>
            <a:r>
              <a:rPr lang="en-US"/>
              <a:t>partition by categorical metadata (variety, genre, speaker info, …)</a:t>
            </a:r>
          </a:p>
          <a:p>
            <a:r>
              <a:rPr lang="en-US"/>
              <a:t>partition by lemma trigram R1+R2+R3 (similar to KWIC patterns)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3D376E-7BA5-B7A5-C971-A9981413F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24 Sep 2026 | © RC21 Team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CC0E6A-C541-57FA-0ABF-06E8B064D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D8C711-FAAD-A552-EF0F-52FF01072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31</a:t>
            </a:fld>
            <a:endParaRPr lang="en-GB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C40C072-F61D-082A-0B40-3B6A3FFFFFA1}"/>
              </a:ext>
            </a:extLst>
          </p:cNvPr>
          <p:cNvGrpSpPr/>
          <p:nvPr/>
        </p:nvGrpSpPr>
        <p:grpSpPr>
          <a:xfrm>
            <a:off x="8892208" y="229976"/>
            <a:ext cx="3147391" cy="1969886"/>
            <a:chOff x="8892208" y="229976"/>
            <a:chExt cx="3147391" cy="1969886"/>
          </a:xfrm>
        </p:grpSpPr>
        <p:pic>
          <p:nvPicPr>
            <p:cNvPr id="9" name="Picture 8" descr="A black screen with a white border&#10;&#10;Description automatically generated">
              <a:extLst>
                <a:ext uri="{FF2B5EF4-FFF2-40B4-BE49-F238E27FC236}">
                  <a16:creationId xmlns:a16="http://schemas.microsoft.com/office/drawing/2014/main" id="{245DB762-7C48-1224-FD8C-48C0917E3F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92208" y="229976"/>
              <a:ext cx="3147391" cy="1969886"/>
            </a:xfrm>
            <a:prstGeom prst="rect">
              <a:avLst/>
            </a:prstGeom>
          </p:spPr>
        </p:pic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3D3BA23-A4B7-1069-D318-70B04935767E}"/>
                </a:ext>
              </a:extLst>
            </p:cNvPr>
            <p:cNvGrpSpPr/>
            <p:nvPr/>
          </p:nvGrpSpPr>
          <p:grpSpPr>
            <a:xfrm>
              <a:off x="9235273" y="485041"/>
              <a:ext cx="2461260" cy="1261414"/>
              <a:chOff x="9220200" y="389350"/>
              <a:chExt cx="2895600" cy="1484016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C6FA31D5-1627-D496-6CB2-93742DBA7A58}"/>
                  </a:ext>
                </a:extLst>
              </p:cNvPr>
              <p:cNvGrpSpPr/>
              <p:nvPr/>
            </p:nvGrpSpPr>
            <p:grpSpPr>
              <a:xfrm>
                <a:off x="9220200" y="389350"/>
                <a:ext cx="2895600" cy="75692"/>
                <a:chOff x="4639673" y="1649035"/>
                <a:chExt cx="2895600" cy="75692"/>
              </a:xfrm>
            </p:grpSpPr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C618F7A1-BDC8-9C63-3401-3FD416CBE5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ln w="38100">
                  <a:solidFill>
                    <a:srgbClr val="F8AABA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55A2DBDA-CFE9-E5B1-5913-26845CD462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ln w="38100">
                  <a:solidFill>
                    <a:srgbClr val="F8AABA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4" name="Oval 83">
                  <a:extLst>
                    <a:ext uri="{FF2B5EF4-FFF2-40B4-BE49-F238E27FC236}">
                      <a16:creationId xmlns:a16="http://schemas.microsoft.com/office/drawing/2014/main" id="{AC8612E9-6F81-8008-24D1-35F9A4B4C479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6B02ED71-6230-C3D4-C249-7EA73AB7ECF5}"/>
                  </a:ext>
                </a:extLst>
              </p:cNvPr>
              <p:cNvGrpSpPr/>
              <p:nvPr/>
            </p:nvGrpSpPr>
            <p:grpSpPr>
              <a:xfrm>
                <a:off x="9220200" y="545830"/>
                <a:ext cx="2895600" cy="75692"/>
                <a:chOff x="4639673" y="1649035"/>
                <a:chExt cx="2895600" cy="75692"/>
              </a:xfrm>
              <a:solidFill>
                <a:srgbClr val="CC0066"/>
              </a:solidFill>
            </p:grpSpPr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AE7E98B9-05E1-81C2-47D2-6C3C345579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CC00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8964DD2D-1CDE-7754-4F47-B8E1C18AFB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CC00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49E83617-9587-3F29-7E44-575C278DC6C8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rgbClr val="CC006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6C205B41-6726-0D20-3AA2-8EC5A1796F06}"/>
                  </a:ext>
                </a:extLst>
              </p:cNvPr>
              <p:cNvGrpSpPr/>
              <p:nvPr/>
            </p:nvGrpSpPr>
            <p:grpSpPr>
              <a:xfrm>
                <a:off x="9220200" y="858790"/>
                <a:ext cx="2895600" cy="75692"/>
                <a:chOff x="4639673" y="1649035"/>
                <a:chExt cx="2895600" cy="75692"/>
              </a:xfrm>
              <a:solidFill>
                <a:srgbClr val="FF33CC"/>
              </a:solidFill>
            </p:grpSpPr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073BA7D4-953D-8018-1C1B-FB0F500B17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33C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2E31DC60-EB5A-C1F2-705F-FCE3572243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33C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5F690920-DBF4-2FC3-F0D1-9A9A739790C9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rgbClr val="FF33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0912788C-768C-D5C9-7316-63B767F5D87F}"/>
                  </a:ext>
                </a:extLst>
              </p:cNvPr>
              <p:cNvGrpSpPr/>
              <p:nvPr/>
            </p:nvGrpSpPr>
            <p:grpSpPr>
              <a:xfrm>
                <a:off x="9220200" y="1015270"/>
                <a:ext cx="2895600" cy="75692"/>
                <a:chOff x="4639673" y="1649035"/>
                <a:chExt cx="2895600" cy="75692"/>
              </a:xfrm>
              <a:solidFill>
                <a:srgbClr val="FBD4DC"/>
              </a:solidFill>
            </p:grpSpPr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09D15ECE-DCF1-A151-013E-B743D112D2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BD4D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BB211B9E-5472-49F7-2653-25403F5ABC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BD4D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AB65623D-8211-0F7E-A718-536A5CDBC413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rgbClr val="FBD4D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169884CE-6111-5FC4-D509-83A60B2A669F}"/>
                  </a:ext>
                </a:extLst>
              </p:cNvPr>
              <p:cNvGrpSpPr/>
              <p:nvPr/>
            </p:nvGrpSpPr>
            <p:grpSpPr>
              <a:xfrm>
                <a:off x="9220200" y="1171750"/>
                <a:ext cx="2895600" cy="75692"/>
                <a:chOff x="4639673" y="1649035"/>
                <a:chExt cx="2895600" cy="75692"/>
              </a:xfrm>
              <a:solidFill>
                <a:schemeClr val="accent2">
                  <a:lumMod val="50000"/>
                </a:schemeClr>
              </a:solidFill>
            </p:grpSpPr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32978B00-A226-0FB1-30C3-273A05BBF8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2543ADB8-50B1-DC61-F534-A41271EA1A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0173A332-6FAF-7F62-D867-019499B89278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61D4FE12-2C83-A86D-858A-96DBD3203A30}"/>
                  </a:ext>
                </a:extLst>
              </p:cNvPr>
              <p:cNvGrpSpPr/>
              <p:nvPr/>
            </p:nvGrpSpPr>
            <p:grpSpPr>
              <a:xfrm>
                <a:off x="9220200" y="1484710"/>
                <a:ext cx="2895600" cy="75692"/>
                <a:chOff x="4639673" y="1649035"/>
                <a:chExt cx="2895600" cy="75692"/>
              </a:xfrm>
              <a:solidFill>
                <a:schemeClr val="accent2">
                  <a:lumMod val="25000"/>
                </a:schemeClr>
              </a:solidFill>
            </p:grpSpPr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8A59E3E0-9968-8157-F74D-46DDF91193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DBEB21D6-FD71-4AD6-7819-A917B1AD343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FAEEF803-F3E4-C046-0987-8909700288EB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chemeClr val="accent2">
                      <a:lumMod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23AC49EB-D458-1649-0C35-89BF6522347F}"/>
                  </a:ext>
                </a:extLst>
              </p:cNvPr>
              <p:cNvGrpSpPr/>
              <p:nvPr/>
            </p:nvGrpSpPr>
            <p:grpSpPr>
              <a:xfrm>
                <a:off x="9220200" y="1641190"/>
                <a:ext cx="2895600" cy="75692"/>
                <a:chOff x="4639673" y="1649035"/>
                <a:chExt cx="2895600" cy="75692"/>
              </a:xfrm>
              <a:solidFill>
                <a:srgbClr val="FF99CC"/>
              </a:solidFill>
            </p:grpSpPr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0E86387F-99D9-A535-B6E0-FB0EEE3DE2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99C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19B9C874-28F4-FE2F-B41A-B53FDA6563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99C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CDF31D19-6672-F08B-49D5-3EA4ECD61C0E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rgbClr val="FF99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B856DC45-AA51-EB5B-6A1C-E2D1FAD048E9}"/>
                  </a:ext>
                </a:extLst>
              </p:cNvPr>
              <p:cNvGrpSpPr/>
              <p:nvPr/>
            </p:nvGrpSpPr>
            <p:grpSpPr>
              <a:xfrm>
                <a:off x="9220200" y="1797674"/>
                <a:ext cx="2895600" cy="75692"/>
                <a:chOff x="4639673" y="1649035"/>
                <a:chExt cx="2895600" cy="75692"/>
              </a:xfrm>
              <a:solidFill>
                <a:schemeClr val="accent2">
                  <a:lumMod val="90000"/>
                </a:schemeClr>
              </a:solidFill>
            </p:grpSpPr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F52B552C-D5CA-849A-E905-A9C294FEE5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9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B4CF66A9-8233-8F11-1455-E1DCF588E5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9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117408E-2649-371C-826B-B63327061547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chemeClr val="accent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7168456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6DE2C-3497-8927-1713-3BEA2FED1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Aside: Context trees &amp; KWIC patterns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6B417-315E-189B-5F0B-321B8E58C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24 Sep 2026 | © RC21 Team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12EE7C-8D97-7A2A-E9FF-2D88AC5C95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87AD35-E450-E0B1-6EDF-A434DCB88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32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2277FF-03A3-DA55-1DB1-409AC832C5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975" y="1349902"/>
            <a:ext cx="5561710" cy="396326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FA4E89C-5BA2-5AA5-3F8D-746A0F1842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59" y="1276349"/>
            <a:ext cx="3774785" cy="5180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2C1D314-0584-B626-6543-AB9E0F41B517}"/>
              </a:ext>
            </a:extLst>
          </p:cNvPr>
          <p:cNvSpPr txBox="1"/>
          <p:nvPr/>
        </p:nvSpPr>
        <p:spPr>
          <a:xfrm>
            <a:off x="4062844" y="5619303"/>
            <a:ext cx="3774785" cy="70788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The Word Tree</a:t>
            </a:r>
            <a:br>
              <a:rPr lang="en-US" sz="2000">
                <a:solidFill>
                  <a:schemeClr val="accent1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</a:br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(Wattenberg &amp; Viégas, 2008)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F2F890-1EEF-06BC-8CB4-BE494102706B}"/>
              </a:ext>
            </a:extLst>
          </p:cNvPr>
          <p:cNvSpPr txBox="1"/>
          <p:nvPr/>
        </p:nvSpPr>
        <p:spPr>
          <a:xfrm>
            <a:off x="8077200" y="3474529"/>
            <a:ext cx="2743200" cy="400110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en-US" sz="2000">
                <a:solidFill>
                  <a:schemeClr val="accent1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(Evert, ICAME 2007)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256BE5-F2A0-C212-E4F9-A737DEE893B7}"/>
              </a:ext>
            </a:extLst>
          </p:cNvPr>
          <p:cNvSpPr txBox="1"/>
          <p:nvPr/>
        </p:nvSpPr>
        <p:spPr>
          <a:xfrm>
            <a:off x="7432158" y="4788568"/>
            <a:ext cx="447178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90538" indent="-490538"/>
            <a:r>
              <a:rPr lang="en-US" sz="2800">
                <a:latin typeface="FAUSans Office" panose="020B0504010101010104" pitchFamily="34" charset="77"/>
                <a:cs typeface="FAUSans Office" panose="020B0504010101010104" pitchFamily="34" charset="77"/>
              </a:rPr>
              <a:t>➞	</a:t>
            </a:r>
            <a:r>
              <a:rPr lang="en-US" sz="2800">
                <a:solidFill>
                  <a:schemeClr val="accent2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sorting algorithm </a:t>
            </a:r>
            <a:r>
              <a:rPr lang="en-US" sz="2800">
                <a:latin typeface="FAUSans Office" panose="020B0504010101010104" pitchFamily="34" charset="77"/>
                <a:cs typeface="FAUSans Office" panose="020B0504010101010104" pitchFamily="34" charset="77"/>
              </a:rPr>
              <a:t>for concordance reading </a:t>
            </a:r>
            <a:r>
              <a:rPr lang="en-US" sz="2800">
                <a:solidFill>
                  <a:schemeClr val="accent1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(Anthony 2022)</a:t>
            </a:r>
          </a:p>
          <a:p>
            <a:pPr marL="490538" indent="-490538"/>
            <a:r>
              <a:rPr lang="en-US" sz="2800" i="1">
                <a:latin typeface="FAUSans Office" panose="020B0504010101010104" pitchFamily="34" charset="77"/>
                <a:cs typeface="FAUSans Office" panose="020B0504010101010104" pitchFamily="34" charset="77"/>
              </a:rPr>
              <a:t>… but 3 different versions</a:t>
            </a:r>
          </a:p>
        </p:txBody>
      </p:sp>
    </p:spTree>
    <p:extLst>
      <p:ext uri="{BB962C8B-B14F-4D97-AF65-F5344CB8AC3E}">
        <p14:creationId xmlns:p14="http://schemas.microsoft.com/office/powerpoint/2010/main" val="18933257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BCD4A-C7B0-7ACF-2252-6F6FF3631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Strategy 5: Clustering [Grouping]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6278EA-A0C0-0027-7AA9-61F167C01A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4"/>
            <a:ext cx="11426616" cy="4958686"/>
          </a:xfrm>
        </p:spPr>
        <p:txBody>
          <a:bodyPr/>
          <a:lstStyle/>
          <a:p>
            <a:pPr marL="0" indent="0">
              <a:buNone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Clustering</a:t>
            </a:r>
            <a:r>
              <a:rPr lang="en-US"/>
              <a:t> = add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ordered tree</a:t>
            </a:r>
            <a:r>
              <a:rPr lang="en-US"/>
              <a:t> over lines</a:t>
            </a:r>
          </a:p>
          <a:p>
            <a:pPr lvl="1"/>
            <a:r>
              <a:rPr lang="en-US"/>
              <a:t>based on pairwise similarities of concordance lines</a:t>
            </a:r>
          </a:p>
          <a:p>
            <a:pPr lvl="1"/>
            <a:r>
              <a:rPr lang="en-US"/>
              <a:t>hierarchical clustering ➞ deep tree, flat clustering ➞ single-level tree</a:t>
            </a:r>
          </a:p>
          <a:p>
            <a:pPr lvl="1"/>
            <a:r>
              <a:rPr lang="en-US"/>
              <a:t>tree describes both nesting and preference order of clusters</a:t>
            </a:r>
          </a:p>
          <a:p>
            <a:pPr marL="0" indent="0">
              <a:buNone/>
            </a:pPr>
            <a:r>
              <a:rPr lang="en-US"/>
              <a:t>Examples</a:t>
            </a:r>
          </a:p>
          <a:p>
            <a:r>
              <a:rPr lang="en-US"/>
              <a:t>clustering based on lexical similarity (shared words), semantic similarity (sentence/word embeddings), or syntactic similarity</a:t>
            </a:r>
          </a:p>
          <a:p>
            <a:r>
              <a:rPr lang="en-US"/>
              <a:t>clustering based on multiple metadata features ➞ similarity score</a:t>
            </a:r>
          </a:p>
          <a:p>
            <a:r>
              <a:rPr lang="en-US"/>
              <a:t>all clusterings: either flat or hierarchical, with different algorithms</a:t>
            </a:r>
          </a:p>
          <a:p>
            <a:r>
              <a:rPr lang="en-US"/>
              <a:t>context tree (on POS tags, lemmas, semantic tags, …)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3D376E-7BA5-B7A5-C971-A9981413F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24 Sep 2026 | © RC21 Team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CC0E6A-C541-57FA-0ABF-06E8B064D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D8C711-FAAD-A552-EF0F-52FF01072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33</a:t>
            </a:fld>
            <a:endParaRPr lang="en-GB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C40C072-F61D-082A-0B40-3B6A3FFFFFA1}"/>
              </a:ext>
            </a:extLst>
          </p:cNvPr>
          <p:cNvGrpSpPr/>
          <p:nvPr/>
        </p:nvGrpSpPr>
        <p:grpSpPr>
          <a:xfrm>
            <a:off x="8892208" y="229976"/>
            <a:ext cx="3147391" cy="1969886"/>
            <a:chOff x="8892208" y="229976"/>
            <a:chExt cx="3147391" cy="1969886"/>
          </a:xfrm>
        </p:grpSpPr>
        <p:pic>
          <p:nvPicPr>
            <p:cNvPr id="9" name="Picture 8" descr="A black screen with a white border&#10;&#10;Description automatically generated">
              <a:extLst>
                <a:ext uri="{FF2B5EF4-FFF2-40B4-BE49-F238E27FC236}">
                  <a16:creationId xmlns:a16="http://schemas.microsoft.com/office/drawing/2014/main" id="{245DB762-7C48-1224-FD8C-48C0917E3F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92208" y="229976"/>
              <a:ext cx="3147391" cy="1969886"/>
            </a:xfrm>
            <a:prstGeom prst="rect">
              <a:avLst/>
            </a:prstGeom>
          </p:spPr>
        </p:pic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3D3BA23-A4B7-1069-D318-70B04935767E}"/>
                </a:ext>
              </a:extLst>
            </p:cNvPr>
            <p:cNvGrpSpPr/>
            <p:nvPr/>
          </p:nvGrpSpPr>
          <p:grpSpPr>
            <a:xfrm>
              <a:off x="9235273" y="485041"/>
              <a:ext cx="2461260" cy="1261414"/>
              <a:chOff x="9220200" y="389350"/>
              <a:chExt cx="2895600" cy="1484016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C6FA31D5-1627-D496-6CB2-93742DBA7A58}"/>
                  </a:ext>
                </a:extLst>
              </p:cNvPr>
              <p:cNvGrpSpPr/>
              <p:nvPr/>
            </p:nvGrpSpPr>
            <p:grpSpPr>
              <a:xfrm>
                <a:off x="9220200" y="389350"/>
                <a:ext cx="2895600" cy="75692"/>
                <a:chOff x="4639673" y="1649035"/>
                <a:chExt cx="2895600" cy="75692"/>
              </a:xfrm>
            </p:grpSpPr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C618F7A1-BDC8-9C63-3401-3FD416CBE5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ln w="38100">
                  <a:solidFill>
                    <a:srgbClr val="F8AABA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55A2DBDA-CFE9-E5B1-5913-26845CD462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ln w="38100">
                  <a:solidFill>
                    <a:srgbClr val="F8AABA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4" name="Oval 83">
                  <a:extLst>
                    <a:ext uri="{FF2B5EF4-FFF2-40B4-BE49-F238E27FC236}">
                      <a16:creationId xmlns:a16="http://schemas.microsoft.com/office/drawing/2014/main" id="{AC8612E9-6F81-8008-24D1-35F9A4B4C479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6B02ED71-6230-C3D4-C249-7EA73AB7ECF5}"/>
                  </a:ext>
                </a:extLst>
              </p:cNvPr>
              <p:cNvGrpSpPr/>
              <p:nvPr/>
            </p:nvGrpSpPr>
            <p:grpSpPr>
              <a:xfrm>
                <a:off x="9220200" y="545830"/>
                <a:ext cx="2895600" cy="75692"/>
                <a:chOff x="4639673" y="1649035"/>
                <a:chExt cx="2895600" cy="75692"/>
              </a:xfrm>
              <a:solidFill>
                <a:srgbClr val="CC0066"/>
              </a:solidFill>
            </p:grpSpPr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AE7E98B9-05E1-81C2-47D2-6C3C345579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CC00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8964DD2D-1CDE-7754-4F47-B8E1C18AFB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CC00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49E83617-9587-3F29-7E44-575C278DC6C8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rgbClr val="CC006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6C205B41-6726-0D20-3AA2-8EC5A1796F06}"/>
                  </a:ext>
                </a:extLst>
              </p:cNvPr>
              <p:cNvGrpSpPr/>
              <p:nvPr/>
            </p:nvGrpSpPr>
            <p:grpSpPr>
              <a:xfrm>
                <a:off x="9220200" y="858790"/>
                <a:ext cx="2895600" cy="75692"/>
                <a:chOff x="4639673" y="1649035"/>
                <a:chExt cx="2895600" cy="75692"/>
              </a:xfrm>
              <a:solidFill>
                <a:srgbClr val="FF33CC"/>
              </a:solidFill>
            </p:grpSpPr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073BA7D4-953D-8018-1C1B-FB0F500B17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33C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2E31DC60-EB5A-C1F2-705F-FCE3572243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33C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5F690920-DBF4-2FC3-F0D1-9A9A739790C9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rgbClr val="FF33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0912788C-768C-D5C9-7316-63B767F5D87F}"/>
                  </a:ext>
                </a:extLst>
              </p:cNvPr>
              <p:cNvGrpSpPr/>
              <p:nvPr/>
            </p:nvGrpSpPr>
            <p:grpSpPr>
              <a:xfrm>
                <a:off x="9220200" y="1015270"/>
                <a:ext cx="2895600" cy="75692"/>
                <a:chOff x="4639673" y="1649035"/>
                <a:chExt cx="2895600" cy="75692"/>
              </a:xfrm>
              <a:solidFill>
                <a:srgbClr val="FBD4DC"/>
              </a:solidFill>
            </p:grpSpPr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09D15ECE-DCF1-A151-013E-B743D112D2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BD4D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BB211B9E-5472-49F7-2653-25403F5ABC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BD4D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AB65623D-8211-0F7E-A718-536A5CDBC413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rgbClr val="FBD4D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169884CE-6111-5FC4-D509-83A60B2A669F}"/>
                  </a:ext>
                </a:extLst>
              </p:cNvPr>
              <p:cNvGrpSpPr/>
              <p:nvPr/>
            </p:nvGrpSpPr>
            <p:grpSpPr>
              <a:xfrm>
                <a:off x="9220200" y="1171750"/>
                <a:ext cx="2895600" cy="75692"/>
                <a:chOff x="4639673" y="1649035"/>
                <a:chExt cx="2895600" cy="75692"/>
              </a:xfrm>
              <a:solidFill>
                <a:schemeClr val="accent2">
                  <a:lumMod val="50000"/>
                </a:schemeClr>
              </a:solidFill>
            </p:grpSpPr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32978B00-A226-0FB1-30C3-273A05BBF8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2543ADB8-50B1-DC61-F534-A41271EA1A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0173A332-6FAF-7F62-D867-019499B89278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61D4FE12-2C83-A86D-858A-96DBD3203A30}"/>
                  </a:ext>
                </a:extLst>
              </p:cNvPr>
              <p:cNvGrpSpPr/>
              <p:nvPr/>
            </p:nvGrpSpPr>
            <p:grpSpPr>
              <a:xfrm>
                <a:off x="9220200" y="1484710"/>
                <a:ext cx="2895600" cy="75692"/>
                <a:chOff x="4639673" y="1649035"/>
                <a:chExt cx="2895600" cy="75692"/>
              </a:xfrm>
              <a:solidFill>
                <a:schemeClr val="accent2">
                  <a:lumMod val="25000"/>
                </a:schemeClr>
              </a:solidFill>
            </p:grpSpPr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8A59E3E0-9968-8157-F74D-46DDF91193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DBEB21D6-FD71-4AD6-7819-A917B1AD343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FAEEF803-F3E4-C046-0987-8909700288EB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chemeClr val="accent2">
                      <a:lumMod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23AC49EB-D458-1649-0C35-89BF6522347F}"/>
                  </a:ext>
                </a:extLst>
              </p:cNvPr>
              <p:cNvGrpSpPr/>
              <p:nvPr/>
            </p:nvGrpSpPr>
            <p:grpSpPr>
              <a:xfrm>
                <a:off x="9220200" y="1641190"/>
                <a:ext cx="2895600" cy="75692"/>
                <a:chOff x="4639673" y="1649035"/>
                <a:chExt cx="2895600" cy="75692"/>
              </a:xfrm>
              <a:solidFill>
                <a:srgbClr val="FF99CC"/>
              </a:solidFill>
            </p:grpSpPr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0E86387F-99D9-A535-B6E0-FB0EEE3DE2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99C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19B9C874-28F4-FE2F-B41A-B53FDA6563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99C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CDF31D19-6672-F08B-49D5-3EA4ECD61C0E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rgbClr val="FF99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B856DC45-AA51-EB5B-6A1C-E2D1FAD048E9}"/>
                  </a:ext>
                </a:extLst>
              </p:cNvPr>
              <p:cNvGrpSpPr/>
              <p:nvPr/>
            </p:nvGrpSpPr>
            <p:grpSpPr>
              <a:xfrm>
                <a:off x="9220200" y="1797674"/>
                <a:ext cx="2895600" cy="75692"/>
                <a:chOff x="4639673" y="1649035"/>
                <a:chExt cx="2895600" cy="75692"/>
              </a:xfrm>
              <a:solidFill>
                <a:schemeClr val="accent2">
                  <a:lumMod val="90000"/>
                </a:schemeClr>
              </a:solidFill>
            </p:grpSpPr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F52B552C-D5CA-849A-E905-A9C294FEE5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9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B4CF66A9-8233-8F11-1455-E1DCF588E5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9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117408E-2649-371C-826B-B63327061547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chemeClr val="accent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1500731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4928E-C931-932F-BB4D-0A04228C8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Strategy 1': Manual Selecting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2FD194-F243-18AE-5329-DF2D8F637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4"/>
            <a:ext cx="11426616" cy="5040201"/>
          </a:xfrm>
        </p:spPr>
        <p:txBody>
          <a:bodyPr/>
          <a:lstStyle/>
          <a:p>
            <a:pPr marL="0" indent="0">
              <a:buNone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Selecting</a:t>
            </a:r>
            <a:r>
              <a:rPr lang="en-US"/>
              <a:t> based on manual choice made by user</a:t>
            </a:r>
          </a:p>
          <a:p>
            <a:pPr lvl="1"/>
            <a:r>
              <a:rPr lang="en-US"/>
              <a:t>also adds Boolean variable &amp; can be inverted</a:t>
            </a:r>
          </a:p>
          <a:p>
            <a:pPr lvl="1"/>
            <a:r>
              <a:rPr lang="en-US"/>
              <a:t>direct selection of lines vs. indirect (via set ID or supplementary information)</a:t>
            </a:r>
          </a:p>
          <a:p>
            <a:pPr lvl="1"/>
            <a:endParaRPr lang="en-US"/>
          </a:p>
          <a:p>
            <a:pPr marL="0" indent="0">
              <a:buNone/>
            </a:pPr>
            <a:r>
              <a:rPr lang="en-US"/>
              <a:t>Examples</a:t>
            </a:r>
          </a:p>
          <a:p>
            <a:r>
              <a:rPr lang="en-US"/>
              <a:t>manual validation of concordance lines (e.g. false positives)</a:t>
            </a:r>
          </a:p>
          <a:p>
            <a:r>
              <a:rPr lang="en-US"/>
              <a:t>select sets by ID (after Grouping) or range of lines (after Ordering)</a:t>
            </a:r>
          </a:p>
          <a:p>
            <a:r>
              <a:rPr lang="en-US"/>
              <a:t>threshold based on ranking scores (returned as supplementary info)</a:t>
            </a:r>
          </a:p>
          <a:p>
            <a:r>
              <a:rPr lang="en-US"/>
              <a:t>“interactive” algorithms (e.g. click individual lines or sets) vs.</a:t>
            </a:r>
            <a:br>
              <a:rPr lang="en-US"/>
            </a:br>
            <a:r>
              <a:rPr lang="en-US"/>
              <a:t>“non-interactive” algorithms (e.g. top-</a:t>
            </a:r>
            <a:r>
              <a:rPr lang="en-US" i="1"/>
              <a:t>n</a:t>
            </a:r>
            <a:r>
              <a:rPr lang="en-US"/>
              <a:t> lines in ranking)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4D4AC-0195-DBC6-16C1-AE775DFD4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24 Sep 2026 | © RC21 Team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CD0446-6EE5-4CE9-FC5F-B1B80EFBF8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F3D3AD-75FA-85D5-8630-89906D222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34</a:t>
            </a:fld>
            <a:endParaRPr lang="en-GB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9F1FE46-8168-48E2-5BFD-BFCE639649D2}"/>
              </a:ext>
            </a:extLst>
          </p:cNvPr>
          <p:cNvGrpSpPr/>
          <p:nvPr/>
        </p:nvGrpSpPr>
        <p:grpSpPr>
          <a:xfrm>
            <a:off x="8892208" y="229976"/>
            <a:ext cx="3147391" cy="1969886"/>
            <a:chOff x="8892208" y="229976"/>
            <a:chExt cx="3147391" cy="1969886"/>
          </a:xfrm>
        </p:grpSpPr>
        <p:pic>
          <p:nvPicPr>
            <p:cNvPr id="9" name="Picture 8" descr="A black screen with a white border&#10;&#10;Description automatically generated">
              <a:extLst>
                <a:ext uri="{FF2B5EF4-FFF2-40B4-BE49-F238E27FC236}">
                  <a16:creationId xmlns:a16="http://schemas.microsoft.com/office/drawing/2014/main" id="{59321414-49CE-57E2-2654-5C3747A82D3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92208" y="229976"/>
              <a:ext cx="3147391" cy="1969886"/>
            </a:xfrm>
            <a:prstGeom prst="rect">
              <a:avLst/>
            </a:prstGeom>
          </p:spPr>
        </p:pic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45F6AAB-4FB0-E940-BF71-08C49EB2146F}"/>
                </a:ext>
              </a:extLst>
            </p:cNvPr>
            <p:cNvGrpSpPr/>
            <p:nvPr/>
          </p:nvGrpSpPr>
          <p:grpSpPr>
            <a:xfrm>
              <a:off x="9240748" y="429003"/>
              <a:ext cx="2461260" cy="686474"/>
              <a:chOff x="9220200" y="438576"/>
              <a:chExt cx="2895600" cy="858092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41AED4BD-EE1A-10EE-B495-3483BCF82FC9}"/>
                  </a:ext>
                </a:extLst>
              </p:cNvPr>
              <p:cNvGrpSpPr/>
              <p:nvPr/>
            </p:nvGrpSpPr>
            <p:grpSpPr>
              <a:xfrm>
                <a:off x="9220200" y="438576"/>
                <a:ext cx="2895600" cy="75692"/>
                <a:chOff x="4639673" y="1649035"/>
                <a:chExt cx="2895600" cy="75692"/>
              </a:xfrm>
            </p:grpSpPr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0388822B-35CC-57B1-863F-EC0565E5F2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ln w="38100">
                  <a:solidFill>
                    <a:srgbClr val="F8AABA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3B13F04B-E165-C29C-5F2D-C75D0F2EF9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ln w="38100">
                  <a:solidFill>
                    <a:srgbClr val="F8AABA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B280DC58-A24A-4F0D-2E41-F72CAC62E7E2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713E0521-F975-B2FA-FEA5-78D6A6620860}"/>
                  </a:ext>
                </a:extLst>
              </p:cNvPr>
              <p:cNvGrpSpPr/>
              <p:nvPr/>
            </p:nvGrpSpPr>
            <p:grpSpPr>
              <a:xfrm>
                <a:off x="9220200" y="595056"/>
                <a:ext cx="2895600" cy="75692"/>
                <a:chOff x="4639673" y="1649035"/>
                <a:chExt cx="2895600" cy="75692"/>
              </a:xfrm>
              <a:solidFill>
                <a:srgbClr val="CC0066"/>
              </a:solidFill>
            </p:grpSpPr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8A7703A8-2D16-DA9F-B1D3-FF5ED823D7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CC00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375DC674-E27D-3BE1-7E1F-F59A45B357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CC00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CEBBAF86-0B88-C90D-20EF-46E2007C9097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rgbClr val="CC006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2C1D66B4-9DCE-3078-46C9-87DFB0C230B0}"/>
                  </a:ext>
                </a:extLst>
              </p:cNvPr>
              <p:cNvGrpSpPr/>
              <p:nvPr/>
            </p:nvGrpSpPr>
            <p:grpSpPr>
              <a:xfrm>
                <a:off x="9220200" y="751536"/>
                <a:ext cx="2895600" cy="75692"/>
                <a:chOff x="4639673" y="1649035"/>
                <a:chExt cx="2895600" cy="75692"/>
              </a:xfrm>
              <a:solidFill>
                <a:srgbClr val="FF3399"/>
              </a:solidFill>
            </p:grpSpPr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993AA959-5436-805E-E05D-EB428419DE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339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E44135C0-94B5-1D53-A082-5B5305B067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339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BF390E87-AB30-8552-5E1B-321F3272ADB9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rgbClr val="FF3399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781CAE1C-66DB-9CE9-C1B8-69DD92BAA40E}"/>
                  </a:ext>
                </a:extLst>
              </p:cNvPr>
              <p:cNvGrpSpPr/>
              <p:nvPr/>
            </p:nvGrpSpPr>
            <p:grpSpPr>
              <a:xfrm>
                <a:off x="9220200" y="908016"/>
                <a:ext cx="2895600" cy="75692"/>
                <a:chOff x="4639673" y="1649035"/>
                <a:chExt cx="2895600" cy="75692"/>
              </a:xfrm>
              <a:solidFill>
                <a:srgbClr val="FF33CC"/>
              </a:solidFill>
            </p:grpSpPr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CC6F9E95-D191-FAC8-D7BC-DB970AB61D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33C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5EC3FCD-866C-A515-366F-1F9C13FAB7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F33C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83947BB7-6FA7-CB85-BF20-82B18FD2F05D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rgbClr val="FF33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CF150C3-72FB-1871-F018-E7BF134277B9}"/>
                  </a:ext>
                </a:extLst>
              </p:cNvPr>
              <p:cNvGrpSpPr/>
              <p:nvPr/>
            </p:nvGrpSpPr>
            <p:grpSpPr>
              <a:xfrm>
                <a:off x="9220200" y="1064496"/>
                <a:ext cx="2895600" cy="75692"/>
                <a:chOff x="4639673" y="1649035"/>
                <a:chExt cx="2895600" cy="75692"/>
              </a:xfrm>
              <a:solidFill>
                <a:srgbClr val="FBD4DC"/>
              </a:solidFill>
            </p:grpSpPr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887A7622-0AA5-2970-BFDA-AC322FF1B37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BD4D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53E79C91-849C-8641-8744-EFD529DD3BF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rgbClr val="FBD4D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562FD323-4397-82DC-97A9-83E7503F5F04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rgbClr val="FBD4D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09553236-8533-5832-7452-2159A445AF31}"/>
                  </a:ext>
                </a:extLst>
              </p:cNvPr>
              <p:cNvGrpSpPr/>
              <p:nvPr/>
            </p:nvGrpSpPr>
            <p:grpSpPr>
              <a:xfrm>
                <a:off x="9220200" y="1220976"/>
                <a:ext cx="2895600" cy="75692"/>
                <a:chOff x="4639673" y="1649035"/>
                <a:chExt cx="2895600" cy="75692"/>
              </a:xfrm>
              <a:solidFill>
                <a:schemeClr val="accent2">
                  <a:lumMod val="50000"/>
                </a:schemeClr>
              </a:solidFill>
            </p:grpSpPr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B3E283E2-37E6-2014-D7EF-43B01C653D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39673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0FC8194D-1555-8C58-AEDE-9F3B23DB4B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05946" y="1679007"/>
                  <a:ext cx="1329327" cy="0"/>
                </a:xfrm>
                <a:prstGeom prst="line">
                  <a:avLst/>
                </a:prstGeom>
                <a:grpFill/>
                <a:ln w="38100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15A1D051-1385-92C3-40FA-03917FD5669A}"/>
                    </a:ext>
                  </a:extLst>
                </p:cNvPr>
                <p:cNvSpPr/>
                <p:nvPr/>
              </p:nvSpPr>
              <p:spPr>
                <a:xfrm>
                  <a:off x="6045200" y="1649035"/>
                  <a:ext cx="76584" cy="75692"/>
                </a:xfrm>
                <a:prstGeom prst="ellipse">
                  <a:avLst/>
                </a:prstGeom>
                <a:grpFill/>
                <a:ln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1559767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34689-F3A2-9FF8-D757-137406363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25EB5-6119-10DB-960A-DFDCEE7A8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Research documentation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6C9FD6-1822-BF60-2DEE-E10EF1773C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Analysis tree as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research documentation</a:t>
            </a:r>
          </a:p>
          <a:p>
            <a:pPr lvl="1"/>
            <a:r>
              <a:rPr lang="en-US"/>
              <a:t>concordance view uniquely determined by path from root node</a:t>
            </a:r>
          </a:p>
          <a:p>
            <a:pPr lvl="1"/>
            <a:r>
              <a:rPr lang="en-US"/>
              <a:t>bookmarked nodes = basis for interpretation &amp; discussion</a:t>
            </a:r>
          </a:p>
          <a:p>
            <a:r>
              <a:rPr lang="en-US"/>
              <a:t>Exact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reproduction</a:t>
            </a:r>
            <a:r>
              <a:rPr lang="en-US"/>
              <a:t> with identical concordance data</a:t>
            </a:r>
          </a:p>
          <a:p>
            <a:pPr lvl="1"/>
            <a:r>
              <a:rPr lang="en-US"/>
              <a:t>readers can reproduce published results completely</a:t>
            </a:r>
          </a:p>
          <a:p>
            <a:pPr lvl="1"/>
            <a:r>
              <a:rPr lang="en-US"/>
              <a:t>but also explore further concordance views</a:t>
            </a:r>
          </a:p>
          <a:p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Save</a:t>
            </a:r>
            <a:r>
              <a:rPr lang="en-US"/>
              <a:t> /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load</a:t>
            </a:r>
            <a:r>
              <a:rPr lang="en-US"/>
              <a:t> analysis tree ➞ continue concordance reading later</a:t>
            </a:r>
          </a:p>
          <a:p>
            <a:r>
              <a:rPr lang="en-US"/>
              <a:t>Analysis tree as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template</a:t>
            </a:r>
            <a:r>
              <a:rPr lang="en-US"/>
              <a:t> for concordance organisation</a:t>
            </a:r>
          </a:p>
          <a:p>
            <a:pPr lvl="1"/>
            <a:r>
              <a:rPr lang="en-US"/>
              <a:t>“replay” tree on a new concordance (possibly from different corpus)</a:t>
            </a:r>
          </a:p>
          <a:p>
            <a:pPr lvl="1"/>
            <a:r>
              <a:rPr lang="en-US"/>
              <a:t>interactive manual selection has to be omitted (➞ not meaningful)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8A545C-F8A8-8760-8317-7066FADAF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24 Sep 2026 | © RC21 Team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BF611-9955-920E-CA34-7F9D378FC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58BB95-B8EC-9AFD-B446-5590FC9E9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0427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3963A-7EDF-7735-4277-86E77D969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DE6C5-61B4-2092-EB27-32FA8BADD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Time for a break …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61D918-47C6-1D26-1A62-3C838F1E9D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232" y="2261419"/>
            <a:ext cx="4291536" cy="386238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741D843-534E-C7F2-9AF9-4F286FA2F64A}"/>
              </a:ext>
            </a:extLst>
          </p:cNvPr>
          <p:cNvSpPr/>
          <p:nvPr/>
        </p:nvSpPr>
        <p:spPr>
          <a:xfrm>
            <a:off x="4251648" y="1335625"/>
            <a:ext cx="3688703" cy="144655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8800" b="1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gradFill>
                  <a:gsLst>
                    <a:gs pos="0">
                      <a:schemeClr val="accent5"/>
                    </a:gs>
                    <a:gs pos="50000">
                      <a:schemeClr val="accent5">
                        <a:lumMod val="75000"/>
                      </a:schemeClr>
                    </a:gs>
                    <a:gs pos="100000">
                      <a:schemeClr val="accent5">
                        <a:lumMod val="50000"/>
                      </a:schemeClr>
                    </a:gs>
                  </a:gsLst>
                  <a:lin ang="4500000" scaled="0"/>
                </a:gra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  <a:latin typeface="FAUSans Office" panose="020B0504010101010104" pitchFamily="34" charset="77"/>
                <a:cs typeface="FAUSans Office" panose="020B0504010101010104" pitchFamily="34" charset="77"/>
              </a:rPr>
              <a:t>Coffee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AAB741C-CC12-1EA7-8B3F-FF026049A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24 Sep 2026 | © RC21 Team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0ED8C60-8FDE-6C5E-11BA-F45DE4002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081470-5C1F-559D-9F6D-CDB73270B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09565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B45E9A1-7B42-EFFA-BBF6-AC8307087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Hands-on: analysis tree in CLiC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B4DF01-45BB-7004-FA1F-B150D5116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24 Sep 2026 | © RC21 Team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40A882-B147-FBD0-8C14-F2D932FCF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589EF1-AAF6-77C4-CF63-B0EFFA26C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37</a:t>
            </a:fld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E5FD3D6-019B-9127-0890-AF650B7DD8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066"/>
          <a:stretch>
            <a:fillRect/>
          </a:stretch>
        </p:blipFill>
        <p:spPr>
          <a:xfrm>
            <a:off x="0" y="1208316"/>
            <a:ext cx="12192000" cy="533265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B8A20F6-15B5-4C31-F726-64EE2C26891B}"/>
              </a:ext>
            </a:extLst>
          </p:cNvPr>
          <p:cNvSpPr txBox="1"/>
          <p:nvPr/>
        </p:nvSpPr>
        <p:spPr>
          <a:xfrm>
            <a:off x="530942" y="1986116"/>
            <a:ext cx="4680154" cy="617544"/>
          </a:xfrm>
          <a:prstGeom prst="roundRect">
            <a:avLst>
              <a:gd name="adj" fmla="val 26389"/>
            </a:avLst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800" b="1">
                <a:latin typeface="FAUSans Office" panose="020B0504010101010104" pitchFamily="34" charset="77"/>
                <a:cs typeface="FAUSans Office" panose="020B0504010101010104" pitchFamily="34" charset="77"/>
              </a:rPr>
              <a:t>https://clic-fiction.com/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2CF7D6E-763F-FA06-7DEC-5CFF446D076B}"/>
              </a:ext>
            </a:extLst>
          </p:cNvPr>
          <p:cNvGrpSpPr/>
          <p:nvPr/>
        </p:nvGrpSpPr>
        <p:grpSpPr>
          <a:xfrm>
            <a:off x="6749843" y="1632155"/>
            <a:ext cx="4793227" cy="2977447"/>
            <a:chOff x="6749843" y="1632155"/>
            <a:chExt cx="4793227" cy="2977447"/>
          </a:xfrm>
        </p:grpSpPr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4DF3D248-874E-C91D-D9FE-2CC08E6158E4}"/>
                </a:ext>
              </a:extLst>
            </p:cNvPr>
            <p:cNvSpPr/>
            <p:nvPr/>
          </p:nvSpPr>
          <p:spPr>
            <a:xfrm>
              <a:off x="6749843" y="3931176"/>
              <a:ext cx="4793227" cy="678426"/>
            </a:xfrm>
            <a:prstGeom prst="roundRect">
              <a:avLst>
                <a:gd name="adj" fmla="val 50000"/>
              </a:avLst>
            </a:prstGeom>
            <a:ln w="50800"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lIns="0" tIns="46800" rIns="0" rtlCol="0" anchor="ctr"/>
            <a:lstStyle/>
            <a:p>
              <a:pPr algn="ctr"/>
              <a:r>
                <a:rPr lang="en-US" sz="2000" b="1">
                  <a:solidFill>
                    <a:schemeClr val="accent2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clic-analysis-tree_head_19c.json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36CFBD1-E888-4166-DFD7-437C2FFF66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95071" y="1632155"/>
              <a:ext cx="314632" cy="2299020"/>
            </a:xfrm>
            <a:prstGeom prst="straightConnector1">
              <a:avLst/>
            </a:prstGeom>
            <a:ln w="50800" cap="flat" cmpd="sng" algn="ctr">
              <a:solidFill>
                <a:schemeClr val="accent2">
                  <a:lumMod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870046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25287-8BD4-8C84-1C5D-FE3004263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Exercise: body language patterns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C39549-A9D5-B837-13AC-1F72B5C175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5"/>
            <a:ext cx="11426616" cy="1643350"/>
          </a:xfrm>
        </p:spPr>
        <p:txBody>
          <a:bodyPr/>
          <a:lstStyle/>
          <a:p>
            <a:pPr>
              <a:defRPr/>
            </a:pPr>
            <a:r>
              <a:rPr lang="en-GB" dirty="0"/>
              <a:t>Search words: </a:t>
            </a:r>
            <a:r>
              <a:rPr lang="en-GB" i="1" dirty="0"/>
              <a:t>cheeks, cheek, neck, fingers, ear </a:t>
            </a:r>
            <a:endParaRPr lang="en-GB" dirty="0"/>
          </a:p>
          <a:p>
            <a:pPr lvl="1">
              <a:defRPr/>
            </a:pPr>
            <a:r>
              <a:rPr lang="en-GB" dirty="0"/>
              <a:t>corpus: 19C fiction – focus on non-quotes</a:t>
            </a:r>
          </a:p>
          <a:p>
            <a:pPr>
              <a:defRPr/>
            </a:pPr>
            <a:r>
              <a:rPr lang="en-GB" dirty="0"/>
              <a:t>Your task: work through handout &amp; explore FlexiCon algorithms</a:t>
            </a:r>
          </a:p>
          <a:p>
            <a:pPr>
              <a:defRPr/>
            </a:pPr>
            <a:endParaRPr lang="en-GB" dirty="0"/>
          </a:p>
          <a:p>
            <a:pPr>
              <a:defRPr/>
            </a:pPr>
            <a:r>
              <a:rPr lang="en-GB" dirty="0"/>
              <a:t>You </a:t>
            </a:r>
          </a:p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78996F-F12C-B7C5-D7A6-EBACF87DCE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24 Sep 2026 | © RC21 Team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91100F-8AB9-1B57-38F1-1963803F7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5213F0-E7A7-FFC6-8C8A-7DAD73C9D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38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D6B828-EE77-7739-2308-FFF3896F1F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8543"/>
          <a:stretch>
            <a:fillRect/>
          </a:stretch>
        </p:blipFill>
        <p:spPr bwMode="auto">
          <a:xfrm>
            <a:off x="0" y="3032146"/>
            <a:ext cx="12192000" cy="3825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15818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A4C43-7729-D0EE-CCE9-77D680E98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2543C-1697-7974-8C4C-EA06A4255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de-DE" dirty="0"/>
              <a:t>References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19AC672F-AB7D-006C-8E06-FF0241E3A3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36575" indent="-527050">
              <a:spcBef>
                <a:spcPts val="0"/>
              </a:spcBef>
              <a:buNone/>
            </a:pPr>
            <a:r>
              <a:rPr lang="en-US" sz="1800" dirty="0">
                <a:solidFill>
                  <a:srgbClr val="222222"/>
                </a:solidFill>
              </a:rPr>
              <a:t>Anthony, L. (2022). What can corpus software do? In O’Keeffe, A. and McCarthy, M. J., editors, </a:t>
            </a:r>
            <a:r>
              <a:rPr lang="en-US" sz="1800" i="1" dirty="0">
                <a:solidFill>
                  <a:srgbClr val="222222"/>
                </a:solidFill>
              </a:rPr>
              <a:t>The Routledge Handbook of Corpus Linguistics</a:t>
            </a:r>
            <a:r>
              <a:rPr lang="en-US" sz="1800" dirty="0">
                <a:solidFill>
                  <a:srgbClr val="222222"/>
                </a:solidFill>
              </a:rPr>
              <a:t>, chapter 9. Routledge, London, 2nd edition</a:t>
            </a:r>
          </a:p>
          <a:p>
            <a:pPr marL="536575" indent="-527050">
              <a:spcBef>
                <a:spcPts val="0"/>
              </a:spcBef>
              <a:buNone/>
            </a:pPr>
            <a:r>
              <a:rPr lang="en-US" sz="1800" dirty="0">
                <a:solidFill>
                  <a:srgbClr val="222222"/>
                </a:solidFill>
              </a:rPr>
              <a:t>Evert, S. (2007). Context graphs. Presentation at the </a:t>
            </a:r>
            <a:r>
              <a:rPr lang="en-US" sz="1800" i="1" dirty="0">
                <a:solidFill>
                  <a:srgbClr val="222222"/>
                </a:solidFill>
              </a:rPr>
              <a:t>ICAME 2007 Conference</a:t>
            </a:r>
            <a:r>
              <a:rPr lang="en-US" sz="1800" dirty="0">
                <a:solidFill>
                  <a:srgbClr val="222222"/>
                </a:solidFill>
              </a:rPr>
              <a:t>, Stratford upon Avon, UK.</a:t>
            </a:r>
          </a:p>
          <a:p>
            <a:pPr marL="536575" indent="-527050">
              <a:spcBef>
                <a:spcPts val="0"/>
              </a:spcBef>
              <a:buNone/>
            </a:pPr>
            <a:r>
              <a:rPr lang="en-US" sz="1800" dirty="0">
                <a:solidFill>
                  <a:srgbClr val="222222"/>
                </a:solidFill>
              </a:rPr>
              <a:t>Wattenberg, M. &amp; Viégas, F. B. (2008). The word tree, an interactive visual concordance. </a:t>
            </a:r>
            <a:r>
              <a:rPr lang="en-US" sz="1800" i="1" dirty="0">
                <a:solidFill>
                  <a:srgbClr val="222222"/>
                </a:solidFill>
              </a:rPr>
              <a:t>IEEE Transactions on Visualization and Computer Graphics</a:t>
            </a:r>
            <a:r>
              <a:rPr lang="en-US" sz="1800" dirty="0">
                <a:solidFill>
                  <a:srgbClr val="222222"/>
                </a:solidFill>
              </a:rPr>
              <a:t>, 14(6):1221–1228.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0921B1-32DB-07C4-8443-6D7E7CC6F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24 Sep 2026 | © RC21 Team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345E4D-AE27-A689-6290-F9500F5A5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0026E8-8982-EC07-28A8-779E2BEB4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fld id="{B2EB7B1D-155F-DE45-A4D9-3453DB08EE0D}" type="slidenum">
              <a:rPr lang="en-GB" smtClean="0"/>
              <a:pPr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67324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3">
      <a:dk1>
        <a:srgbClr val="000000"/>
      </a:dk1>
      <a:lt1>
        <a:srgbClr val="FFFFFF"/>
      </a:lt1>
      <a:dk2>
        <a:srgbClr val="242424"/>
      </a:dk2>
      <a:lt2>
        <a:srgbClr val="CCCCCC"/>
      </a:lt2>
      <a:accent1>
        <a:srgbClr val="54C5F3"/>
      </a:accent1>
      <a:accent2>
        <a:srgbClr val="F4AAB9"/>
      </a:accent2>
      <a:accent3>
        <a:srgbClr val="C0D7A1"/>
      </a:accent3>
      <a:accent4>
        <a:srgbClr val="C8A8F3"/>
      </a:accent4>
      <a:accent5>
        <a:srgbClr val="F3D4AE"/>
      </a:accent5>
      <a:accent6>
        <a:srgbClr val="65CBB9"/>
      </a:accent6>
      <a:hlink>
        <a:srgbClr val="5B19B5"/>
      </a:hlink>
      <a:folHlink>
        <a:srgbClr val="5B19B5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  <a:ln>
          <a:noFill/>
        </a:ln>
      </a:spPr>
      <a:bodyPr wrap="square" lIns="0" tIns="0" rIns="0" bIns="0" rtlCol="0" anchor="ctr">
        <a:noAutofit/>
      </a:bodyPr>
      <a:lstStyle>
        <a:defPPr algn="ctr">
          <a:defRPr sz="2400">
            <a:solidFill>
              <a:schemeClr val="tx1"/>
            </a:solidFill>
            <a:latin typeface="FAUSans Office" panose="020B0504010101010104" pitchFamily="34" charset="77"/>
            <a:cs typeface="FAUSans Office" panose="020B0504010101010104" pitchFamily="34" charset="77"/>
          </a:defRPr>
        </a:defPPr>
      </a:lstStyle>
      <a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34863935D01D9249BB91A8139635CB70" ma:contentTypeVersion="11" ma:contentTypeDescription="Ein neues Dokument erstellen." ma:contentTypeScope="" ma:versionID="7508e537173d70d832e9d7ab3d209780">
  <xsd:schema xmlns:xsd="http://www.w3.org/2001/XMLSchema" xmlns:xs="http://www.w3.org/2001/XMLSchema" xmlns:p="http://schemas.microsoft.com/office/2006/metadata/properties" xmlns:ns2="ff3c66ed-9060-4b44-be2d-3d344d05f2dc" xmlns:ns3="5a9f7cd3-bec7-49ea-ba26-5e85d7756a91" targetNamespace="http://schemas.microsoft.com/office/2006/metadata/properties" ma:root="true" ma:fieldsID="7f7747821221f83d09423c73c547ba7e" ns2:_="" ns3:_="">
    <xsd:import namespace="ff3c66ed-9060-4b44-be2d-3d344d05f2dc"/>
    <xsd:import namespace="5a9f7cd3-bec7-49ea-ba26-5e85d7756a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f3c66ed-9060-4b44-be2d-3d344d05f2d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markierungen" ma:readOnly="false" ma:fieldId="{5cf76f15-5ced-4ddc-b409-7134ff3c332f}" ma:taxonomyMulti="true" ma:sspId="0e979915-1b84-43d5-84e4-ad1a289bda8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a9f7cd3-bec7-49ea-ba26-5e85d7756a9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cd5b605a-5bf4-4ec9-8ac6-8280965f468e}" ma:internalName="TaxCatchAll" ma:showField="CatchAllData" ma:web="5a9f7cd3-bec7-49ea-ba26-5e85d7756a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a9f7cd3-bec7-49ea-ba26-5e85d7756a91" xsi:nil="true"/>
    <lcf76f155ced4ddcb4097134ff3c332f xmlns="ff3c66ed-9060-4b44-be2d-3d344d05f2dc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CE550B3-170A-426D-BA08-360D67DAB8E1}">
  <ds:schemaRefs>
    <ds:schemaRef ds:uri="5a9f7cd3-bec7-49ea-ba26-5e85d7756a91"/>
    <ds:schemaRef ds:uri="ff3c66ed-9060-4b44-be2d-3d344d05f2d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DD028DA-32C0-4908-B62D-9AF597270AB1}">
  <ds:schemaRefs>
    <ds:schemaRef ds:uri="http://purl.org/dc/elements/1.1/"/>
    <ds:schemaRef ds:uri="http://schemas.microsoft.com/office/infopath/2007/PartnerControls"/>
    <ds:schemaRef ds:uri="ff3c66ed-9060-4b44-be2d-3d344d05f2dc"/>
    <ds:schemaRef ds:uri="http://purl.org/dc/dcmitype/"/>
    <ds:schemaRef ds:uri="http://schemas.microsoft.com/office/2006/metadata/properties"/>
    <ds:schemaRef ds:uri="http://purl.org/dc/terms/"/>
    <ds:schemaRef ds:uri="http://www.w3.org/XML/1998/namespace"/>
    <ds:schemaRef ds:uri="5a9f7cd3-bec7-49ea-ba26-5e85d7756a91"/>
    <ds:schemaRef ds:uri="http://schemas.microsoft.com/office/2006/documentManagement/type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31E5E88D-A801-4F03-815F-5EB728681608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b2efcef3-8496-40b8-9de8-f135982f3461}" enabled="0" method="" siteId="{b2efcef3-8496-40b8-9de8-f135982f346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11801</TotalTime>
  <Words>3068</Words>
  <Application>Microsoft Macintosh PowerPoint</Application>
  <PresentationFormat>Widescreen</PresentationFormat>
  <Paragraphs>552</Paragraphs>
  <Slides>39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7" baseType="lpstr">
      <vt:lpstr>Calibri</vt:lpstr>
      <vt:lpstr>Candara</vt:lpstr>
      <vt:lpstr>Consolas</vt:lpstr>
      <vt:lpstr>Wingdings</vt:lpstr>
      <vt:lpstr>Aptos</vt:lpstr>
      <vt:lpstr>FAUSans Office</vt:lpstr>
      <vt:lpstr>Arial</vt:lpstr>
      <vt:lpstr>Office Theme</vt:lpstr>
      <vt:lpstr>PowerPoint Presentation</vt:lpstr>
      <vt:lpstr>Orientation</vt:lpstr>
      <vt:lpstr>Our goal</vt:lpstr>
      <vt:lpstr>But why?</vt:lpstr>
      <vt:lpstr>But why?</vt:lpstr>
      <vt:lpstr>Concordance reading strategies</vt:lpstr>
      <vt:lpstr>From strategies to algorithms</vt:lpstr>
      <vt:lpstr>From strategies to algorithms</vt:lpstr>
      <vt:lpstr>From strategies to algorithms</vt:lpstr>
      <vt:lpstr>Combining algorithms</vt:lpstr>
      <vt:lpstr>Methodology: a reading procedure (Sinclair 2003)</vt:lpstr>
      <vt:lpstr>The analysis tree</vt:lpstr>
      <vt:lpstr>Combining algorithms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A mathematical model of organising conc.</vt:lpstr>
      <vt:lpstr>Concordance view</vt:lpstr>
      <vt:lpstr>Formalising algorithms</vt:lpstr>
      <vt:lpstr>Strategy 1: Selecting</vt:lpstr>
      <vt:lpstr>Strategy 2: Sorting [Ordering]</vt:lpstr>
      <vt:lpstr>Strategy 3: Ranking [Ordering]</vt:lpstr>
      <vt:lpstr>Strategy 4: Partitioning [Grouping]</vt:lpstr>
      <vt:lpstr>Aside: Context trees &amp; KWIC patterns</vt:lpstr>
      <vt:lpstr>Strategy 5: Clustering [Grouping]</vt:lpstr>
      <vt:lpstr>Strategy 1': Manual Selecting</vt:lpstr>
      <vt:lpstr>Research documentation</vt:lpstr>
      <vt:lpstr>Time for a break …</vt:lpstr>
      <vt:lpstr>Hands-on: analysis tree in CLiC</vt:lpstr>
      <vt:lpstr>Exercise: body language patterns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Natalie Finlayson (English Language and Linguistics)</dc:creator>
  <cp:lastModifiedBy> </cp:lastModifiedBy>
  <cp:revision>231</cp:revision>
  <dcterms:created xsi:type="dcterms:W3CDTF">2024-03-12T00:45:26Z</dcterms:created>
  <dcterms:modified xsi:type="dcterms:W3CDTF">2026-09-24T10:41:31Z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0x01010034863935D01D9249BB91A8139635CB70</vt:lpwstr>
  </property>
  <property fmtid="{D5CDD505-2E9C-101B-9397-08002B2CF9AE}" pid="3" name="MediaServiceImageTags">
    <vt:lpwstr/>
  </property>
  <property fmtid="{D5CDD505-2E9C-101B-9397-08002B2CF9AE}" pid="4" name="ICV">
    <vt:lpwstr/>
  </property>
  <property fmtid="{D5CDD505-2E9C-101B-9397-08002B2CF9AE}" pid="5" name="KSOProductBuildVer">
    <vt:lpwstr>1033-11.1.0.11711</vt:lpwstr>
  </property>
</Properties>
</file>